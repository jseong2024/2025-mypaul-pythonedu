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6" r:id="rId3"/>
    <p:sldId id="274" r:id="rId4"/>
    <p:sldId id="275" r:id="rId5"/>
    <p:sldId id="381" r:id="rId6"/>
    <p:sldId id="435" r:id="rId7"/>
    <p:sldId id="436" r:id="rId8"/>
    <p:sldId id="403" r:id="rId9"/>
    <p:sldId id="437" r:id="rId10"/>
    <p:sldId id="438" r:id="rId11"/>
    <p:sldId id="439" r:id="rId12"/>
    <p:sldId id="440" r:id="rId13"/>
    <p:sldId id="441" r:id="rId14"/>
    <p:sldId id="442" r:id="rId15"/>
    <p:sldId id="443" r:id="rId16"/>
    <p:sldId id="444" r:id="rId17"/>
    <p:sldId id="445" r:id="rId18"/>
    <p:sldId id="446" r:id="rId19"/>
    <p:sldId id="447" r:id="rId20"/>
    <p:sldId id="448" r:id="rId21"/>
    <p:sldId id="272" r:id="rId22"/>
  </p:sldIdLst>
  <p:sldSz cx="12192000" cy="6858000"/>
  <p:notesSz cx="6858000" cy="9144000"/>
  <p:embeddedFontLst>
    <p:embeddedFont>
      <p:font typeface="D2Coding ligature" panose="020B0609020101020101" pitchFamily="49" charset="-127"/>
      <p:regular r:id="rId23"/>
      <p:bold r:id="rId24"/>
    </p:embeddedFont>
    <p:embeddedFont>
      <p:font typeface="G마켓 산스 Bold" panose="02000000000000000000" pitchFamily="50" charset="-127"/>
      <p:bold r:id="rId25"/>
    </p:embeddedFont>
    <p:embeddedFont>
      <p:font typeface="G마켓 산스 Medium" panose="02000000000000000000" pitchFamily="50" charset="-127"/>
      <p:regular r:id="rId26"/>
    </p:embeddedFont>
    <p:embeddedFont>
      <p:font typeface="Impact" panose="020B0806030902050204" pitchFamily="34" charset="0"/>
      <p:regular r:id="rId27"/>
    </p:embeddedFont>
    <p:embeddedFont>
      <p:font typeface="KoPub돋움체 Bold" panose="02020603020101020101" pitchFamily="18" charset="-127"/>
      <p:regular r:id="rId28"/>
    </p:embeddedFont>
    <p:embeddedFont>
      <p:font typeface="Microsoft GothicNeo" panose="020B0500000101010101" pitchFamily="50" charset="-127"/>
      <p:regular r:id="rId29"/>
      <p:bold r:id="rId30"/>
    </p:embeddedFont>
    <p:embeddedFont>
      <p:font typeface="Microsoft GothicNeo Light" panose="020B0300000101010101" pitchFamily="50" charset="-127"/>
      <p:regular r:id="rId31"/>
    </p:embeddedFont>
    <p:embeddedFont>
      <p:font typeface="Pretendard Light" panose="02000403000000020004" pitchFamily="50" charset="-127"/>
      <p:regular r:id="rId32"/>
    </p:embeddedFont>
    <p:embeddedFont>
      <p:font typeface="Pretendard Medium" panose="02000603000000020004" pitchFamily="50" charset="-127"/>
      <p:regular r:id="rId33"/>
    </p:embeddedFont>
    <p:embeddedFont>
      <p:font typeface="Pretendard SemiBold" panose="02000703000000020004" pitchFamily="50" charset="-127"/>
      <p:bold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3CFF"/>
    <a:srgbClr val="08603D"/>
    <a:srgbClr val="2249FB"/>
    <a:srgbClr val="F537FF"/>
    <a:srgbClr val="FFF898"/>
    <a:srgbClr val="796337"/>
    <a:srgbClr val="317AE9"/>
    <a:srgbClr val="51B8B0"/>
    <a:srgbClr val="9FD8F7"/>
    <a:srgbClr val="F3FA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38" autoAdjust="0"/>
    <p:restoredTop sz="94379" autoAdjust="0"/>
  </p:normalViewPr>
  <p:slideViewPr>
    <p:cSldViewPr snapToGrid="0">
      <p:cViewPr varScale="1">
        <p:scale>
          <a:sx n="103" d="100"/>
          <a:sy n="103" d="100"/>
        </p:scale>
        <p:origin x="14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0AC0A-3F9B-A5C6-4AA7-D3EA06A3B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1B64D7-17C7-C027-E1F0-F23878B63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A57C69-CE13-C496-042D-C09C96DD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ACF98-A77B-8563-BF07-1251A339B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78E394-EC20-D7DF-CB13-79AF34CF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91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9D1EE-C634-334A-111B-1D4C9CF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B97BC2-BBAD-5A9B-23C7-284959BB7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B95C6-D82A-0A11-8C26-16F98539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7CF1F5-6413-8CEE-2C23-63880BD7F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E56FC5-0090-10D4-E5C1-FD002B80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28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669F7-FC97-09DA-BD26-F56A6EC6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090338-6B1B-12B7-B8E5-932A980B3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37905-7ACD-AA5B-2720-75CE4DE5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626939-0C9B-3141-5D82-F922E22E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D57EC-C4BA-405F-994E-8AC6F5B99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43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4E2CC6-C595-EA3F-C857-4FF83674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DEF67D-D038-AF59-D347-09C7142C51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6A7F2A-593C-F9EB-4B2B-A70C6280B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5FA8F1-A859-83B9-5F09-030F7196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8D790D-AE25-7719-1E49-823F532DC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EC827C-2EDF-C840-D6D0-0F7C1CFE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244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1AC93-0AD6-F646-5426-452B96776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11A330-BB83-6BBF-84E1-A28CD01CA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F1948B-AF0D-F591-CFF4-F73944A668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470157-92E3-5E4C-E496-BC9E68561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53E642-1980-19B8-695B-8D3A76375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B64E97D-2970-54CA-5944-F8B8DE5F2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0F51F9-8809-A812-45FC-84A9AB325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860958-651A-6B5E-7445-C3E44800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5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5EB78-8243-32CA-7937-DE772ACE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833BE2F-8E2A-7E2A-37D7-8B2F97D8E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B0856A-270C-B49A-4407-A07164D9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19DE32-988F-77A8-1D25-F6487BAB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919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D603F0-DDFB-05A3-8613-D69CC1B5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1F0BDD-FC90-EE66-7F47-BEF16D140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BEB414-4376-6CAF-130F-C70CD291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570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CD63F-F5D7-B2BF-69D1-C43B585AB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79AE9A-67B4-95A2-16F9-180D19341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5DD0CF-4107-B3BB-779D-BE9076E3A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403C2A-7C8B-7AB0-5F7D-C60AA68BF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59DA15-9183-EAC1-519A-3BBFBE78D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5D02B9-EDB8-756D-96D1-60D30074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868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E9ABE-00B6-5B92-3E55-BE044D4DD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624094-FFC7-58C5-B90A-C346075D2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D70469-D3C9-395E-AD5A-3B9512CACB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F11984-C859-9F50-15CF-E37B6C379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FE6658-0967-E1C0-BD32-7833B0F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378AC6-F823-9A05-979F-38B009F2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018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09AE6-9AAC-A775-3901-151E12C1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9941B8-B470-6E47-A9EA-DA25090D1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6A3A29-CE6D-EA40-5715-04507162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C58B68-F305-D40D-5FB6-8F6D3719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B9324-A76A-C943-1246-EB203AF9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320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4EF01C8-D6CE-D6B7-EF6C-5598B4E149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C20FB8-D89B-964B-E0B6-5136D1CD0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BF778-8E02-A5F9-213D-7FFD1F021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52C205-354B-C719-44E9-BEF759FE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8701B-3837-CC35-6783-CBF766C75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172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2B4B94A-D523-D442-0C44-5817E3FC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EDCBF0-644F-A983-9149-6814CD141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FE08A4-3F70-7E0B-56E8-7B82BB311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A6FA3-4F79-40B5-9796-76ED3E0BCEE0}" type="datetimeFigureOut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249A7D-06CC-2087-8F59-52A6A5FEB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1DD466-A588-B80D-D3B2-E72281A65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05707-97AE-4A03-AF92-47969ECF1C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37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r5587.tistory.com/8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r5587.tistory.com/8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r5587.tistory.com/8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r5587.tistory.com/8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r5587.tistory.com/8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r5587.tistory.com/8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aker5587.tistory.com/81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E77E6D9C-26C3-FDB5-3264-E7245574EB94}"/>
              </a:ext>
            </a:extLst>
          </p:cNvPr>
          <p:cNvSpPr/>
          <p:nvPr/>
        </p:nvSpPr>
        <p:spPr>
          <a:xfrm flipH="1">
            <a:off x="5415378" y="0"/>
            <a:ext cx="6776621" cy="6858000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잘린 대각선 방향 모서리 4">
            <a:extLst>
              <a:ext uri="{FF2B5EF4-FFF2-40B4-BE49-F238E27FC236}">
                <a16:creationId xmlns:a16="http://schemas.microsoft.com/office/drawing/2014/main" id="{F4796C9B-599C-1A83-41AC-5CE3C060FFD1}"/>
              </a:ext>
            </a:extLst>
          </p:cNvPr>
          <p:cNvSpPr/>
          <p:nvPr/>
        </p:nvSpPr>
        <p:spPr>
          <a:xfrm>
            <a:off x="3453414" y="0"/>
            <a:ext cx="8738586" cy="6858000"/>
          </a:xfrm>
          <a:custGeom>
            <a:avLst/>
            <a:gdLst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0 w 7344792"/>
              <a:gd name="connsiteY6" fmla="*/ 4498711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3009530 w 7344792"/>
              <a:gd name="connsiteY6" fmla="*/ 4294525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1853261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4792" h="6858000">
                <a:moveTo>
                  <a:pt x="0" y="0"/>
                </a:moveTo>
                <a:lnTo>
                  <a:pt x="5940600" y="0"/>
                </a:lnTo>
                <a:lnTo>
                  <a:pt x="7344792" y="1853261"/>
                </a:lnTo>
                <a:lnTo>
                  <a:pt x="7344792" y="6858000"/>
                </a:lnTo>
                <a:lnTo>
                  <a:pt x="7344792" y="6858000"/>
                </a:lnTo>
                <a:lnTo>
                  <a:pt x="5040345" y="6858000"/>
                </a:lnTo>
                <a:lnTo>
                  <a:pt x="2778710" y="3770742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평행 사변형 20">
            <a:extLst>
              <a:ext uri="{FF2B5EF4-FFF2-40B4-BE49-F238E27FC236}">
                <a16:creationId xmlns:a16="http://schemas.microsoft.com/office/drawing/2014/main" id="{A681F277-E327-D830-7BE5-1B4C2C2DC020}"/>
              </a:ext>
            </a:extLst>
          </p:cNvPr>
          <p:cNvSpPr/>
          <p:nvPr/>
        </p:nvSpPr>
        <p:spPr>
          <a:xfrm flipH="1">
            <a:off x="2974019" y="0"/>
            <a:ext cx="5131294" cy="5459767"/>
          </a:xfrm>
          <a:prstGeom prst="parallelogram">
            <a:avLst>
              <a:gd name="adj" fmla="val 92486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평행 사변형 21">
            <a:extLst>
              <a:ext uri="{FF2B5EF4-FFF2-40B4-BE49-F238E27FC236}">
                <a16:creationId xmlns:a16="http://schemas.microsoft.com/office/drawing/2014/main" id="{8C3D4BF7-508D-22FC-9A08-8359C52CC195}"/>
              </a:ext>
            </a:extLst>
          </p:cNvPr>
          <p:cNvSpPr/>
          <p:nvPr/>
        </p:nvSpPr>
        <p:spPr>
          <a:xfrm flipH="1">
            <a:off x="5788240" y="4882718"/>
            <a:ext cx="2123243" cy="1975282"/>
          </a:xfrm>
          <a:prstGeom prst="parallelogram">
            <a:avLst>
              <a:gd name="adj" fmla="val 92486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각 삼각형 23">
            <a:extLst>
              <a:ext uri="{FF2B5EF4-FFF2-40B4-BE49-F238E27FC236}">
                <a16:creationId xmlns:a16="http://schemas.microsoft.com/office/drawing/2014/main" id="{EF74BE1B-3905-0015-9870-281AFE49B16D}"/>
              </a:ext>
            </a:extLst>
          </p:cNvPr>
          <p:cNvSpPr/>
          <p:nvPr/>
        </p:nvSpPr>
        <p:spPr>
          <a:xfrm>
            <a:off x="1" y="3934691"/>
            <a:ext cx="2974018" cy="2923309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BC7F56AE-D0C4-95F2-8727-8CF3600003BC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다이아몬드 25">
            <a:extLst>
              <a:ext uri="{FF2B5EF4-FFF2-40B4-BE49-F238E27FC236}">
                <a16:creationId xmlns:a16="http://schemas.microsoft.com/office/drawing/2014/main" id="{31F1A81E-1CB5-4E8C-1673-A869AF5A1FDF}"/>
              </a:ext>
            </a:extLst>
          </p:cNvPr>
          <p:cNvSpPr/>
          <p:nvPr/>
        </p:nvSpPr>
        <p:spPr>
          <a:xfrm>
            <a:off x="323628" y="2094254"/>
            <a:ext cx="1271258" cy="1271258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다이아몬드 26">
            <a:extLst>
              <a:ext uri="{FF2B5EF4-FFF2-40B4-BE49-F238E27FC236}">
                <a16:creationId xmlns:a16="http://schemas.microsoft.com/office/drawing/2014/main" id="{CEE88426-0CA3-133D-F0A1-7BCFDC38EC8C}"/>
              </a:ext>
            </a:extLst>
          </p:cNvPr>
          <p:cNvSpPr/>
          <p:nvPr/>
        </p:nvSpPr>
        <p:spPr>
          <a:xfrm>
            <a:off x="836162" y="1525075"/>
            <a:ext cx="650848" cy="650848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78DF1A-7967-287E-2DA0-5CF2E5B48739}"/>
              </a:ext>
            </a:extLst>
          </p:cNvPr>
          <p:cNvSpPr txBox="1"/>
          <p:nvPr/>
        </p:nvSpPr>
        <p:spPr>
          <a:xfrm>
            <a:off x="1646066" y="4033246"/>
            <a:ext cx="657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MY PAUL SCHOOL PYTHON BASIC CLASS</a:t>
            </a:r>
          </a:p>
          <a:p>
            <a:r>
              <a:rPr lang="en-US" altLang="ko-KR" sz="1600" dirty="0">
                <a:latin typeface="Microsoft GothicNeo Light" panose="020B0300000101010101" pitchFamily="50" charset="-127"/>
                <a:ea typeface="Microsoft GothicNeo Light" panose="020B0300000101010101" pitchFamily="50" charset="-127"/>
                <a:cs typeface="Microsoft GothicNeo Light" panose="020B0300000101010101" pitchFamily="50" charset="-127"/>
              </a:rPr>
              <a:t>2026 CHOI JAE SEONG</a:t>
            </a:r>
            <a:endParaRPr lang="ko-KR" altLang="en-US" sz="1600" dirty="0">
              <a:latin typeface="Microsoft GothicNeo Light" panose="020B0300000101010101" pitchFamily="50" charset="-127"/>
              <a:ea typeface="Microsoft GothicNeo Light" panose="020B0300000101010101" pitchFamily="50" charset="-127"/>
              <a:cs typeface="Microsoft GothicNeo Light" panose="020B03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C911F2-25BC-FED8-8C3D-D003BA57E829}"/>
              </a:ext>
            </a:extLst>
          </p:cNvPr>
          <p:cNvSpPr txBox="1"/>
          <p:nvPr/>
        </p:nvSpPr>
        <p:spPr>
          <a:xfrm>
            <a:off x="1646066" y="2094254"/>
            <a:ext cx="65798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solidFill>
                  <a:srgbClr val="98E59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파이썬</a:t>
            </a:r>
            <a:endParaRPr lang="en-US" altLang="ko-KR" sz="6000" dirty="0">
              <a:solidFill>
                <a:srgbClr val="98E59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r>
              <a:rPr lang="ko-KR" altLang="en-US" sz="6000" dirty="0">
                <a:solidFill>
                  <a:srgbClr val="44BEA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기초</a:t>
            </a:r>
            <a:r>
              <a:rPr lang="ko-KR" alt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과정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4BFEA72-A8D3-54ED-97E3-FCDD1F5D8CB7}"/>
              </a:ext>
            </a:extLst>
          </p:cNvPr>
          <p:cNvSpPr/>
          <p:nvPr/>
        </p:nvSpPr>
        <p:spPr>
          <a:xfrm>
            <a:off x="1780208" y="1665833"/>
            <a:ext cx="1384448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9DE695"/>
              </a:gs>
              <a:gs pos="100000">
                <a:srgbClr val="37BBA2"/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Impact" panose="020B0806030902050204" pitchFamily="34" charset="0"/>
              </a:rPr>
              <a:t>Week 09</a:t>
            </a:r>
            <a:endParaRPr lang="ko-KR" altLang="en-US" dirty="0"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64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70593-75E7-55F6-E8FA-F2DB481BF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9225EF3-205D-D378-0510-F5C62D638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649" y="210033"/>
            <a:ext cx="11412701" cy="6437934"/>
          </a:xfrm>
          <a:prstGeom prst="rect">
            <a:avLst/>
          </a:prstGeom>
        </p:spPr>
      </p:pic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F5D4F206-4BB5-2D0C-6D9E-42ED1306359D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 descr="노트북으로 코딩을 하고 있는 안경을 쓴 여성 개발자, 프로그래머 일러스트 | 유토이미지 | 상세페이지 | 베이직샵 | 일러스트 |  22348614">
            <a:extLst>
              <a:ext uri="{FF2B5EF4-FFF2-40B4-BE49-F238E27FC236}">
                <a16:creationId xmlns:a16="http://schemas.microsoft.com/office/drawing/2014/main" id="{983B236E-5A72-A792-4BF1-DF8769BC4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6964" y="4754966"/>
            <a:ext cx="2381249" cy="158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892E9F-9108-1CA8-DE96-F44160ADE5B0}"/>
              </a:ext>
            </a:extLst>
          </p:cNvPr>
          <p:cNvSpPr txBox="1"/>
          <p:nvPr/>
        </p:nvSpPr>
        <p:spPr>
          <a:xfrm>
            <a:off x="1004567" y="1120421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98E596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Chapter 09</a:t>
            </a:r>
            <a:endParaRPr lang="ko-KR" altLang="en-US" sz="4000" dirty="0">
              <a:solidFill>
                <a:srgbClr val="98E596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88246B-8223-92C4-D36B-0A89A7F86D26}"/>
              </a:ext>
            </a:extLst>
          </p:cNvPr>
          <p:cNvSpPr txBox="1"/>
          <p:nvPr/>
        </p:nvSpPr>
        <p:spPr>
          <a:xfrm>
            <a:off x="1004567" y="1837185"/>
            <a:ext cx="83258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문자열과 예외처리</a:t>
            </a:r>
            <a:endParaRPr lang="ko-KR" altLang="en-US" sz="4800" dirty="0">
              <a:solidFill>
                <a:srgbClr val="FF0000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9661A2-5B1C-C2C4-5A2B-0EEAB2450C8F}"/>
              </a:ext>
            </a:extLst>
          </p:cNvPr>
          <p:cNvSpPr txBox="1"/>
          <p:nvPr/>
        </p:nvSpPr>
        <p:spPr>
          <a:xfrm>
            <a:off x="1004567" y="5517877"/>
            <a:ext cx="7466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강의교안에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사용된 일부 그림의 저작권은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우재남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과 </a:t>
            </a:r>
            <a:r>
              <a:rPr lang="ko-KR" alt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한빛아카데미㈜</a:t>
            </a:r>
            <a:r>
              <a:rPr lang="ko-KR" alt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에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 있습니다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D6C5EB-B2C8-C582-854F-C5518D11D53B}"/>
              </a:ext>
            </a:extLst>
          </p:cNvPr>
          <p:cNvSpPr txBox="1"/>
          <p:nvPr/>
        </p:nvSpPr>
        <p:spPr>
          <a:xfrm>
            <a:off x="1004566" y="5850020"/>
            <a:ext cx="79923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본 자료에는 인터넷에서 다운받아 사용한 그림이나 수식들이 일부 있으니 학습 외 다른 용도로 사용하거나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외부로 유출을 금해주시기 바랍니다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GothicNeo" panose="020B0500000101010101" pitchFamily="50" charset="-127"/>
                <a:ea typeface="Microsoft GothicNeo" panose="020B0500000101010101" pitchFamily="50" charset="-127"/>
                <a:cs typeface="Microsoft GothicNeo" panose="020B0500000101010101" pitchFamily="50" charset="-127"/>
              </a:rPr>
              <a:t>.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Microsoft GothicNeo" panose="020B0500000101010101" pitchFamily="50" charset="-127"/>
              <a:ea typeface="Microsoft GothicNeo" panose="020B0500000101010101" pitchFamily="50" charset="-127"/>
              <a:cs typeface="Microsoft GothicNeo" panose="020B05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8934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2CD4D-2800-2A45-C3AD-0D5D3B329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잘린 대각선 방향 모서리 4">
            <a:extLst>
              <a:ext uri="{FF2B5EF4-FFF2-40B4-BE49-F238E27FC236}">
                <a16:creationId xmlns:a16="http://schemas.microsoft.com/office/drawing/2014/main" id="{A5912134-8679-68AA-E771-269B9683F5F7}"/>
              </a:ext>
            </a:extLst>
          </p:cNvPr>
          <p:cNvSpPr/>
          <p:nvPr/>
        </p:nvSpPr>
        <p:spPr>
          <a:xfrm>
            <a:off x="8990679" y="0"/>
            <a:ext cx="3201320" cy="2512381"/>
          </a:xfrm>
          <a:custGeom>
            <a:avLst/>
            <a:gdLst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0 w 7344792"/>
              <a:gd name="connsiteY6" fmla="*/ 4498711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2359289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1402672 w 7344792"/>
              <a:gd name="connsiteY6" fmla="*/ 548413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3009530 w 7344792"/>
              <a:gd name="connsiteY6" fmla="*/ 4294525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4985503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2359289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  <a:gd name="connsiteX0" fmla="*/ 0 w 7344792"/>
              <a:gd name="connsiteY0" fmla="*/ 0 h 6858000"/>
              <a:gd name="connsiteX1" fmla="*/ 5940600 w 7344792"/>
              <a:gd name="connsiteY1" fmla="*/ 0 h 6858000"/>
              <a:gd name="connsiteX2" fmla="*/ 7344792 w 7344792"/>
              <a:gd name="connsiteY2" fmla="*/ 1853261 h 6858000"/>
              <a:gd name="connsiteX3" fmla="*/ 7344792 w 7344792"/>
              <a:gd name="connsiteY3" fmla="*/ 6858000 h 6858000"/>
              <a:gd name="connsiteX4" fmla="*/ 7344792 w 7344792"/>
              <a:gd name="connsiteY4" fmla="*/ 6858000 h 6858000"/>
              <a:gd name="connsiteX5" fmla="*/ 5040345 w 7344792"/>
              <a:gd name="connsiteY5" fmla="*/ 6858000 h 6858000"/>
              <a:gd name="connsiteX6" fmla="*/ 2778710 w 7344792"/>
              <a:gd name="connsiteY6" fmla="*/ 3770742 h 6858000"/>
              <a:gd name="connsiteX7" fmla="*/ 0 w 734479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44792" h="6858000">
                <a:moveTo>
                  <a:pt x="0" y="0"/>
                </a:moveTo>
                <a:lnTo>
                  <a:pt x="5940600" y="0"/>
                </a:lnTo>
                <a:lnTo>
                  <a:pt x="7344792" y="1853261"/>
                </a:lnTo>
                <a:lnTo>
                  <a:pt x="7344792" y="6858000"/>
                </a:lnTo>
                <a:lnTo>
                  <a:pt x="7344792" y="6858000"/>
                </a:lnTo>
                <a:lnTo>
                  <a:pt x="5040345" y="6858000"/>
                </a:lnTo>
                <a:lnTo>
                  <a:pt x="2778710" y="3770742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평행 사변형 20">
            <a:extLst>
              <a:ext uri="{FF2B5EF4-FFF2-40B4-BE49-F238E27FC236}">
                <a16:creationId xmlns:a16="http://schemas.microsoft.com/office/drawing/2014/main" id="{53A3263D-2CF0-758B-1126-F278913E67A7}"/>
              </a:ext>
            </a:extLst>
          </p:cNvPr>
          <p:cNvSpPr/>
          <p:nvPr/>
        </p:nvSpPr>
        <p:spPr>
          <a:xfrm flipH="1">
            <a:off x="8504807" y="0"/>
            <a:ext cx="1207363" cy="1038687"/>
          </a:xfrm>
          <a:prstGeom prst="parallelogram">
            <a:avLst>
              <a:gd name="adj" fmla="val 92486"/>
            </a:avLst>
          </a:prstGeom>
          <a:solidFill>
            <a:srgbClr val="B5E6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평행 사변형 21">
            <a:extLst>
              <a:ext uri="{FF2B5EF4-FFF2-40B4-BE49-F238E27FC236}">
                <a16:creationId xmlns:a16="http://schemas.microsoft.com/office/drawing/2014/main" id="{DF1A4ABC-0C82-591E-2417-156EF0768D98}"/>
              </a:ext>
            </a:extLst>
          </p:cNvPr>
          <p:cNvSpPr/>
          <p:nvPr/>
        </p:nvSpPr>
        <p:spPr>
          <a:xfrm flipH="1">
            <a:off x="550416" y="4012707"/>
            <a:ext cx="2900778" cy="2852952"/>
          </a:xfrm>
          <a:prstGeom prst="parallelogram">
            <a:avLst>
              <a:gd name="adj" fmla="val 92486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각 삼각형 23">
            <a:extLst>
              <a:ext uri="{FF2B5EF4-FFF2-40B4-BE49-F238E27FC236}">
                <a16:creationId xmlns:a16="http://schemas.microsoft.com/office/drawing/2014/main" id="{D3133128-3891-8349-9323-7573AFE6F2E9}"/>
              </a:ext>
            </a:extLst>
          </p:cNvPr>
          <p:cNvSpPr/>
          <p:nvPr/>
        </p:nvSpPr>
        <p:spPr>
          <a:xfrm>
            <a:off x="1" y="3598215"/>
            <a:ext cx="2974018" cy="3259785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E82594B4-F3D0-0885-3B7A-4ECC22640BA2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다이아몬드 25">
            <a:extLst>
              <a:ext uri="{FF2B5EF4-FFF2-40B4-BE49-F238E27FC236}">
                <a16:creationId xmlns:a16="http://schemas.microsoft.com/office/drawing/2014/main" id="{E72107FC-F6C7-7652-037E-93A22F3B909E}"/>
              </a:ext>
            </a:extLst>
          </p:cNvPr>
          <p:cNvSpPr/>
          <p:nvPr/>
        </p:nvSpPr>
        <p:spPr>
          <a:xfrm>
            <a:off x="949036" y="1172860"/>
            <a:ext cx="1271258" cy="1271258"/>
          </a:xfrm>
          <a:prstGeom prst="diamond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다이아몬드 26">
            <a:extLst>
              <a:ext uri="{FF2B5EF4-FFF2-40B4-BE49-F238E27FC236}">
                <a16:creationId xmlns:a16="http://schemas.microsoft.com/office/drawing/2014/main" id="{10FB7C8C-F575-B175-99F0-CEC53DF753A6}"/>
              </a:ext>
            </a:extLst>
          </p:cNvPr>
          <p:cNvSpPr/>
          <p:nvPr/>
        </p:nvSpPr>
        <p:spPr>
          <a:xfrm>
            <a:off x="1584665" y="1171641"/>
            <a:ext cx="650848" cy="650848"/>
          </a:xfrm>
          <a:prstGeom prst="diamond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191E6-5392-18F3-ADC1-03333944E6E4}"/>
              </a:ext>
            </a:extLst>
          </p:cNvPr>
          <p:cNvSpPr txBox="1"/>
          <p:nvPr/>
        </p:nvSpPr>
        <p:spPr>
          <a:xfrm>
            <a:off x="1910089" y="1142909"/>
            <a:ext cx="37272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rgbClr val="51B8B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4000" dirty="0">
              <a:solidFill>
                <a:srgbClr val="51B8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6" name="다이아몬드 5">
            <a:extLst>
              <a:ext uri="{FF2B5EF4-FFF2-40B4-BE49-F238E27FC236}">
                <a16:creationId xmlns:a16="http://schemas.microsoft.com/office/drawing/2014/main" id="{1BA3B8D3-C39D-DC66-A063-01A3AA4BF2AC}"/>
              </a:ext>
            </a:extLst>
          </p:cNvPr>
          <p:cNvSpPr/>
          <p:nvPr/>
        </p:nvSpPr>
        <p:spPr>
          <a:xfrm>
            <a:off x="2000279" y="2586988"/>
            <a:ext cx="271622" cy="271622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각 삼각형 3">
            <a:extLst>
              <a:ext uri="{FF2B5EF4-FFF2-40B4-BE49-F238E27FC236}">
                <a16:creationId xmlns:a16="http://schemas.microsoft.com/office/drawing/2014/main" id="{EB331082-ED62-41E0-0526-ED86E534AEE4}"/>
              </a:ext>
            </a:extLst>
          </p:cNvPr>
          <p:cNvSpPr/>
          <p:nvPr/>
        </p:nvSpPr>
        <p:spPr>
          <a:xfrm flipH="1">
            <a:off x="5415378" y="0"/>
            <a:ext cx="6776621" cy="6858000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88F318-C09E-8D9F-7DE9-4C87E36CC7E0}"/>
              </a:ext>
            </a:extLst>
          </p:cNvPr>
          <p:cNvSpPr txBox="1"/>
          <p:nvPr/>
        </p:nvSpPr>
        <p:spPr>
          <a:xfrm>
            <a:off x="2271901" y="2487771"/>
            <a:ext cx="398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문자열 심화</a:t>
            </a:r>
          </a:p>
        </p:txBody>
      </p:sp>
      <p:sp>
        <p:nvSpPr>
          <p:cNvPr id="8" name="다이아몬드 7">
            <a:extLst>
              <a:ext uri="{FF2B5EF4-FFF2-40B4-BE49-F238E27FC236}">
                <a16:creationId xmlns:a16="http://schemas.microsoft.com/office/drawing/2014/main" id="{EB0E6E9E-1377-C47C-4DC5-3F68055621DB}"/>
              </a:ext>
            </a:extLst>
          </p:cNvPr>
          <p:cNvSpPr/>
          <p:nvPr/>
        </p:nvSpPr>
        <p:spPr>
          <a:xfrm>
            <a:off x="2000279" y="3139479"/>
            <a:ext cx="271622" cy="271622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B8CE82-E9F8-4FCC-27EB-0F3A9073B932}"/>
              </a:ext>
            </a:extLst>
          </p:cNvPr>
          <p:cNvSpPr txBox="1"/>
          <p:nvPr/>
        </p:nvSpPr>
        <p:spPr>
          <a:xfrm>
            <a:off x="2280779" y="3053864"/>
            <a:ext cx="398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51B8B0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예외처리</a:t>
            </a:r>
          </a:p>
        </p:txBody>
      </p:sp>
    </p:spTree>
    <p:extLst>
      <p:ext uri="{BB962C8B-B14F-4D97-AF65-F5344CB8AC3E}">
        <p14:creationId xmlns:p14="http://schemas.microsoft.com/office/powerpoint/2010/main" val="763837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8967-33E3-2CFC-52E3-C8A02F1AB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AECDD8F4-2DFE-B3CE-58FD-E5061DD8DFA2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045462-7318-E981-7AE1-9CEF54262349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2917A2C-1CCA-091D-443A-C45921ADD6D1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8E4818-5B25-1145-7DDA-9C3BBC9A327F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01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7006D-8390-3593-1A71-13EAFF530AC6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문자열 심화</a:t>
            </a:r>
          </a:p>
        </p:txBody>
      </p:sp>
    </p:spTree>
    <p:extLst>
      <p:ext uri="{BB962C8B-B14F-4D97-AF65-F5344CB8AC3E}">
        <p14:creationId xmlns:p14="http://schemas.microsoft.com/office/powerpoint/2010/main" val="69937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15B85-2171-A446-530C-941BB0749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14941CEA-4605-77B1-390F-01FEAD0C691B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6BBC9F1D-5486-9F2D-935A-826BAE7AAA1D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94A63B1B-F07F-E6AF-BDED-ED6050F5571B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3F7BEDBB-DA41-2E0B-75EE-B656F3C56565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4D1B70-381D-8084-CD01-20B8F27D22DA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3877F0B9-2CA9-A2DC-471C-7431823895CD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432B5956-A1D8-1308-6194-63657D78138E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D31745C8-7B33-13DC-6197-EC56DA744D46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10AC0F08-F927-2485-1AE6-C06939539101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764AEAB0-1345-C980-11C1-8BAC311661EE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58654-8338-2AC6-3FE0-A7B021624F0E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0B97E5-7E14-D2BC-EA6E-E92B7C330AB3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문자열 다루기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81D51013-CBC1-0BC2-83F5-84F432F17872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9A7C1-47E0-308E-3BC5-0B52F0EDEF8E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문자열 나누기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split()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D468F39-B29A-EAD9-4A5C-A454421FE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028662-9237-D4D1-BA80-3B3CF353D997}"/>
              </a:ext>
            </a:extLst>
          </p:cNvPr>
          <p:cNvSpPr txBox="1"/>
          <p:nvPr/>
        </p:nvSpPr>
        <p:spPr>
          <a:xfrm>
            <a:off x="784847" y="1794646"/>
            <a:ext cx="9957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긴 문자열을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특정 기준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에 따라 나누어 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리스트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로 만들어 줌</a:t>
            </a: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380F0AE5-BF71-1619-BEE2-82119EC2B52A}"/>
              </a:ext>
            </a:extLst>
          </p:cNvPr>
          <p:cNvSpPr/>
          <p:nvPr/>
        </p:nvSpPr>
        <p:spPr>
          <a:xfrm>
            <a:off x="861134" y="2390647"/>
            <a:ext cx="10244830" cy="2000167"/>
          </a:xfrm>
          <a:prstGeom prst="roundRect">
            <a:avLst>
              <a:gd name="adj" fmla="val 4276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쉼표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(,)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를 기준으로 글자를 쪼개기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fruits_text = "</a:t>
            </a:r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사과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바나나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</a:t>
            </a:r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수박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</a:t>
            </a:r>
          </a:p>
          <a:p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fruits_list = fruits_text</a:t>
            </a:r>
            <a:r>
              <a:rPr lang="it-IT" altLang="ko-KR" sz="24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.split</a:t>
            </a:r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it-IT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","</a:t>
            </a:r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print(fruits_list)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CDBE0B23-5842-80B3-EA5D-D8672E9DF1CB}"/>
              </a:ext>
            </a:extLst>
          </p:cNvPr>
          <p:cNvSpPr/>
          <p:nvPr/>
        </p:nvSpPr>
        <p:spPr>
          <a:xfrm>
            <a:off x="861134" y="4586704"/>
            <a:ext cx="10244830" cy="1071233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['</a:t>
            </a:r>
            <a:r>
              <a:rPr lang="ko-KR" altLang="en-US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사과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', '</a:t>
            </a:r>
            <a:r>
              <a:rPr lang="ko-KR" altLang="en-US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바나나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', '</a:t>
            </a:r>
            <a:r>
              <a:rPr lang="ko-KR" altLang="en-US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수박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DF1D6F-DD15-0EEF-06ED-F06056C22B27}"/>
              </a:ext>
            </a:extLst>
          </p:cNvPr>
          <p:cNvSpPr txBox="1"/>
          <p:nvPr/>
        </p:nvSpPr>
        <p:spPr>
          <a:xfrm>
            <a:off x="3771637" y="5853827"/>
            <a:ext cx="7701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chemeClr val="accent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괄호 안에 아무것도 안 적고 </a:t>
            </a:r>
            <a:r>
              <a:rPr lang="en-US" altLang="ko-KR" dirty="0">
                <a:solidFill>
                  <a:schemeClr val="accent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split()</a:t>
            </a:r>
            <a:r>
              <a:rPr lang="ko-KR" altLang="en-US" dirty="0">
                <a:solidFill>
                  <a:schemeClr val="accent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이라고만 쓰면 공백</a:t>
            </a:r>
            <a:r>
              <a:rPr lang="en-US" altLang="ko-KR" dirty="0">
                <a:solidFill>
                  <a:schemeClr val="accent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dirty="0">
                <a:solidFill>
                  <a:schemeClr val="accent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띄어쓰기</a:t>
            </a:r>
            <a:r>
              <a:rPr lang="en-US" altLang="ko-KR" dirty="0">
                <a:solidFill>
                  <a:schemeClr val="accent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r>
              <a:rPr lang="ko-KR" altLang="en-US" dirty="0">
                <a:solidFill>
                  <a:schemeClr val="accent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기준으로 나눔</a:t>
            </a:r>
          </a:p>
        </p:txBody>
      </p:sp>
    </p:spTree>
    <p:extLst>
      <p:ext uri="{BB962C8B-B14F-4D97-AF65-F5344CB8AC3E}">
        <p14:creationId xmlns:p14="http://schemas.microsoft.com/office/powerpoint/2010/main" val="545355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44DB3-D953-6BF8-D1E3-C41F8507C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2363703F-A2E0-613B-A625-654E2DF73F29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CF818865-7DF5-1106-6EBB-0EE95E6BF969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5F0B4D9D-55E0-DC46-9A3B-CBB79FCC5043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1E552D09-A0AD-810A-B4E3-13C981F2DF66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EF86115-7BCE-33EF-F4CF-C7A2A94B7503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BF7D36F7-CF41-D3A6-A3D6-51B61DF9BA13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0B551E5B-4840-184B-AC08-9F543218F7C2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06C799A2-9A06-DC8B-83BD-F1E304552D23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01B548FF-DEF0-9D2B-570C-328E122E1B72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61430DEC-BD3D-4C42-BC0B-2F6CF4A8B278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972EF5-E90B-F028-D9D7-0389BCA0DD0F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AA9EAD-B8DF-3160-E7AC-E158F5E828A7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문자열 다루기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EDBB5DD9-12DE-A7BB-D629-9D4BA6BB3E65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AB7FC-8609-BC53-BE10-F05164B124B7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문자열 합치기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 join()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3A7E1D8-4EF2-258D-4C52-51740D780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F505F1-F8AF-624B-4A18-2139B5F9394F}"/>
              </a:ext>
            </a:extLst>
          </p:cNvPr>
          <p:cNvSpPr txBox="1"/>
          <p:nvPr/>
        </p:nvSpPr>
        <p:spPr>
          <a:xfrm>
            <a:off x="784847" y="1794646"/>
            <a:ext cx="9957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리스트 안에 있는 문자열들을 하나의 큰 문자열로 연결해 줌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96511948-83DC-C2A9-0C1F-3A09BAE5F481}"/>
              </a:ext>
            </a:extLst>
          </p:cNvPr>
          <p:cNvSpPr/>
          <p:nvPr/>
        </p:nvSpPr>
        <p:spPr>
          <a:xfrm>
            <a:off x="861134" y="2390647"/>
            <a:ext cx="10244830" cy="2000167"/>
          </a:xfrm>
          <a:prstGeom prst="roundRect">
            <a:avLst>
              <a:gd name="adj" fmla="val 4276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리스트의 단어들을 하이픈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(-)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으로 연결하기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words = ["010", "1234", "5678"]</a:t>
            </a:r>
          </a:p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phone_number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>
                <a:solidFill>
                  <a:schemeClr val="tx1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"-"</a:t>
            </a:r>
            <a:r>
              <a:rPr lang="en-US" altLang="ko-KR" sz="2400" dirty="0">
                <a:solidFill>
                  <a:srgbClr val="FF000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.join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(words)</a:t>
            </a:r>
          </a:p>
          <a:p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print(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phone_number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4E8FF05A-EE7E-5383-7999-94257DF93ECB}"/>
              </a:ext>
            </a:extLst>
          </p:cNvPr>
          <p:cNvSpPr/>
          <p:nvPr/>
        </p:nvSpPr>
        <p:spPr>
          <a:xfrm>
            <a:off x="861134" y="4586704"/>
            <a:ext cx="10244830" cy="1071233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010-1234-5678</a:t>
            </a:r>
          </a:p>
        </p:txBody>
      </p:sp>
    </p:spTree>
    <p:extLst>
      <p:ext uri="{BB962C8B-B14F-4D97-AF65-F5344CB8AC3E}">
        <p14:creationId xmlns:p14="http://schemas.microsoft.com/office/powerpoint/2010/main" val="340055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A610-BCC2-0308-C08C-C09345344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80376015-D5D9-C440-6522-5EC5E540356F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28C8331E-2B7F-62E5-C249-21AF241B8A5B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2262929E-A935-D038-8EB3-8A48359B998E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0BD8F84D-33FE-10F7-02AF-A55B52BB5DBF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73D210-FE02-C17F-3BC1-A9151A89859F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C140A279-FB8D-89BE-225B-F702DFC46B75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BB590485-AB1B-C300-1DFE-6EB47D5389C2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BC65F621-EF8A-BFC3-6F8D-321A345C2BFE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630CDFB8-0FF6-FE7C-3D7A-4DD615F41724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315AC41F-1B5B-7209-69EB-BE5E3ED50B14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DC0B59-33AA-88A1-0258-3EA7B28EB240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56243B-CF85-B972-46F9-2BB7765A4031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문자열 다루기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86988DB-AEB8-98BC-B1D9-85DEB28AC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AFA7EC-4106-A056-C5AF-C2EA9E0B3435}"/>
              </a:ext>
            </a:extLst>
          </p:cNvPr>
          <p:cNvSpPr txBox="1"/>
          <p:nvPr/>
        </p:nvSpPr>
        <p:spPr>
          <a:xfrm>
            <a:off x="2458637" y="3118764"/>
            <a:ext cx="1696113" cy="523220"/>
          </a:xfrm>
          <a:prstGeom prst="rect">
            <a:avLst/>
          </a:prstGeom>
          <a:solidFill>
            <a:srgbClr val="8D3CFF">
              <a:alpha val="30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리스트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0779F6-9A95-F8E1-0898-B8B851982812}"/>
              </a:ext>
            </a:extLst>
          </p:cNvPr>
          <p:cNvSpPr txBox="1"/>
          <p:nvPr/>
        </p:nvSpPr>
        <p:spPr>
          <a:xfrm>
            <a:off x="8037252" y="3118764"/>
            <a:ext cx="1696113" cy="523220"/>
          </a:xfrm>
          <a:prstGeom prst="rect">
            <a:avLst/>
          </a:prstGeom>
          <a:solidFill>
            <a:schemeClr val="accent2">
              <a:alpha val="3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문자열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2D3A4DA-1095-58B4-2A75-7C5B1F9E9E61}"/>
              </a:ext>
            </a:extLst>
          </p:cNvPr>
          <p:cNvCxnSpPr>
            <a:cxnSpLocks/>
          </p:cNvCxnSpPr>
          <p:nvPr/>
        </p:nvCxnSpPr>
        <p:spPr>
          <a:xfrm>
            <a:off x="4478694" y="3195961"/>
            <a:ext cx="3135086" cy="0"/>
          </a:xfrm>
          <a:prstGeom prst="straightConnector1">
            <a:avLst/>
          </a:prstGeom>
          <a:ln w="57150">
            <a:solidFill>
              <a:srgbClr val="8D3C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D5F7093-EB44-CEA2-F08B-5356B4547A7F}"/>
              </a:ext>
            </a:extLst>
          </p:cNvPr>
          <p:cNvCxnSpPr>
            <a:cxnSpLocks/>
          </p:cNvCxnSpPr>
          <p:nvPr/>
        </p:nvCxnSpPr>
        <p:spPr>
          <a:xfrm>
            <a:off x="4478694" y="3483655"/>
            <a:ext cx="3135086" cy="0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E41691C-6063-FF36-C0C7-F916994092B6}"/>
              </a:ext>
            </a:extLst>
          </p:cNvPr>
          <p:cNvSpPr txBox="1"/>
          <p:nvPr/>
        </p:nvSpPr>
        <p:spPr>
          <a:xfrm>
            <a:off x="5575041" y="2604204"/>
            <a:ext cx="1670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8D3CFF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join</a:t>
            </a:r>
            <a:endParaRPr lang="ko-KR" altLang="en-US" sz="2800" dirty="0">
              <a:solidFill>
                <a:srgbClr val="8D3CFF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6736500A-9EB7-1514-6974-D44D6F0F1B35}"/>
              </a:ext>
            </a:extLst>
          </p:cNvPr>
          <p:cNvSpPr txBox="1"/>
          <p:nvPr/>
        </p:nvSpPr>
        <p:spPr>
          <a:xfrm>
            <a:off x="5509726" y="3536872"/>
            <a:ext cx="1670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split</a:t>
            </a:r>
            <a:endParaRPr lang="ko-KR" altLang="en-US" sz="28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3E513709-CCDE-BB1A-0393-15267F504DF9}"/>
              </a:ext>
            </a:extLst>
          </p:cNvPr>
          <p:cNvSpPr txBox="1"/>
          <p:nvPr/>
        </p:nvSpPr>
        <p:spPr>
          <a:xfrm>
            <a:off x="1886107" y="4432412"/>
            <a:ext cx="2841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</a:rPr>
              <a:t>["0", "1", "2"]</a:t>
            </a:r>
            <a:endParaRPr lang="ko-KR" altLang="en-US" sz="2400" b="1" dirty="0">
              <a:highlight>
                <a:srgbClr val="FFFF00"/>
              </a:highlight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  <p:sp>
        <p:nvSpPr>
          <p:cNvPr id="1027" name="TextBox 1026">
            <a:extLst>
              <a:ext uri="{FF2B5EF4-FFF2-40B4-BE49-F238E27FC236}">
                <a16:creationId xmlns:a16="http://schemas.microsoft.com/office/drawing/2014/main" id="{A28362C1-7A2A-AD30-8513-954D7B4B5ADF}"/>
              </a:ext>
            </a:extLst>
          </p:cNvPr>
          <p:cNvSpPr txBox="1"/>
          <p:nvPr/>
        </p:nvSpPr>
        <p:spPr>
          <a:xfrm>
            <a:off x="7464721" y="4370086"/>
            <a:ext cx="28411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</a:rPr>
              <a:t>"0 1 2"</a:t>
            </a:r>
            <a:endParaRPr lang="ko-KR" altLang="en-US" sz="2400" b="1" dirty="0">
              <a:highlight>
                <a:srgbClr val="FFFF00"/>
              </a:highlight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5752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310C7-8D20-B1A4-CE30-726C99F1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각 삼각형 24">
            <a:extLst>
              <a:ext uri="{FF2B5EF4-FFF2-40B4-BE49-F238E27FC236}">
                <a16:creationId xmlns:a16="http://schemas.microsoft.com/office/drawing/2014/main" id="{79C88145-3B25-FD8A-5508-3E2E5713025F}"/>
              </a:ext>
            </a:extLst>
          </p:cNvPr>
          <p:cNvSpPr/>
          <p:nvPr/>
        </p:nvSpPr>
        <p:spPr>
          <a:xfrm>
            <a:off x="-1" y="6077527"/>
            <a:ext cx="760522" cy="78047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E943B6D-C0E7-DED1-40DE-E6389BC21137}"/>
              </a:ext>
            </a:extLst>
          </p:cNvPr>
          <p:cNvSpPr/>
          <p:nvPr/>
        </p:nvSpPr>
        <p:spPr>
          <a:xfrm>
            <a:off x="391357" y="210845"/>
            <a:ext cx="11409286" cy="6436310"/>
          </a:xfrm>
          <a:prstGeom prst="roundRect">
            <a:avLst>
              <a:gd name="adj" fmla="val 10046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FCF7A17-2375-A283-E3B6-CA03DA59A1F1}"/>
              </a:ext>
            </a:extLst>
          </p:cNvPr>
          <p:cNvSpPr/>
          <p:nvPr/>
        </p:nvSpPr>
        <p:spPr>
          <a:xfrm>
            <a:off x="537839" y="326254"/>
            <a:ext cx="11116322" cy="6205491"/>
          </a:xfrm>
          <a:prstGeom prst="roundRect">
            <a:avLst>
              <a:gd name="adj" fmla="val 91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0959B0-9E8D-2C84-B623-6D7F3953CC7F}"/>
              </a:ext>
            </a:extLst>
          </p:cNvPr>
          <p:cNvSpPr txBox="1"/>
          <p:nvPr/>
        </p:nvSpPr>
        <p:spPr>
          <a:xfrm>
            <a:off x="4001565" y="2305614"/>
            <a:ext cx="41888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dirty="0">
                <a:solidFill>
                  <a:schemeClr val="accent2"/>
                </a:solidFill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02</a:t>
            </a:r>
            <a:endParaRPr lang="ko-KR" altLang="en-US" sz="4000" dirty="0">
              <a:solidFill>
                <a:schemeClr val="accent2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0F6379-07EB-4839-04DA-7EE2FE424A20}"/>
              </a:ext>
            </a:extLst>
          </p:cNvPr>
          <p:cNvSpPr txBox="1"/>
          <p:nvPr/>
        </p:nvSpPr>
        <p:spPr>
          <a:xfrm>
            <a:off x="2607771" y="3013500"/>
            <a:ext cx="6976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예외 처리</a:t>
            </a:r>
          </a:p>
        </p:txBody>
      </p:sp>
    </p:spTree>
    <p:extLst>
      <p:ext uri="{BB962C8B-B14F-4D97-AF65-F5344CB8AC3E}">
        <p14:creationId xmlns:p14="http://schemas.microsoft.com/office/powerpoint/2010/main" val="2797414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CCAF0-7C41-8152-7CA1-DD34A9A96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21AC630D-6A04-8AA0-0594-C4DD8F22CF96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BB529844-DDC6-3804-A6D2-EBE2AE64DC55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5B86EC25-9132-D198-0741-18E4A3E5F973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518127D1-8B25-E941-7544-8A9C41900DB4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05934C-A9B2-7F3F-17E2-0CEC58374DA1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02D8D3B3-EA9F-2835-51EA-AF11EBFD7E5D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762C07A0-B8E5-6F2D-306F-071F3A258B88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B27A2CD1-9DC3-CEDB-5256-DF4157708170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0C3540A7-C5A9-36C2-C146-C25D2B71D46D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1EEB0C4D-F43C-ED45-446E-D489D3767A31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DC902E-E591-47B3-3A82-3D91777BF5B5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A97DA6-7AC6-AF47-94B1-6ACA301D96D7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예외 처리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C80A6A70-A962-861F-8420-C524ECE426CE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0F1A46-156F-4866-1D05-FEC862412E24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파이썬 에러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또는 예외</a:t>
            </a:r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 </a:t>
            </a:r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처리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D2C1F14-1A28-E707-0C5C-7F4F5D7C1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75F374-7561-D362-C5BE-119DE6E9C735}"/>
              </a:ext>
            </a:extLst>
          </p:cNvPr>
          <p:cNvSpPr txBox="1"/>
          <p:nvPr/>
        </p:nvSpPr>
        <p:spPr>
          <a:xfrm>
            <a:off x="784846" y="1794646"/>
            <a:ext cx="103211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프로그램이 실행되다가 에러가 나면 툭 꺼져버린다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 </a:t>
            </a:r>
          </a:p>
          <a:p>
            <a:r>
              <a:rPr lang="ko-KR" altLang="en-US" dirty="0"/>
              <a:t>이러한 예외를 간단하게 처리하여 프로그램이 갑작스럽게 중단되지 않도록 구현하는 방법에 대해 알아보도록 하자</a:t>
            </a:r>
            <a:r>
              <a:rPr lang="en-US" altLang="ko-KR" dirty="0"/>
              <a:t>.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4112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99972-D011-5C48-A0D0-910E4B6E7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901062E7-3D49-9B60-1479-163DB797E8FB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EC93E37-CA70-B774-DDCE-4E45A8233DF9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E02B7FB5-D2D3-D875-F563-E88B1F2746AD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67B6CE94-73BA-5C6B-BDB8-B6D126C2AB45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87F807-965C-F991-8AB3-992DF9A8D316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976A5E9C-26B5-7996-1D7C-B6871A8467E1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C397E62-64BA-5D63-BAB0-0085595428DF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AEDE46A3-499D-55A7-4E28-5FCF2EA44F08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31AD332D-8BE6-F161-D090-6483751C7C50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37A15B66-B5C4-594B-8F43-A8B05F96B91F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1C6BA6-E0D8-AC2B-8107-AC52719BA13F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D888D-1A6B-F552-7107-52C58C9E8027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예외 처리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B9A08C0E-6C64-0855-A3F6-627A4C121FF6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F89A15-93B4-4D6C-787A-4417BE166637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try-except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0DDDBD4-A214-9C2B-453C-D0224823E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901DF3E-C0CB-439A-3404-B2A6FD0CCF94}"/>
              </a:ext>
            </a:extLst>
          </p:cNvPr>
          <p:cNvSpPr/>
          <p:nvPr/>
        </p:nvSpPr>
        <p:spPr>
          <a:xfrm>
            <a:off x="861134" y="4297336"/>
            <a:ext cx="10244830" cy="163645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try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	</a:t>
            </a:r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 = 10 / 0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except </a:t>
            </a:r>
            <a:r>
              <a:rPr lang="en-US" altLang="ko-KR" sz="2400" dirty="0" err="1">
                <a:solidFill>
                  <a:srgbClr val="7030A0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ZeroDivisionError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	print("0</a:t>
            </a:r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으로 나눌 수 없습니다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!")</a:t>
            </a: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:a16="http://schemas.microsoft.com/office/drawing/2014/main" id="{C8610183-0E3D-D3FB-3A91-8B971272D8F6}"/>
              </a:ext>
            </a:extLst>
          </p:cNvPr>
          <p:cNvSpPr/>
          <p:nvPr/>
        </p:nvSpPr>
        <p:spPr>
          <a:xfrm>
            <a:off x="861134" y="2405660"/>
            <a:ext cx="10244830" cy="163645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try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	</a:t>
            </a:r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실행할 코드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rgbClr val="2249FB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except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	</a:t>
            </a:r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예외가 발생할 때 실행할 코드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55E49B-65D9-5233-8DFD-DF0A560FAE78}"/>
              </a:ext>
            </a:extLst>
          </p:cNvPr>
          <p:cNvSpPr txBox="1"/>
          <p:nvPr/>
        </p:nvSpPr>
        <p:spPr>
          <a:xfrm>
            <a:off x="827796" y="1880910"/>
            <a:ext cx="9859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en-US" altLang="ko-KR" sz="20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try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블록에서 에러가 발생하면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</a:t>
            </a:r>
            <a:r>
              <a:rPr lang="en-US" altLang="ko-KR" sz="20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except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'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블록의 코드가 실행되는 구조로 코드를 작성하여 사용</a:t>
            </a:r>
          </a:p>
        </p:txBody>
      </p:sp>
    </p:spTree>
    <p:extLst>
      <p:ext uri="{BB962C8B-B14F-4D97-AF65-F5344CB8AC3E}">
        <p14:creationId xmlns:p14="http://schemas.microsoft.com/office/powerpoint/2010/main" val="698068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59E65-60AC-78DE-0BFC-8F9A8DCCE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1FD97AD2-0188-9661-ADCB-C5FB9F5F59A5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17CA1BF3-A67F-6B5E-281C-751A75047819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BD972864-FA95-5184-B4FE-6C830D0CE062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4ED6B221-F1F6-8A1C-5D30-86E9AB8D28AC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829598E-B4BB-B7AC-EDF5-9BD44A2E78B3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BD5A3184-D32B-D692-8017-FB2B531ED09A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0C852867-1A2E-3A3E-2B12-AB600FFE6C83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A0F12705-21C3-9621-20C2-2F7A8C89DF3F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3B782E2D-CB89-3C1F-1C6F-F0155BF7D5F2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C2D1E644-D272-5E9E-714E-E67AEEA4235A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DD4919-A6FF-BD6B-D39D-F084A2FC7672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46B39-E189-A1DC-5A0F-FF3A2E65157E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예외 처리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5E2525F1-6EDD-0DC4-BD50-69E216FF1EF1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88E980-1F4F-7CB1-D8C4-B8CC7D12F974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try-except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61D2B5A-E9A0-1FD6-A3DA-5899F9482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9592A4F8-9E41-2CFA-5599-9FF9823B2B74}"/>
              </a:ext>
            </a:extLst>
          </p:cNvPr>
          <p:cNvSpPr/>
          <p:nvPr/>
        </p:nvSpPr>
        <p:spPr>
          <a:xfrm>
            <a:off x="861134" y="2745038"/>
            <a:ext cx="10244830" cy="3365930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try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value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input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숫자를 입력하세요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 "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10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/ 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(value)</a:t>
            </a:r>
          </a:p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except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ZeroDivisionError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0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을 입력했을 때만 실행됨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"0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으로 나눌 수 없습니다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!"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except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ValueError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# "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안녕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 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같은 글자를 입력했을 때만 실행됨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숫자가 아닌 다른 글자를 입력하셨습니다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!"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9B4958-AAD4-8322-6A59-848DAC0E2138}"/>
              </a:ext>
            </a:extLst>
          </p:cNvPr>
          <p:cNvSpPr txBox="1"/>
          <p:nvPr/>
        </p:nvSpPr>
        <p:spPr>
          <a:xfrm>
            <a:off x="827796" y="1880910"/>
            <a:ext cx="9859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except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뒤에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구체적인 에러 이름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적는 이유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?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71AD31-AAD0-2A5B-F0B6-EB29566871C9}"/>
              </a:ext>
            </a:extLst>
          </p:cNvPr>
          <p:cNvSpPr txBox="1"/>
          <p:nvPr/>
        </p:nvSpPr>
        <p:spPr>
          <a:xfrm>
            <a:off x="861134" y="2292006"/>
            <a:ext cx="61022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1.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어떤 에러가 발생 했는지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"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골라서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"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처리하기 위해</a:t>
            </a:r>
          </a:p>
        </p:txBody>
      </p:sp>
    </p:spTree>
    <p:extLst>
      <p:ext uri="{BB962C8B-B14F-4D97-AF65-F5344CB8AC3E}">
        <p14:creationId xmlns:p14="http://schemas.microsoft.com/office/powerpoint/2010/main" val="1846501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EED3-2F1B-9B0E-14E6-9C72008E2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DCCA2429-2AD5-79BB-9C61-892DE2927B8B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3A296BC1-6D5F-6360-F8D5-D8051D8B4D00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D4956B6F-2D42-B957-FDFC-9C9FC45F56DA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8E3BEB5E-ACC0-674B-42D5-4DC86230B429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AACF27-6E7D-4B55-AE29-2767EAFCEEAB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C98ECEA3-CA84-5805-EC2D-A99FA28CBB9C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81A26E66-C69C-C182-3D1C-AB9D04759D67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B18EB99E-FC57-52AE-86DC-F8DC28CC1AB8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1F2D3E8F-8F06-54CC-B93E-21FB36CF6E29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1DB4CAE7-852F-02F8-37F7-B72F3D460CE0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EB8EAB-430B-2C14-45F6-69179443EF17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E56FB-0F45-8E85-6602-BAF5AC1BE0A4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예외 처리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83ECC01E-D35C-BD75-0158-F259B70FDA2E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E03B1-FFD2-3CA2-FA58-A7CA60E2250C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try-except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76E9335-165E-4DDC-79E6-D96378642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370FFF31-AC55-49A3-D0DD-D19B8CFA25B6}"/>
              </a:ext>
            </a:extLst>
          </p:cNvPr>
          <p:cNvSpPr/>
          <p:nvPr/>
        </p:nvSpPr>
        <p:spPr>
          <a:xfrm>
            <a:off x="861134" y="2745038"/>
            <a:ext cx="10244830" cy="2703640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try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10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/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10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400" dirty="0" err="1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pirnt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("Good!") 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오타 발생 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(print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를 </a:t>
            </a:r>
            <a:r>
              <a:rPr lang="en-US" altLang="ko-KR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pirnt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라고 잘못 적음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endParaRPr lang="en-US" altLang="ko-KR" sz="2400" dirty="0">
              <a:solidFill>
                <a:srgbClr val="8D3CFF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except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print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"0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으로 나눌 수 없습니다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!"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75107B-864C-ECB9-0677-24EDC7D04485}"/>
              </a:ext>
            </a:extLst>
          </p:cNvPr>
          <p:cNvSpPr txBox="1"/>
          <p:nvPr/>
        </p:nvSpPr>
        <p:spPr>
          <a:xfrm>
            <a:off x="827796" y="1880910"/>
            <a:ext cx="9859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except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뒤에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구체적인 에러 이름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을 적는 이유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?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B99944-E6F7-ED2D-0636-E3ADB5DB8DAC}"/>
              </a:ext>
            </a:extLst>
          </p:cNvPr>
          <p:cNvSpPr txBox="1"/>
          <p:nvPr/>
        </p:nvSpPr>
        <p:spPr>
          <a:xfrm>
            <a:off x="861134" y="2292006"/>
            <a:ext cx="61022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2.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예상하지 못한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"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진짜 버그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"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를 잡기 위해</a:t>
            </a:r>
          </a:p>
        </p:txBody>
      </p:sp>
    </p:spTree>
    <p:extLst>
      <p:ext uri="{BB962C8B-B14F-4D97-AF65-F5344CB8AC3E}">
        <p14:creationId xmlns:p14="http://schemas.microsoft.com/office/powerpoint/2010/main" val="1326334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79BBF-38E3-38AA-77CC-5238E8FE8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5BE37343-A254-CF0B-72DA-3509023DC495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6DC974D2-C2C9-1EA5-82A5-75B279324961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7D83E9FE-34D0-D671-B879-F1B7DE985180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DD5BA746-6BDF-9C43-BB99-637589A9C1E2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235027-C9AD-AFD1-BD30-DBC4D7CB9911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8E038D05-B7E5-DCEC-6EA0-C9E756FF8ECC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E9EACFF8-DCBC-2D7F-740D-D6297C5FF73F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C16F7F5C-F72E-A617-B58C-561655265447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65779B9A-B346-DDA1-C567-401881E29052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1B113BE3-E822-A799-EC84-416FBCC64F55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E26564-771C-FEE0-541D-14BD25C9A275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01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F48C51-9186-CF64-CEC5-B432016AF121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예외 처리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CF0D392B-05C5-5665-2950-92317E23DABF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2A560-B44E-FCA0-8FE3-19A82926B480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try-except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77BACF-3751-47DA-D944-95C28CDBA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CA7D55D-7177-250F-C0CB-AC25C50E83DE}"/>
              </a:ext>
            </a:extLst>
          </p:cNvPr>
          <p:cNvSpPr txBox="1"/>
          <p:nvPr/>
        </p:nvSpPr>
        <p:spPr>
          <a:xfrm>
            <a:off x="861134" y="2295385"/>
            <a:ext cx="103989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except</a:t>
            </a:r>
            <a:r>
              <a:rPr lang="en-US" altLang="ko-KR" sz="20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무슨 에러가 나든 상관없으니 무조건 덮어두고 다음으로 넘어가자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!"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간단한 테스트용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4025E-33F2-1619-8873-F8E3EC2A5E97}"/>
              </a:ext>
            </a:extLst>
          </p:cNvPr>
          <p:cNvSpPr txBox="1"/>
          <p:nvPr/>
        </p:nvSpPr>
        <p:spPr>
          <a:xfrm>
            <a:off x="861133" y="3032819"/>
            <a:ext cx="103989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except 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에러 이름</a:t>
            </a:r>
            <a:r>
              <a:rPr lang="en-US" altLang="ko-KR" sz="2000" dirty="0">
                <a:highlight>
                  <a:srgbClr val="FFFF00"/>
                </a:highlight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 "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예상한 이 특정 에러만 안전하게 처리하고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다른 예상치 못한 진짜 버그는 빨간 화면으로 알려줘</a:t>
            </a:r>
            <a:r>
              <a:rPr lang="en-US" altLang="ko-KR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!" 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(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실제 프로그램 개발용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)</a:t>
            </a:r>
            <a:endParaRPr lang="ko-KR" altLang="en-US" sz="20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2094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E5E9E-1271-F785-C43E-676D8F40F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2426070A-59D4-7E5D-1174-3597A17880DA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4458CA7F-DE02-CF19-5E7F-5F3BF934833C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717C7C34-853A-38DD-D05C-021DCD1B7EDE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E158C61B-3C5F-5CD3-5E77-717C2160B79F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12B34C9-9E96-6C67-681F-2AFA058BBD57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6D680400-4189-C766-A3F2-0AA043179BC6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AD33EE5D-583C-C1C6-2651-93D6484CDC83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18794EE8-8A41-4567-1FEB-8FBEABFDA6D5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3A8B4F23-7DE2-8EE6-FDE9-AA631CA27015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B6E0D254-CCD2-4A90-7422-B8A110DA33F3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525972-5652-F4DE-A2A9-7AE4188F0E51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C70FBC-B179-523A-6C2C-1EF82B4B16ED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다양한 예외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06D0C60F-CB74-5DDE-C036-8AB40D5E3D5B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F2AB6A-9942-BDA5-5C6B-1FC0B689F984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err="1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ZeroDivisionError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AD45B60-1B3D-843B-822E-FBEA8EEFA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969A41EC-8187-5396-0800-8DF348C138BA}"/>
              </a:ext>
            </a:extLst>
          </p:cNvPr>
          <p:cNvSpPr/>
          <p:nvPr/>
        </p:nvSpPr>
        <p:spPr>
          <a:xfrm>
            <a:off x="861134" y="3727842"/>
            <a:ext cx="10244830" cy="2143713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try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10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/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0</a:t>
            </a:r>
            <a:endParaRPr lang="en-US" altLang="ko-KR" sz="2400" dirty="0">
              <a:solidFill>
                <a:srgbClr val="8D3CFF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except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ZeroDivisionError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print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"0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으로 나눌 수 없습니다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!"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39BDFA-EE0B-423D-3E98-DB3DE6BF4796}"/>
              </a:ext>
            </a:extLst>
          </p:cNvPr>
          <p:cNvSpPr txBox="1"/>
          <p:nvPr/>
        </p:nvSpPr>
        <p:spPr>
          <a:xfrm>
            <a:off x="861134" y="1817002"/>
            <a:ext cx="9859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예외 처리 없이 실행한 예시</a:t>
            </a:r>
          </a:p>
        </p:txBody>
      </p:sp>
      <p:sp>
        <p:nvSpPr>
          <p:cNvPr id="7" name="모서리가 둥근 직사각형 10">
            <a:extLst>
              <a:ext uri="{FF2B5EF4-FFF2-40B4-BE49-F238E27FC236}">
                <a16:creationId xmlns:a16="http://schemas.microsoft.com/office/drawing/2014/main" id="{5BCDB6AB-3546-6C16-7BEE-D7853A92279D}"/>
              </a:ext>
            </a:extLst>
          </p:cNvPr>
          <p:cNvSpPr/>
          <p:nvPr/>
        </p:nvSpPr>
        <p:spPr>
          <a:xfrm>
            <a:off x="861134" y="2281020"/>
            <a:ext cx="10244830" cy="84473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num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10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/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0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en-US" altLang="ko-KR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ZeroDivisionError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발생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246AF-0FED-2F31-F88B-6AF09EE9483C}"/>
              </a:ext>
            </a:extLst>
          </p:cNvPr>
          <p:cNvSpPr txBox="1"/>
          <p:nvPr/>
        </p:nvSpPr>
        <p:spPr>
          <a:xfrm>
            <a:off x="861133" y="3309148"/>
            <a:ext cx="9859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예외 처리한 예시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8DF51E-AF6F-E09A-061A-D613B3B0AD7C}"/>
              </a:ext>
            </a:extLst>
          </p:cNvPr>
          <p:cNvSpPr txBox="1"/>
          <p:nvPr/>
        </p:nvSpPr>
        <p:spPr>
          <a:xfrm>
            <a:off x="1822833" y="6460123"/>
            <a:ext cx="6463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출처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https://maker5587.tistory.com/81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[Zerocok Tech Blog: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티스토리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]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E56EA9-736C-4782-1CC6-4983861F655E}"/>
              </a:ext>
            </a:extLst>
          </p:cNvPr>
          <p:cNvSpPr txBox="1"/>
          <p:nvPr/>
        </p:nvSpPr>
        <p:spPr>
          <a:xfrm>
            <a:off x="4413380" y="1294575"/>
            <a:ext cx="4030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0</a:t>
            </a:r>
            <a:r>
              <a:rPr lang="ko-KR" altLang="en-US" b="0" i="0" dirty="0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으로 숫자를 나눌 때 발생하는 에러</a:t>
            </a:r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9849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9E340-C462-6D9A-0276-3E2BEEE90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EB3D5C75-0185-BA74-B287-4B0598AC9F1A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F1FD2371-3449-3374-808A-851ED3DBF0A5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48ACFBD7-65C7-D34C-22B9-773E4FB2BCD0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2709759D-EA42-B8CD-6858-E3B685C35D0F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F10EA4-FE5A-43FE-4FB7-4C608B97C53E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DD215400-28BE-3ABF-D8E6-B077B6B0D121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8DA3E4DD-4CA9-06C5-DF17-3C4DE1FC0BE6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AEBD3AD4-3E31-B963-A5C7-98AFB5EA2527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9BA8C8E3-7097-A1AC-4152-A4A56AB70C3D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3AD5CC42-9931-A7CA-C069-8D618DC3E46E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CF7C13-766F-42D3-BE76-7781EA330A47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D9868-39BC-A535-46AB-D5D2FA4EA107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다양한 예외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A8E4D4D1-5E97-0ECA-8A0A-33A04EC6C1A4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1AA77-EC2B-D151-6574-19F360089EDD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err="1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IndexError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C284752-E78A-6307-F1E3-2BBE4D305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5C01747-F855-2ECE-952E-241FDF27E116}"/>
              </a:ext>
            </a:extLst>
          </p:cNvPr>
          <p:cNvSpPr/>
          <p:nvPr/>
        </p:nvSpPr>
        <p:spPr>
          <a:xfrm>
            <a:off x="861134" y="3727842"/>
            <a:ext cx="10244830" cy="2143713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try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a = [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</a:t>
            </a:r>
          </a:p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(a[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4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])</a:t>
            </a:r>
            <a:endParaRPr lang="en-US" altLang="ko-KR" sz="2400" dirty="0">
              <a:solidFill>
                <a:srgbClr val="8D3CFF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except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IndexError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print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잘못된 인덱스입니다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!"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E69675-BD4A-1233-FAEA-76923583E6D8}"/>
              </a:ext>
            </a:extLst>
          </p:cNvPr>
          <p:cNvSpPr txBox="1"/>
          <p:nvPr/>
        </p:nvSpPr>
        <p:spPr>
          <a:xfrm>
            <a:off x="861134" y="1817002"/>
            <a:ext cx="9859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예외 처리 없이 실행한 예시</a:t>
            </a:r>
          </a:p>
        </p:txBody>
      </p:sp>
      <p:sp>
        <p:nvSpPr>
          <p:cNvPr id="7" name="모서리가 둥근 직사각형 10">
            <a:extLst>
              <a:ext uri="{FF2B5EF4-FFF2-40B4-BE49-F238E27FC236}">
                <a16:creationId xmlns:a16="http://schemas.microsoft.com/office/drawing/2014/main" id="{9E52DBA0-75EE-04C8-8943-8723CD7615A7}"/>
              </a:ext>
            </a:extLst>
          </p:cNvPr>
          <p:cNvSpPr/>
          <p:nvPr/>
        </p:nvSpPr>
        <p:spPr>
          <a:xfrm>
            <a:off x="861134" y="2281020"/>
            <a:ext cx="10244830" cy="84473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 = [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1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2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3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a[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4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  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en-US" altLang="ko-KR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IndexError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발생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164DC0-5ADF-F6B7-9E93-14B2754938E6}"/>
              </a:ext>
            </a:extLst>
          </p:cNvPr>
          <p:cNvSpPr txBox="1"/>
          <p:nvPr/>
        </p:nvSpPr>
        <p:spPr>
          <a:xfrm>
            <a:off x="861133" y="3309148"/>
            <a:ext cx="9859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예외 처리한 예시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1ED8E1-B52E-2F6F-DBF8-7E10CF86DBDC}"/>
              </a:ext>
            </a:extLst>
          </p:cNvPr>
          <p:cNvSpPr txBox="1"/>
          <p:nvPr/>
        </p:nvSpPr>
        <p:spPr>
          <a:xfrm>
            <a:off x="1822833" y="6460123"/>
            <a:ext cx="6463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출처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https://maker5587.tistory.com/81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[Zerocok Tech Blog: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티스토리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]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F138BB-1B6E-E55F-03F2-D213A1527C44}"/>
              </a:ext>
            </a:extLst>
          </p:cNvPr>
          <p:cNvSpPr txBox="1"/>
          <p:nvPr/>
        </p:nvSpPr>
        <p:spPr>
          <a:xfrm>
            <a:off x="3209731" y="1294575"/>
            <a:ext cx="6624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리스트나 </a:t>
            </a:r>
            <a:r>
              <a:rPr lang="ko-KR" altLang="en-US" b="0" i="0" dirty="0" err="1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튜플에서</a:t>
            </a:r>
            <a:r>
              <a:rPr lang="ko-KR" altLang="en-US" b="0" i="0" dirty="0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잘못된 인덱스에 접근하려 할 때 발생하는 에러</a:t>
            </a:r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351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99D0D-7F07-07C8-0329-72FF8F10B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612DEFAD-AA2C-4130-59D2-85FF50AAC3F5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5B876948-72BD-F994-F0A1-1E5014F2354E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05DE80A6-A32B-6E34-2314-937C742AE2A5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E89B2F92-D57F-128A-D153-2436ABD95F34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D1816E-315D-31ED-9E9A-8F7A421E51E9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BCE7D33F-B643-A173-F1BE-47BAB4C1230E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FDF5BDB9-F78C-F2C9-1224-27B29BF8988D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70BDB1ED-CDF9-51C6-C8EB-CEFFD1F9C676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2331A587-C2C9-C568-3D05-2FD4126BECCC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5B29986C-78F6-D778-6855-FDF62E22F6B6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851E47-763B-A2C1-2A2D-48CEBF8F462A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27944-0D46-7338-AEE5-2C277C9BCD24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다양한 예외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7FEFBD60-0842-1374-A4E4-E44CF85BD231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6A697-D93D-F9FB-B37A-AE0A7A81BC73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err="1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KeyError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1182EE4-0AF2-50F0-714B-143C66CAB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A5F8B22-2259-8F4A-08FF-EF1B74301755}"/>
              </a:ext>
            </a:extLst>
          </p:cNvPr>
          <p:cNvSpPr/>
          <p:nvPr/>
        </p:nvSpPr>
        <p:spPr>
          <a:xfrm>
            <a:off x="861134" y="3727842"/>
            <a:ext cx="10244830" cy="2143713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try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data = {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'apple'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5000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'banana'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4000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}</a:t>
            </a:r>
          </a:p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(data[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'tomato'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])</a:t>
            </a:r>
            <a:endParaRPr lang="en-US" altLang="ko-KR" sz="2400" dirty="0">
              <a:solidFill>
                <a:srgbClr val="8D3CFF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except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KeyError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print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키가 존재하지 않습니다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!"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79B06C3-8C3B-DD0A-5009-9197AAB395A0}"/>
              </a:ext>
            </a:extLst>
          </p:cNvPr>
          <p:cNvSpPr txBox="1"/>
          <p:nvPr/>
        </p:nvSpPr>
        <p:spPr>
          <a:xfrm>
            <a:off x="861134" y="1817002"/>
            <a:ext cx="9859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예외 처리 없이 실행한 예시</a:t>
            </a:r>
          </a:p>
        </p:txBody>
      </p:sp>
      <p:sp>
        <p:nvSpPr>
          <p:cNvPr id="7" name="모서리가 둥근 직사각형 10">
            <a:extLst>
              <a:ext uri="{FF2B5EF4-FFF2-40B4-BE49-F238E27FC236}">
                <a16:creationId xmlns:a16="http://schemas.microsoft.com/office/drawing/2014/main" id="{A89C109C-FA89-FA9E-7275-102B75B775DC}"/>
              </a:ext>
            </a:extLst>
          </p:cNvPr>
          <p:cNvSpPr/>
          <p:nvPr/>
        </p:nvSpPr>
        <p:spPr>
          <a:xfrm>
            <a:off x="861134" y="2281020"/>
            <a:ext cx="10244830" cy="84473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data = {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'apple'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5000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'banana'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 </a:t>
            </a:r>
            <a:r>
              <a:rPr lang="en-US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4000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}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(data[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'tomato'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]) 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en-US" altLang="ko-KR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KeyError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발생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E317C-A317-D9A0-F4AC-A599B844344D}"/>
              </a:ext>
            </a:extLst>
          </p:cNvPr>
          <p:cNvSpPr txBox="1"/>
          <p:nvPr/>
        </p:nvSpPr>
        <p:spPr>
          <a:xfrm>
            <a:off x="861133" y="3309148"/>
            <a:ext cx="9859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예외 처리한 예시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EF7643-3D91-0110-2B39-4A314DE39C8C}"/>
              </a:ext>
            </a:extLst>
          </p:cNvPr>
          <p:cNvSpPr txBox="1"/>
          <p:nvPr/>
        </p:nvSpPr>
        <p:spPr>
          <a:xfrm>
            <a:off x="1822833" y="6460123"/>
            <a:ext cx="6463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출처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https://maker5587.tistory.com/81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[Zerocok Tech Blog: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티스토리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]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B7E939-6713-D189-3733-08156B14383C}"/>
              </a:ext>
            </a:extLst>
          </p:cNvPr>
          <p:cNvSpPr txBox="1"/>
          <p:nvPr/>
        </p:nvSpPr>
        <p:spPr>
          <a:xfrm>
            <a:off x="3209731" y="1294575"/>
            <a:ext cx="66247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 err="1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딕셔너리에서</a:t>
            </a:r>
            <a:r>
              <a:rPr lang="ko-KR" altLang="en-US" b="0" i="0" dirty="0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존재하지 않는 키에 접근하려 할 때 발생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하는 에러</a:t>
            </a:r>
          </a:p>
        </p:txBody>
      </p:sp>
    </p:spTree>
    <p:extLst>
      <p:ext uri="{BB962C8B-B14F-4D97-AF65-F5344CB8AC3E}">
        <p14:creationId xmlns:p14="http://schemas.microsoft.com/office/powerpoint/2010/main" val="4274712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9E1E7-951A-FA3C-7CD8-28AA92539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F4FC88E9-37FD-2106-9C99-7DDD181E8F85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53C6D102-B45F-14EC-20E4-0ED9F5318D8F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05770F3B-4FB4-C204-D4C2-EF44F9D34F8D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C3008083-43AE-0900-2F1F-65E2FF3AE949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D3F41AA-FD92-49FD-4A49-5D635AF51C12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2F7940A2-CD4A-8A51-5D3D-9FF649A1D46D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B18270EA-F363-E6B9-8C8D-9CE97C1C8E0A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04B6CF4E-F0DE-7DC9-5D3F-1AC9C53C2125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C0957ADC-B844-0D83-F0CA-1E07A3274389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3D12A2B8-6B52-D7CD-7961-51817A278E86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19F531-1336-75BE-855F-4B06C88EC73A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02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81CB9C-A36F-E926-B3BC-95AA95B6A90C}"/>
              </a:ext>
            </a:extLst>
          </p:cNvPr>
          <p:cNvSpPr txBox="1"/>
          <p:nvPr/>
        </p:nvSpPr>
        <p:spPr>
          <a:xfrm>
            <a:off x="1420427" y="142041"/>
            <a:ext cx="4534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다양한 예외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A0100E29-8E2C-736F-FFEB-994FC55708F3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81FFA-C0C1-8DF4-B2D8-DCEDBA8248A1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 err="1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FileNotFoundError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89AD956-83B9-CECA-F26D-F75CBCCD9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C14CA80-2278-DBF6-AF32-7335DDE32BB1}"/>
              </a:ext>
            </a:extLst>
          </p:cNvPr>
          <p:cNvSpPr/>
          <p:nvPr/>
        </p:nvSpPr>
        <p:spPr>
          <a:xfrm>
            <a:off x="861134" y="3727842"/>
            <a:ext cx="10244830" cy="2143713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try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f = 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open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'data.csv'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  <a:p>
            <a:r>
              <a:rPr lang="en-US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except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FileNotFoundError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print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"</a:t>
            </a:r>
            <a:r>
              <a:rPr lang="ko-KR" altLang="en-US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파일을 찾을 수 없습니다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!"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ED0735B-9803-1012-3ABA-8E5B2F66B482}"/>
              </a:ext>
            </a:extLst>
          </p:cNvPr>
          <p:cNvSpPr txBox="1"/>
          <p:nvPr/>
        </p:nvSpPr>
        <p:spPr>
          <a:xfrm>
            <a:off x="861134" y="1817002"/>
            <a:ext cx="9859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예외 처리 없이 실행한 예시</a:t>
            </a:r>
          </a:p>
        </p:txBody>
      </p:sp>
      <p:sp>
        <p:nvSpPr>
          <p:cNvPr id="7" name="모서리가 둥근 직사각형 10">
            <a:extLst>
              <a:ext uri="{FF2B5EF4-FFF2-40B4-BE49-F238E27FC236}">
                <a16:creationId xmlns:a16="http://schemas.microsoft.com/office/drawing/2014/main" id="{37D70E7A-837B-9B76-CB7E-27EA4179FB14}"/>
              </a:ext>
            </a:extLst>
          </p:cNvPr>
          <p:cNvSpPr/>
          <p:nvPr/>
        </p:nvSpPr>
        <p:spPr>
          <a:xfrm>
            <a:off x="861134" y="2281020"/>
            <a:ext cx="10244830" cy="844735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 = 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open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'data.csv'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) 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File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이 없을 경우 </a:t>
            </a:r>
            <a:r>
              <a:rPr lang="en-US" altLang="ko-KR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FileNotFoundError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발생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8B79DB-EEE2-C23D-B633-CF56213F27DF}"/>
              </a:ext>
            </a:extLst>
          </p:cNvPr>
          <p:cNvSpPr txBox="1"/>
          <p:nvPr/>
        </p:nvSpPr>
        <p:spPr>
          <a:xfrm>
            <a:off x="861133" y="3309148"/>
            <a:ext cx="9859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예외 처리한 예시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B11753-0A9B-5648-5994-8E04C965273C}"/>
              </a:ext>
            </a:extLst>
          </p:cNvPr>
          <p:cNvSpPr txBox="1"/>
          <p:nvPr/>
        </p:nvSpPr>
        <p:spPr>
          <a:xfrm>
            <a:off x="1822833" y="6460123"/>
            <a:ext cx="6463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출처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https://maker5587.tistory.com/81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[Zerocok Tech Blog: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티스토리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]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6E43C9-4FFF-CEE4-A08F-11739C0643BE}"/>
              </a:ext>
            </a:extLst>
          </p:cNvPr>
          <p:cNvSpPr txBox="1"/>
          <p:nvPr/>
        </p:nvSpPr>
        <p:spPr>
          <a:xfrm>
            <a:off x="4637313" y="1294575"/>
            <a:ext cx="5989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effectLst/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존재하지 않는 파일을 열려고 할 때 발생하는 에러</a:t>
            </a:r>
            <a:endParaRPr lang="ko-KR" alt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0042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4D7BE-29BB-9A30-E3C2-3C60EC9A5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1E751FAE-32B6-D8F5-1B2F-91EECF511FDC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346E32AD-E88F-0F7D-B96F-3B075558764E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74F64C68-B405-DFEC-27E9-B887E4B07DE9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90529F90-5E64-47B9-D9B1-544EDF285358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7CDEE12-DE51-509B-DE13-002221C2A2A0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EE49703E-BF9A-503D-9A09-D5EEE9DEE8C8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9CCC4384-C781-6CD4-6BE2-51C2352BFAB9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1B464D16-042D-14CD-9341-56B9CBFB5021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19FA9FFD-0DE1-C4D6-ACB2-39EC9EB15061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9D764E90-2697-419C-1857-F726A954A999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D180A8-658F-ACE6-BFC0-A909420968AF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03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0C377B-A36B-4BCD-7653-BF31730D7640}"/>
              </a:ext>
            </a:extLst>
          </p:cNvPr>
          <p:cNvSpPr txBox="1"/>
          <p:nvPr/>
        </p:nvSpPr>
        <p:spPr>
          <a:xfrm>
            <a:off x="1420427" y="142041"/>
            <a:ext cx="5362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실용적인 상황에서의 예외 처리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D0B72FD-2802-2685-5795-4C105B157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7783E0B-6064-1EFE-37A2-619AF40223FF}"/>
              </a:ext>
            </a:extLst>
          </p:cNvPr>
          <p:cNvSpPr txBox="1"/>
          <p:nvPr/>
        </p:nvSpPr>
        <p:spPr>
          <a:xfrm>
            <a:off x="861133" y="1188221"/>
            <a:ext cx="9859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예를 들어 표현된 숫자들을 실수로 변환해야 하는 상황을 가정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7" name="모서리가 둥근 직사각형 10">
            <a:extLst>
              <a:ext uri="{FF2B5EF4-FFF2-40B4-BE49-F238E27FC236}">
                <a16:creationId xmlns:a16="http://schemas.microsoft.com/office/drawing/2014/main" id="{713E2215-9D12-FD4E-4D8C-F86AE5195D01}"/>
              </a:ext>
            </a:extLst>
          </p:cNvPr>
          <p:cNvSpPr/>
          <p:nvPr/>
        </p:nvSpPr>
        <p:spPr>
          <a:xfrm>
            <a:off x="861134" y="2281020"/>
            <a:ext cx="10244830" cy="1869246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data_list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[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'10'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'20'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>
                <a:solidFill>
                  <a:srgbClr val="08603D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'invalid'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>
                <a:solidFill>
                  <a:srgbClr val="08603D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for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value 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in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data_list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   result = 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(value) 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# </a:t>
            </a:r>
            <a:r>
              <a:rPr lang="en-US" altLang="ko-KR" sz="2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ValueError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발생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  <a:p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    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print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(result)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CF3960-6720-4BF7-73B0-FE27B7DEC740}"/>
              </a:ext>
            </a:extLst>
          </p:cNvPr>
          <p:cNvSpPr txBox="1"/>
          <p:nvPr/>
        </p:nvSpPr>
        <p:spPr>
          <a:xfrm>
            <a:off x="1822833" y="6460123"/>
            <a:ext cx="6463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출처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https://maker5587.tistory.com/81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[Zerocok Tech Blog: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티스토리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]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65612C-3249-31EE-172E-EBD23893DE9E}"/>
              </a:ext>
            </a:extLst>
          </p:cNvPr>
          <p:cNvSpPr txBox="1"/>
          <p:nvPr/>
        </p:nvSpPr>
        <p:spPr>
          <a:xfrm>
            <a:off x="861132" y="1610645"/>
            <a:ext cx="9859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그러나 일부 문자열이 빈 문자열일 경우 </a:t>
            </a:r>
            <a:r>
              <a:rPr lang="en-US" altLang="ko-KR" dirty="0" err="1"/>
              <a:t>ValueError</a:t>
            </a:r>
            <a:r>
              <a:rPr lang="ko-KR" altLang="en-US" dirty="0"/>
              <a:t>가 발생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3820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CF218-31D2-CAA1-601A-1B8EDE3A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C8DB8966-565E-7ED1-ED4A-402DBA5CBE12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F6BCA2D4-0A9C-5CF0-C70C-52E923440CBB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3284A6D3-F701-A2F1-9688-45EC9345BB25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890B32B6-F6DD-1D87-47B4-41BDD599092F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EB3912-4D09-50E7-76EA-9DAB6353E81C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E30369F1-1B78-24B7-7CAF-A799EF1FE26A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E3EE983C-6274-6A9A-3410-684D4F3CE0EC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EABDCAD9-8356-F84C-5750-8648FEFCA7E2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9E8192AA-4C00-3FF1-E377-74B5CF344CC7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C26F5000-064C-E817-DF70-BDDF5D80395D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9F3C8E-DA5E-F3E8-29EF-EB9BE7EB8006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03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957FBF-4A20-BD01-73C1-F09B3D6E4922}"/>
              </a:ext>
            </a:extLst>
          </p:cNvPr>
          <p:cNvSpPr txBox="1"/>
          <p:nvPr/>
        </p:nvSpPr>
        <p:spPr>
          <a:xfrm>
            <a:off x="1420427" y="142041"/>
            <a:ext cx="5362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실용적인 상황에서의 예외 처리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E001BB5-9AD0-3AF8-BAC8-6F04E73E6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F9B60BD2-D4B9-1BE7-8025-6A492540C2B4}"/>
              </a:ext>
            </a:extLst>
          </p:cNvPr>
          <p:cNvSpPr/>
          <p:nvPr/>
        </p:nvSpPr>
        <p:spPr>
          <a:xfrm>
            <a:off x="894471" y="2229644"/>
            <a:ext cx="10244830" cy="3280959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data_list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= [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'10'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>
                <a:solidFill>
                  <a:srgbClr val="08603D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'20'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>
                <a:solidFill>
                  <a:srgbClr val="08603D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'invalid'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, </a:t>
            </a:r>
            <a:r>
              <a:rPr lang="en-US" altLang="ko-KR" sz="2400" dirty="0">
                <a:solidFill>
                  <a:srgbClr val="08603D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''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]</a:t>
            </a:r>
          </a:p>
          <a:p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for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value </a:t>
            </a:r>
            <a:r>
              <a:rPr lang="en-US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in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 </a:t>
            </a:r>
            <a:r>
              <a:rPr lang="en-US" altLang="ko-KR" sz="2400" dirty="0" err="1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data_list</a:t>
            </a:r>
            <a:r>
              <a:rPr lang="en-US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  <a:cs typeface="함초롬돋움" pitchFamily="50" charset="-127"/>
              </a:rPr>
              <a:t>:</a:t>
            </a:r>
          </a:p>
          <a:p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it-IT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try</a:t>
            </a:r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:</a:t>
            </a:r>
          </a:p>
          <a:p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        result = </a:t>
            </a:r>
            <a:r>
              <a:rPr lang="it-IT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(value)</a:t>
            </a:r>
          </a:p>
          <a:p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    </a:t>
            </a:r>
            <a:r>
              <a:rPr lang="it-IT" altLang="ko-KR" sz="2400" dirty="0">
                <a:solidFill>
                  <a:srgbClr val="8D3CFF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</a:t>
            </a:r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ValueError:</a:t>
            </a:r>
          </a:p>
          <a:p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    	  result = </a:t>
            </a:r>
            <a:r>
              <a:rPr lang="it-IT" altLang="ko-KR" sz="2400" dirty="0">
                <a:solidFill>
                  <a:schemeClr val="accent2">
                    <a:lumMod val="75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0</a:t>
            </a:r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it-IT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# 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변환 실패 시 기본값 </a:t>
            </a:r>
            <a:r>
              <a:rPr lang="en-US" altLang="ko-KR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0 </a:t>
            </a:r>
            <a:r>
              <a:rPr lang="ko-KR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으로 설정</a:t>
            </a:r>
          </a:p>
          <a:p>
            <a:r>
              <a:rPr lang="ko-KR" altLang="en-US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  	  </a:t>
            </a:r>
            <a:r>
              <a:rPr lang="it-IT" altLang="ko-KR" sz="2400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</a:t>
            </a:r>
            <a:r>
              <a:rPr lang="it-IT" altLang="ko-KR" sz="2400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(result)</a:t>
            </a:r>
            <a:endParaRPr lang="en-US" altLang="ko-KR" sz="32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16CB63-67A9-C30A-27FF-89413E64FFED}"/>
              </a:ext>
            </a:extLst>
          </p:cNvPr>
          <p:cNvSpPr txBox="1"/>
          <p:nvPr/>
        </p:nvSpPr>
        <p:spPr>
          <a:xfrm>
            <a:off x="861133" y="1188221"/>
            <a:ext cx="9859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예를 들어 표현된 숫자들을 실수로 변환해야 하는 상황을 가정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37AFB4-1D7A-F919-9BF2-98E5DE81A105}"/>
              </a:ext>
            </a:extLst>
          </p:cNvPr>
          <p:cNvSpPr txBox="1"/>
          <p:nvPr/>
        </p:nvSpPr>
        <p:spPr>
          <a:xfrm>
            <a:off x="1822833" y="6460123"/>
            <a:ext cx="6463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출처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https://maker5587.tistory.com/81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[Zerocok Tech Blog: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티스토리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]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36FF9-C0B3-1D0E-F0F0-781CD3A63BC2}"/>
              </a:ext>
            </a:extLst>
          </p:cNvPr>
          <p:cNvSpPr txBox="1"/>
          <p:nvPr/>
        </p:nvSpPr>
        <p:spPr>
          <a:xfrm>
            <a:off x="861132" y="1610645"/>
            <a:ext cx="98597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그러나 일부 문자열이 빈 문자열일 경우 </a:t>
            </a:r>
            <a:r>
              <a:rPr lang="en-US" altLang="ko-KR" dirty="0" err="1"/>
              <a:t>ValueError</a:t>
            </a:r>
            <a:r>
              <a:rPr lang="ko-KR" altLang="en-US" dirty="0"/>
              <a:t>가 발생</a:t>
            </a:r>
            <a:endParaRPr lang="ko-KR" altLang="en-US" sz="2000" dirty="0"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3665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A0179-0503-1208-8577-E14C7466C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9347E34C-5C1B-5F3B-59BD-402A2FA9B6EA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C84810AD-7AAA-F469-6476-1A527B4F9348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600F6F03-2A13-F362-4BAF-AFF5D0134736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6367D6D7-D459-72D9-52E7-13BFD0FDE747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A6D3AE-2D48-2370-CECC-7A40A6703EEF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5C149A53-08B7-1DC9-CF6B-32BDA6C8CE59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6FDF0719-029B-FA97-B564-849BD1F66765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639C2587-3539-028E-A968-6D78B05FD086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BCEDD752-4873-7935-A2AE-34D8930C1F29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2470DABB-E655-5D53-A69B-75053BEA94E9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A7F3D9-CA21-81A5-F8B3-3C4C998EA6ED}"/>
              </a:ext>
            </a:extLst>
          </p:cNvPr>
          <p:cNvSpPr txBox="1"/>
          <p:nvPr/>
        </p:nvSpPr>
        <p:spPr>
          <a:xfrm>
            <a:off x="0" y="137603"/>
            <a:ext cx="94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03</a:t>
            </a:r>
            <a:endParaRPr lang="ko-KR" altLang="en-US" sz="3200" dirty="0">
              <a:solidFill>
                <a:schemeClr val="bg1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FD711-1AA3-7DC8-5E26-A174BAA47E10}"/>
              </a:ext>
            </a:extLst>
          </p:cNvPr>
          <p:cNvSpPr txBox="1"/>
          <p:nvPr/>
        </p:nvSpPr>
        <p:spPr>
          <a:xfrm>
            <a:off x="1420427" y="142041"/>
            <a:ext cx="55308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실용적인 상황에서의 예외 처리</a:t>
            </a:r>
          </a:p>
        </p:txBody>
      </p:sp>
      <p:sp>
        <p:nvSpPr>
          <p:cNvPr id="4" name="다이아몬드 3">
            <a:extLst>
              <a:ext uri="{FF2B5EF4-FFF2-40B4-BE49-F238E27FC236}">
                <a16:creationId xmlns:a16="http://schemas.microsoft.com/office/drawing/2014/main" id="{60C7BF52-25A3-8460-3BDA-D0E4DDC24399}"/>
              </a:ext>
            </a:extLst>
          </p:cNvPr>
          <p:cNvSpPr/>
          <p:nvPr/>
        </p:nvSpPr>
        <p:spPr>
          <a:xfrm>
            <a:off x="574027" y="1249399"/>
            <a:ext cx="369331" cy="369331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D01EB0-D7B9-6C42-321B-3555C2A2C5ED}"/>
              </a:ext>
            </a:extLst>
          </p:cNvPr>
          <p:cNvSpPr txBox="1"/>
          <p:nvPr/>
        </p:nvSpPr>
        <p:spPr>
          <a:xfrm>
            <a:off x="943358" y="1141676"/>
            <a:ext cx="6220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solidFill>
                  <a:srgbClr val="51B8B0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else, finally</a:t>
            </a:r>
            <a:endParaRPr lang="ko-KR" altLang="en-US" sz="3200" dirty="0">
              <a:solidFill>
                <a:srgbClr val="51B8B0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B437821-0A6F-A099-E40F-5F6B8D445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06" y="6522064"/>
            <a:ext cx="1299531" cy="214672"/>
          </a:xfrm>
          <a:prstGeom prst="rect">
            <a:avLst/>
          </a:prstGeom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993086A7-1F1E-F06A-F1B8-F783242946B3}"/>
              </a:ext>
            </a:extLst>
          </p:cNvPr>
          <p:cNvSpPr/>
          <p:nvPr/>
        </p:nvSpPr>
        <p:spPr>
          <a:xfrm>
            <a:off x="861134" y="2788850"/>
            <a:ext cx="10244830" cy="3518478"/>
          </a:xfrm>
          <a:prstGeom prst="roundRect">
            <a:avLst>
              <a:gd name="adj" fmla="val 7827"/>
            </a:avLst>
          </a:prstGeom>
          <a:solidFill>
            <a:srgbClr val="F2F3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file_path = 'example.txt'</a:t>
            </a:r>
          </a:p>
          <a:p>
            <a:endParaRPr lang="it-IT" altLang="ko-KR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  <a:p>
            <a:r>
              <a:rPr lang="it-IT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try</a:t>
            </a:r>
            <a:r>
              <a:rPr lang="it-IT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:</a:t>
            </a:r>
          </a:p>
          <a:p>
            <a:r>
              <a:rPr lang="it-IT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	file = open(file_path, 'w')</a:t>
            </a:r>
          </a:p>
          <a:p>
            <a:r>
              <a:rPr lang="it-IT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   	file.write('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파이썬 예외 처리 예시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')</a:t>
            </a:r>
          </a:p>
          <a:p>
            <a:r>
              <a:rPr lang="it-IT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except</a:t>
            </a:r>
            <a:r>
              <a:rPr lang="it-IT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 IOError:</a:t>
            </a:r>
          </a:p>
          <a:p>
            <a:r>
              <a:rPr lang="it-IT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	print(f"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파일 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'{</a:t>
            </a:r>
            <a:r>
              <a:rPr lang="it-IT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file_path}'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을 열 수 없습니다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.")</a:t>
            </a:r>
          </a:p>
          <a:p>
            <a:r>
              <a:rPr lang="it-IT" altLang="ko-KR" dirty="0">
                <a:solidFill>
                  <a:schemeClr val="accent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else</a:t>
            </a:r>
            <a:r>
              <a:rPr lang="it-IT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:</a:t>
            </a:r>
          </a:p>
          <a:p>
            <a:r>
              <a:rPr lang="it-IT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	print(f"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파일 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'{</a:t>
            </a:r>
            <a:r>
              <a:rPr lang="it-IT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file_path}'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에 데이터 쓰기 성공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!")</a:t>
            </a:r>
          </a:p>
          <a:p>
            <a:r>
              <a:rPr lang="it-IT" altLang="ko-KR" dirty="0">
                <a:solidFill>
                  <a:srgbClr val="FF0000"/>
                </a:solidFill>
                <a:highlight>
                  <a:srgbClr val="FFFF00"/>
                </a:highlight>
                <a:latin typeface="D2Coding ligature" panose="020B0609020101020101" pitchFamily="49" charset="-127"/>
                <a:ea typeface="D2Coding ligature" panose="020B0609020101020101" pitchFamily="49" charset="-127"/>
              </a:rPr>
              <a:t>finally</a:t>
            </a:r>
            <a:r>
              <a:rPr lang="it-IT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:</a:t>
            </a:r>
          </a:p>
          <a:p>
            <a:r>
              <a:rPr lang="it-IT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	print(f"'{file_path}' </a:t>
            </a:r>
            <a:r>
              <a:rPr lang="ko-KR" altLang="en-US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처리가 완료되었습니다</a:t>
            </a:r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.")</a:t>
            </a:r>
          </a:p>
          <a:p>
            <a:r>
              <a:rPr lang="en-US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        </a:t>
            </a:r>
            <a:r>
              <a:rPr lang="it-IT" altLang="ko-KR" dirty="0">
                <a:solidFill>
                  <a:schemeClr val="tx1"/>
                </a:solidFill>
                <a:latin typeface="D2Coding ligature" panose="020B0609020101020101" pitchFamily="49" charset="-127"/>
                <a:ea typeface="D2Coding ligature" panose="020B0609020101020101" pitchFamily="49" charset="-127"/>
              </a:rPr>
              <a:t>file.close()</a:t>
            </a:r>
            <a:endParaRPr lang="en-US" altLang="ko-KR" sz="2400" dirty="0">
              <a:solidFill>
                <a:schemeClr val="tx1"/>
              </a:solidFill>
              <a:latin typeface="D2Coding ligature" panose="020B0609020101020101" pitchFamily="49" charset="-127"/>
              <a:ea typeface="D2Coding ligature" panose="020B0609020101020101" pitchFamily="49" charset="-127"/>
              <a:cs typeface="함초롬돋움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FAAA61-F2BC-73B1-58BD-BF5C8F393C24}"/>
              </a:ext>
            </a:extLst>
          </p:cNvPr>
          <p:cNvSpPr txBox="1"/>
          <p:nvPr/>
        </p:nvSpPr>
        <p:spPr>
          <a:xfrm>
            <a:off x="861134" y="1817002"/>
            <a:ext cx="9859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else: </a:t>
            </a:r>
            <a:r>
              <a:rPr lang="ko-KR" altLang="en-US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예외가 발생하지 않을 때만 실행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8800CE-BCCE-E308-A047-23E67D4EB933}"/>
              </a:ext>
            </a:extLst>
          </p:cNvPr>
          <p:cNvSpPr txBox="1"/>
          <p:nvPr/>
        </p:nvSpPr>
        <p:spPr>
          <a:xfrm>
            <a:off x="1822833" y="6460123"/>
            <a:ext cx="64639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출처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https://maker5587.tistory.com/81</a:t>
            </a:r>
            <a:r>
              <a:rPr lang="it-IT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[Zerocok Tech Blog:</a:t>
            </a:r>
            <a:r>
              <a:rPr lang="ko-KR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티스토리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]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010ECB-FEBE-BA07-4A3C-8270D11C6B6C}"/>
              </a:ext>
            </a:extLst>
          </p:cNvPr>
          <p:cNvSpPr txBox="1"/>
          <p:nvPr/>
        </p:nvSpPr>
        <p:spPr>
          <a:xfrm>
            <a:off x="861133" y="2281761"/>
            <a:ext cx="98597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finally</a:t>
            </a:r>
            <a:r>
              <a:rPr lang="en-US" altLang="ko-KR" sz="20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: </a:t>
            </a:r>
            <a:r>
              <a:rPr lang="ko-KR" altLang="en-US" sz="2000" dirty="0">
                <a:highlight>
                  <a:srgbClr val="FFFF00"/>
                </a:highligh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예외 발생 여부와 관계없이 항상 실행</a:t>
            </a:r>
          </a:p>
        </p:txBody>
      </p:sp>
    </p:spTree>
    <p:extLst>
      <p:ext uri="{BB962C8B-B14F-4D97-AF65-F5344CB8AC3E}">
        <p14:creationId xmlns:p14="http://schemas.microsoft.com/office/powerpoint/2010/main" val="2466233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45131-4BB2-9828-AE5D-206EC87EF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각 삼각형 16">
            <a:extLst>
              <a:ext uri="{FF2B5EF4-FFF2-40B4-BE49-F238E27FC236}">
                <a16:creationId xmlns:a16="http://schemas.microsoft.com/office/drawing/2014/main" id="{9BA6FF71-2383-CD39-D53E-4FF0FEE46E95}"/>
              </a:ext>
            </a:extLst>
          </p:cNvPr>
          <p:cNvSpPr/>
          <p:nvPr/>
        </p:nvSpPr>
        <p:spPr>
          <a:xfrm flipH="1">
            <a:off x="10626570" y="5335480"/>
            <a:ext cx="1565429" cy="1522520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45417D02-30A1-DA42-7B12-D1844117BA9A}"/>
              </a:ext>
            </a:extLst>
          </p:cNvPr>
          <p:cNvSpPr/>
          <p:nvPr/>
        </p:nvSpPr>
        <p:spPr>
          <a:xfrm>
            <a:off x="346229" y="0"/>
            <a:ext cx="11274641" cy="754603"/>
          </a:xfrm>
          <a:prstGeom prst="parallelogram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각 삼각형 12">
            <a:extLst>
              <a:ext uri="{FF2B5EF4-FFF2-40B4-BE49-F238E27FC236}">
                <a16:creationId xmlns:a16="http://schemas.microsoft.com/office/drawing/2014/main" id="{C251328C-36A6-DC96-D0C5-B2F95990FC02}"/>
              </a:ext>
            </a:extLst>
          </p:cNvPr>
          <p:cNvSpPr/>
          <p:nvPr/>
        </p:nvSpPr>
        <p:spPr>
          <a:xfrm flipV="1">
            <a:off x="11425560" y="-1"/>
            <a:ext cx="766439" cy="754603"/>
          </a:xfrm>
          <a:prstGeom prst="rt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0EF3E725-B2F5-3C61-6866-FD01CEED5CDE}"/>
              </a:ext>
            </a:extLst>
          </p:cNvPr>
          <p:cNvSpPr/>
          <p:nvPr/>
        </p:nvSpPr>
        <p:spPr>
          <a:xfrm>
            <a:off x="11260115" y="586896"/>
            <a:ext cx="425805" cy="425805"/>
          </a:xfrm>
          <a:prstGeom prst="diamond">
            <a:avLst/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2F938B-E4AE-3BA5-C707-68632DF3E1D3}"/>
              </a:ext>
            </a:extLst>
          </p:cNvPr>
          <p:cNvSpPr/>
          <p:nvPr/>
        </p:nvSpPr>
        <p:spPr>
          <a:xfrm>
            <a:off x="0" y="0"/>
            <a:ext cx="1420427" cy="1030457"/>
          </a:xfrm>
          <a:custGeom>
            <a:avLst/>
            <a:gdLst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1420427 w 1420427"/>
              <a:gd name="connsiteY2" fmla="*/ 1029810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29810"/>
              <a:gd name="connsiteX1" fmla="*/ 1420427 w 1420427"/>
              <a:gd name="connsiteY1" fmla="*/ 0 h 1029810"/>
              <a:gd name="connsiteX2" fmla="*/ 452761 w 1420427"/>
              <a:gd name="connsiteY2" fmla="*/ 1020932 h 1029810"/>
              <a:gd name="connsiteX3" fmla="*/ 0 w 1420427"/>
              <a:gd name="connsiteY3" fmla="*/ 1029810 h 1029810"/>
              <a:gd name="connsiteX4" fmla="*/ 0 w 1420427"/>
              <a:gd name="connsiteY4" fmla="*/ 0 h 1029810"/>
              <a:gd name="connsiteX0" fmla="*/ 0 w 1420427"/>
              <a:gd name="connsiteY0" fmla="*/ 0 h 1030457"/>
              <a:gd name="connsiteX1" fmla="*/ 1420427 w 1420427"/>
              <a:gd name="connsiteY1" fmla="*/ 0 h 1030457"/>
              <a:gd name="connsiteX2" fmla="*/ 445618 w 1420427"/>
              <a:gd name="connsiteY2" fmla="*/ 1030457 h 1030457"/>
              <a:gd name="connsiteX3" fmla="*/ 0 w 1420427"/>
              <a:gd name="connsiteY3" fmla="*/ 1029810 h 1030457"/>
              <a:gd name="connsiteX4" fmla="*/ 0 w 1420427"/>
              <a:gd name="connsiteY4" fmla="*/ 0 h 1030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0427" h="1030457">
                <a:moveTo>
                  <a:pt x="0" y="0"/>
                </a:moveTo>
                <a:lnTo>
                  <a:pt x="1420427" y="0"/>
                </a:lnTo>
                <a:lnTo>
                  <a:pt x="445618" y="1030457"/>
                </a:lnTo>
                <a:lnTo>
                  <a:pt x="0" y="1029810"/>
                </a:lnTo>
                <a:lnTo>
                  <a:pt x="0" y="0"/>
                </a:lnTo>
                <a:close/>
              </a:path>
            </a:pathLst>
          </a:cu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각 삼각형 14">
            <a:extLst>
              <a:ext uri="{FF2B5EF4-FFF2-40B4-BE49-F238E27FC236}">
                <a16:creationId xmlns:a16="http://schemas.microsoft.com/office/drawing/2014/main" id="{E686BCFF-012D-CABF-3419-15DBE912E9BE}"/>
              </a:ext>
            </a:extLst>
          </p:cNvPr>
          <p:cNvSpPr/>
          <p:nvPr/>
        </p:nvSpPr>
        <p:spPr>
          <a:xfrm flipV="1">
            <a:off x="0" y="-1"/>
            <a:ext cx="281179" cy="275209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각 삼각형 15">
            <a:extLst>
              <a:ext uri="{FF2B5EF4-FFF2-40B4-BE49-F238E27FC236}">
                <a16:creationId xmlns:a16="http://schemas.microsoft.com/office/drawing/2014/main" id="{E037B4E6-23AE-81D0-9189-0B401C2B727F}"/>
              </a:ext>
            </a:extLst>
          </p:cNvPr>
          <p:cNvSpPr/>
          <p:nvPr/>
        </p:nvSpPr>
        <p:spPr>
          <a:xfrm flipH="1">
            <a:off x="11721914" y="6400800"/>
            <a:ext cx="470085" cy="45720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평행 사변형 17">
            <a:extLst>
              <a:ext uri="{FF2B5EF4-FFF2-40B4-BE49-F238E27FC236}">
                <a16:creationId xmlns:a16="http://schemas.microsoft.com/office/drawing/2014/main" id="{1E6D9361-A7C5-6FD2-7A52-6C7A7961B523}"/>
              </a:ext>
            </a:extLst>
          </p:cNvPr>
          <p:cNvSpPr/>
          <p:nvPr/>
        </p:nvSpPr>
        <p:spPr>
          <a:xfrm>
            <a:off x="10347974" y="5708342"/>
            <a:ext cx="1299530" cy="1149658"/>
          </a:xfrm>
          <a:prstGeom prst="parallelogram">
            <a:avLst>
              <a:gd name="adj" fmla="val 99132"/>
            </a:avLst>
          </a:prstGeom>
          <a:solidFill>
            <a:srgbClr val="81DA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평행 사변형 18">
            <a:extLst>
              <a:ext uri="{FF2B5EF4-FFF2-40B4-BE49-F238E27FC236}">
                <a16:creationId xmlns:a16="http://schemas.microsoft.com/office/drawing/2014/main" id="{9076512E-F96C-43BD-10A4-D61FD7EFFECE}"/>
              </a:ext>
            </a:extLst>
          </p:cNvPr>
          <p:cNvSpPr/>
          <p:nvPr/>
        </p:nvSpPr>
        <p:spPr>
          <a:xfrm>
            <a:off x="1065320" y="0"/>
            <a:ext cx="586410" cy="443883"/>
          </a:xfrm>
          <a:prstGeom prst="parallelogram">
            <a:avLst>
              <a:gd name="adj" fmla="val 99132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평행 사변형 19">
            <a:extLst>
              <a:ext uri="{FF2B5EF4-FFF2-40B4-BE49-F238E27FC236}">
                <a16:creationId xmlns:a16="http://schemas.microsoft.com/office/drawing/2014/main" id="{D2A313BB-BB39-8549-C0B7-22C879769E11}"/>
              </a:ext>
            </a:extLst>
          </p:cNvPr>
          <p:cNvSpPr/>
          <p:nvPr/>
        </p:nvSpPr>
        <p:spPr>
          <a:xfrm>
            <a:off x="1" y="644788"/>
            <a:ext cx="489410" cy="488687"/>
          </a:xfrm>
          <a:custGeom>
            <a:avLst/>
            <a:gdLst>
              <a:gd name="connsiteX0" fmla="*/ 0 w 613235"/>
              <a:gd name="connsiteY0" fmla="*/ 488687 h 488687"/>
              <a:gd name="connsiteX1" fmla="*/ 484445 w 613235"/>
              <a:gd name="connsiteY1" fmla="*/ 0 h 488687"/>
              <a:gd name="connsiteX2" fmla="*/ 613235 w 613235"/>
              <a:gd name="connsiteY2" fmla="*/ 0 h 488687"/>
              <a:gd name="connsiteX3" fmla="*/ 128790 w 613235"/>
              <a:gd name="connsiteY3" fmla="*/ 488687 h 488687"/>
              <a:gd name="connsiteX4" fmla="*/ 0 w 613235"/>
              <a:gd name="connsiteY4" fmla="*/ 488687 h 488687"/>
              <a:gd name="connsiteX0" fmla="*/ 0 w 487029"/>
              <a:gd name="connsiteY0" fmla="*/ 360100 h 488687"/>
              <a:gd name="connsiteX1" fmla="*/ 358239 w 487029"/>
              <a:gd name="connsiteY1" fmla="*/ 0 h 488687"/>
              <a:gd name="connsiteX2" fmla="*/ 487029 w 487029"/>
              <a:gd name="connsiteY2" fmla="*/ 0 h 488687"/>
              <a:gd name="connsiteX3" fmla="*/ 2584 w 487029"/>
              <a:gd name="connsiteY3" fmla="*/ 488687 h 488687"/>
              <a:gd name="connsiteX4" fmla="*/ 0 w 487029"/>
              <a:gd name="connsiteY4" fmla="*/ 360100 h 488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029" h="488687">
                <a:moveTo>
                  <a:pt x="0" y="360100"/>
                </a:moveTo>
                <a:lnTo>
                  <a:pt x="358239" y="0"/>
                </a:lnTo>
                <a:lnTo>
                  <a:pt x="487029" y="0"/>
                </a:lnTo>
                <a:lnTo>
                  <a:pt x="2584" y="488687"/>
                </a:lnTo>
                <a:cubicBezTo>
                  <a:pt x="1723" y="445825"/>
                  <a:pt x="861" y="402962"/>
                  <a:pt x="0" y="360100"/>
                </a:cubicBezTo>
                <a:close/>
              </a:path>
            </a:pathLst>
          </a:custGeom>
          <a:solidFill>
            <a:srgbClr val="B7EA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224C3-B579-7E4F-D0E7-22737007C716}"/>
              </a:ext>
            </a:extLst>
          </p:cNvPr>
          <p:cNvSpPr txBox="1"/>
          <p:nvPr/>
        </p:nvSpPr>
        <p:spPr>
          <a:xfrm>
            <a:off x="2325949" y="2828835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dirty="0">
                <a:solidFill>
                  <a:srgbClr val="81DAD6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Question?</a:t>
            </a:r>
            <a:endParaRPr lang="ko-KR" altLang="en-US" sz="7200" dirty="0">
              <a:solidFill>
                <a:srgbClr val="81DAD6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37467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5111</TotalTime>
  <Words>1093</Words>
  <Application>Microsoft Office PowerPoint</Application>
  <PresentationFormat>와이드스크린</PresentationFormat>
  <Paragraphs>184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4" baseType="lpstr">
      <vt:lpstr>Microsoft GothicNeo Light</vt:lpstr>
      <vt:lpstr>G마켓 산스 Medium</vt:lpstr>
      <vt:lpstr>Pretendard Medium</vt:lpstr>
      <vt:lpstr>G마켓 산스 Bold</vt:lpstr>
      <vt:lpstr>KoPub돋움체 Bold</vt:lpstr>
      <vt:lpstr>Microsoft GothicNeo</vt:lpstr>
      <vt:lpstr>Arial</vt:lpstr>
      <vt:lpstr>Impact</vt:lpstr>
      <vt:lpstr>Pretendard SemiBold</vt:lpstr>
      <vt:lpstr>맑은 고딕</vt:lpstr>
      <vt:lpstr>D2Coding ligature</vt:lpstr>
      <vt:lpstr>Pretendard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 재</dc:creator>
  <cp:lastModifiedBy>성 재</cp:lastModifiedBy>
  <cp:revision>416</cp:revision>
  <dcterms:created xsi:type="dcterms:W3CDTF">2025-09-13T18:52:17Z</dcterms:created>
  <dcterms:modified xsi:type="dcterms:W3CDTF">2026-06-13T04:42:26Z</dcterms:modified>
  <cp:contentStatus>최종본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