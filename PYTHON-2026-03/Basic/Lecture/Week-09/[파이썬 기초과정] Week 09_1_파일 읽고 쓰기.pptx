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6" r:id="rId3"/>
    <p:sldId id="274" r:id="rId4"/>
    <p:sldId id="275" r:id="rId5"/>
    <p:sldId id="381" r:id="rId6"/>
    <p:sldId id="429" r:id="rId7"/>
    <p:sldId id="430" r:id="rId8"/>
    <p:sldId id="431" r:id="rId9"/>
    <p:sldId id="432" r:id="rId10"/>
    <p:sldId id="433" r:id="rId11"/>
    <p:sldId id="434" r:id="rId12"/>
    <p:sldId id="435" r:id="rId13"/>
    <p:sldId id="436" r:id="rId14"/>
    <p:sldId id="437" r:id="rId15"/>
    <p:sldId id="403" r:id="rId16"/>
    <p:sldId id="438" r:id="rId17"/>
    <p:sldId id="439" r:id="rId18"/>
    <p:sldId id="440" r:id="rId19"/>
    <p:sldId id="441" r:id="rId20"/>
    <p:sldId id="442" r:id="rId21"/>
    <p:sldId id="423" r:id="rId22"/>
    <p:sldId id="272" r:id="rId23"/>
  </p:sldIdLst>
  <p:sldSz cx="12192000" cy="6858000"/>
  <p:notesSz cx="6858000" cy="9144000"/>
  <p:embeddedFontLst>
    <p:embeddedFont>
      <p:font typeface="D2Coding ligature" panose="020B0609020101020101" pitchFamily="49" charset="-127"/>
      <p:regular r:id="rId24"/>
      <p:bold r:id="rId25"/>
    </p:embeddedFont>
    <p:embeddedFont>
      <p:font typeface="G마켓 산스 Bold" panose="02000000000000000000" pitchFamily="50" charset="-127"/>
      <p:bold r:id="rId26"/>
    </p:embeddedFont>
    <p:embeddedFont>
      <p:font typeface="G마켓 산스 Medium" panose="02000000000000000000" pitchFamily="50" charset="-127"/>
      <p:regular r:id="rId27"/>
    </p:embeddedFont>
    <p:embeddedFont>
      <p:font typeface="Impact" panose="020B0806030902050204" pitchFamily="34" charset="0"/>
      <p:regular r:id="rId28"/>
    </p:embeddedFont>
    <p:embeddedFont>
      <p:font typeface="KoPub돋움체 Bold" panose="02020603020101020101" pitchFamily="18" charset="-127"/>
      <p:regular r:id="rId29"/>
      <p:bold r:id="rId30"/>
    </p:embeddedFont>
    <p:embeddedFont>
      <p:font typeface="Microsoft GothicNeo" panose="020B0500000101010101" pitchFamily="50" charset="-127"/>
      <p:regular r:id="rId31"/>
      <p:bold r:id="rId32"/>
    </p:embeddedFont>
    <p:embeddedFont>
      <p:font typeface="Microsoft GothicNeo Light" panose="020B0300000101010101" pitchFamily="50" charset="-127"/>
      <p:regular r:id="rId33"/>
    </p:embeddedFont>
    <p:embeddedFont>
      <p:font typeface="Pretendard Light" panose="02000403000000020004" pitchFamily="50" charset="-127"/>
      <p:regular r:id="rId34"/>
    </p:embeddedFont>
    <p:embeddedFont>
      <p:font typeface="Pretendard Medium" panose="02000603000000020004" pitchFamily="50" charset="-127"/>
      <p:regular r:id="rId35"/>
    </p:embeddedFont>
    <p:embeddedFont>
      <p:font typeface="Pretendard SemiBold" panose="02000703000000020004" pitchFamily="50" charset="-127"/>
      <p:bold r:id="rId36"/>
    </p:embeddedFont>
    <p:embeddedFont>
      <p:font typeface="맑은 고딕" panose="020B0503020000020004" pitchFamily="50" charset="-127"/>
      <p:regular r:id="rId37"/>
      <p:bold r:id="rId3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898"/>
    <a:srgbClr val="08603D"/>
    <a:srgbClr val="2249FB"/>
    <a:srgbClr val="796337"/>
    <a:srgbClr val="317AE9"/>
    <a:srgbClr val="51B8B0"/>
    <a:srgbClr val="9FD8F7"/>
    <a:srgbClr val="F3FAFE"/>
    <a:srgbClr val="6A5221"/>
    <a:srgbClr val="A315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5" autoAdjust="0"/>
    <p:restoredTop sz="94379" autoAdjust="0"/>
  </p:normalViewPr>
  <p:slideViewPr>
    <p:cSldViewPr snapToGrid="0">
      <p:cViewPr varScale="1">
        <p:scale>
          <a:sx n="108" d="100"/>
          <a:sy n="108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0AC0A-3F9B-A5C6-4AA7-D3EA06A3BD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1B64D7-17C7-C027-E1F0-F23878B63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A57C69-CE13-C496-042D-C09C96DD3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1ACF98-A77B-8563-BF07-1251A339B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78E394-EC20-D7DF-CB13-79AF34CF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910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A9D1EE-C634-334A-111B-1D4C9CF3F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B97BC2-BBAD-5A9B-23C7-284959BB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7B95C6-D82A-0A11-8C26-16F98539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7CF1F5-6413-8CEE-2C23-63880BD7F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E56FC5-0090-10D4-E5C1-FD002B80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281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E669F7-FC97-09DA-BD26-F56A6EC60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090338-6B1B-12B7-B8E5-932A980B3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837905-7ACD-AA5B-2720-75CE4DE5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626939-0C9B-3141-5D82-F922E22EA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AD57EC-C4BA-405F-994E-8AC6F5B99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432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4E2CC6-C595-EA3F-C857-4FF836742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DEF67D-D038-AF59-D347-09C7142C51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6A7F2A-593C-F9EB-4B2B-A70C6280B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5FA8F1-A859-83B9-5F09-030F71964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8D790D-AE25-7719-1E49-823F532DC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EC827C-2EDF-C840-D6D0-0F7C1CFE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244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1AC93-0AD6-F646-5426-452B96776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11A330-BB83-6BBF-84E1-A28CD01CA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F1948B-AF0D-F591-CFF4-F73944A668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1470157-92E3-5E4C-E496-BC9E68561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C53E642-1980-19B8-695B-8D3A763753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B64E97D-2970-54CA-5944-F8B8DE5F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0F51F9-8809-A812-45FC-84A9AB325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A860958-651A-6B5E-7445-C3E44800D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856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B5EB78-8243-32CA-7937-DE772ACE0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833BE2F-8E2A-7E2A-37D7-8B2F97D8E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B0856A-270C-B49A-4407-A07164D9C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19DE32-988F-77A8-1D25-F6487BABC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919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4D603F0-DDFB-05A3-8613-D69CC1B54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51F0BDD-FC90-EE66-7F47-BEF16D140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BEB414-4376-6CAF-130F-C70CD2914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570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BCD63F-F5D7-B2BF-69D1-C43B585AB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79AE9A-67B4-95A2-16F9-180D19341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5DD0CF-4107-B3BB-779D-BE9076E3A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403C2A-7C8B-7AB0-5F7D-C60AA68BF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59DA15-9183-EAC1-519A-3BBFBE78D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5D02B9-EDB8-756D-96D1-60D30074D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868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3E9ABE-00B6-5B92-3E55-BE044D4D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624094-FFC7-58C5-B90A-C346075D2C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D70469-D3C9-395E-AD5A-3B9512CAC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F11984-C859-9F50-15CF-E37B6C379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FE6658-0967-E1C0-BD32-7833B0F4B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378AC6-F823-9A05-979F-38B009F28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0184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B09AE6-9AAC-A775-3901-151E12C1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9941B8-B470-6E47-A9EA-DA25090D1A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6A3A29-CE6D-EA40-5715-04507162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C58B68-F305-D40D-5FB6-8F6D37192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EB9324-A76A-C943-1246-EB203AF90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320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4EF01C8-D6CE-D6B7-EF6C-5598B4E149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C20FB8-D89B-964B-E0B6-5136D1CD0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DBF778-8E02-A5F9-213D-7FFD1F021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52C205-354B-C719-44E9-BEF759FE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58701B-3837-CC35-6783-CBF766C75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726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2B4B94A-D523-D442-0C44-5817E3FC4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EDCBF0-644F-A983-9149-6814CD141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FE08A4-3F70-7E0B-56E8-7B82BB311B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A6FA3-4F79-40B5-9796-76ED3E0BCEE0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249A7D-06CC-2087-8F59-52A6A5FEB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1DD466-A588-B80D-D3B2-E72281A65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377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E77E6D9C-26C3-FDB5-3264-E7245574EB94}"/>
              </a:ext>
            </a:extLst>
          </p:cNvPr>
          <p:cNvSpPr/>
          <p:nvPr/>
        </p:nvSpPr>
        <p:spPr>
          <a:xfrm flipH="1">
            <a:off x="5415378" y="0"/>
            <a:ext cx="6776621" cy="6858000"/>
          </a:xfrm>
          <a:prstGeom prst="rt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잘린 대각선 방향 모서리 4">
            <a:extLst>
              <a:ext uri="{FF2B5EF4-FFF2-40B4-BE49-F238E27FC236}">
                <a16:creationId xmlns:a16="http://schemas.microsoft.com/office/drawing/2014/main" id="{F4796C9B-599C-1A83-41AC-5CE3C060FFD1}"/>
              </a:ext>
            </a:extLst>
          </p:cNvPr>
          <p:cNvSpPr/>
          <p:nvPr/>
        </p:nvSpPr>
        <p:spPr>
          <a:xfrm>
            <a:off x="3453414" y="0"/>
            <a:ext cx="8738586" cy="6858000"/>
          </a:xfrm>
          <a:custGeom>
            <a:avLst/>
            <a:gdLst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2359289 w 7344792"/>
              <a:gd name="connsiteY5" fmla="*/ 6858000 h 6858000"/>
              <a:gd name="connsiteX6" fmla="*/ 0 w 7344792"/>
              <a:gd name="connsiteY6" fmla="*/ 4498711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2359289 w 7344792"/>
              <a:gd name="connsiteY5" fmla="*/ 6858000 h 6858000"/>
              <a:gd name="connsiteX6" fmla="*/ 1402672 w 7344792"/>
              <a:gd name="connsiteY6" fmla="*/ 5484132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1402672 w 7344792"/>
              <a:gd name="connsiteY6" fmla="*/ 5484132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3009530 w 7344792"/>
              <a:gd name="connsiteY6" fmla="*/ 4294525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2778710 w 7344792"/>
              <a:gd name="connsiteY6" fmla="*/ 3770742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5940600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2778710 w 7344792"/>
              <a:gd name="connsiteY6" fmla="*/ 3770742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5940600 w 7344792"/>
              <a:gd name="connsiteY1" fmla="*/ 0 h 6858000"/>
              <a:gd name="connsiteX2" fmla="*/ 7344792 w 7344792"/>
              <a:gd name="connsiteY2" fmla="*/ 1853261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2778710 w 7344792"/>
              <a:gd name="connsiteY6" fmla="*/ 3770742 h 6858000"/>
              <a:gd name="connsiteX7" fmla="*/ 0 w 734479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44792" h="6858000">
                <a:moveTo>
                  <a:pt x="0" y="0"/>
                </a:moveTo>
                <a:lnTo>
                  <a:pt x="5940600" y="0"/>
                </a:lnTo>
                <a:lnTo>
                  <a:pt x="7344792" y="1853261"/>
                </a:lnTo>
                <a:lnTo>
                  <a:pt x="7344792" y="6858000"/>
                </a:lnTo>
                <a:lnTo>
                  <a:pt x="7344792" y="6858000"/>
                </a:lnTo>
                <a:lnTo>
                  <a:pt x="5040345" y="6858000"/>
                </a:lnTo>
                <a:lnTo>
                  <a:pt x="2778710" y="3770742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평행 사변형 20">
            <a:extLst>
              <a:ext uri="{FF2B5EF4-FFF2-40B4-BE49-F238E27FC236}">
                <a16:creationId xmlns:a16="http://schemas.microsoft.com/office/drawing/2014/main" id="{A681F277-E327-D830-7BE5-1B4C2C2DC020}"/>
              </a:ext>
            </a:extLst>
          </p:cNvPr>
          <p:cNvSpPr/>
          <p:nvPr/>
        </p:nvSpPr>
        <p:spPr>
          <a:xfrm flipH="1">
            <a:off x="2974019" y="0"/>
            <a:ext cx="5131294" cy="5459767"/>
          </a:xfrm>
          <a:prstGeom prst="parallelogram">
            <a:avLst>
              <a:gd name="adj" fmla="val 92486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평행 사변형 21">
            <a:extLst>
              <a:ext uri="{FF2B5EF4-FFF2-40B4-BE49-F238E27FC236}">
                <a16:creationId xmlns:a16="http://schemas.microsoft.com/office/drawing/2014/main" id="{8C3D4BF7-508D-22FC-9A08-8359C52CC195}"/>
              </a:ext>
            </a:extLst>
          </p:cNvPr>
          <p:cNvSpPr/>
          <p:nvPr/>
        </p:nvSpPr>
        <p:spPr>
          <a:xfrm flipH="1">
            <a:off x="5788240" y="4882718"/>
            <a:ext cx="2123243" cy="1975282"/>
          </a:xfrm>
          <a:prstGeom prst="parallelogram">
            <a:avLst>
              <a:gd name="adj" fmla="val 92486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각 삼각형 23">
            <a:extLst>
              <a:ext uri="{FF2B5EF4-FFF2-40B4-BE49-F238E27FC236}">
                <a16:creationId xmlns:a16="http://schemas.microsoft.com/office/drawing/2014/main" id="{EF74BE1B-3905-0015-9870-281AFE49B16D}"/>
              </a:ext>
            </a:extLst>
          </p:cNvPr>
          <p:cNvSpPr/>
          <p:nvPr/>
        </p:nvSpPr>
        <p:spPr>
          <a:xfrm>
            <a:off x="1" y="3934691"/>
            <a:ext cx="2974018" cy="2923309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BC7F56AE-D0C4-95F2-8727-8CF3600003BC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다이아몬드 25">
            <a:extLst>
              <a:ext uri="{FF2B5EF4-FFF2-40B4-BE49-F238E27FC236}">
                <a16:creationId xmlns:a16="http://schemas.microsoft.com/office/drawing/2014/main" id="{31F1A81E-1CB5-4E8C-1673-A869AF5A1FDF}"/>
              </a:ext>
            </a:extLst>
          </p:cNvPr>
          <p:cNvSpPr/>
          <p:nvPr/>
        </p:nvSpPr>
        <p:spPr>
          <a:xfrm>
            <a:off x="323628" y="2094254"/>
            <a:ext cx="1271258" cy="1271258"/>
          </a:xfrm>
          <a:prstGeom prst="diamond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다이아몬드 26">
            <a:extLst>
              <a:ext uri="{FF2B5EF4-FFF2-40B4-BE49-F238E27FC236}">
                <a16:creationId xmlns:a16="http://schemas.microsoft.com/office/drawing/2014/main" id="{CEE88426-0CA3-133D-F0A1-7BCFDC38EC8C}"/>
              </a:ext>
            </a:extLst>
          </p:cNvPr>
          <p:cNvSpPr/>
          <p:nvPr/>
        </p:nvSpPr>
        <p:spPr>
          <a:xfrm>
            <a:off x="836162" y="1525075"/>
            <a:ext cx="650848" cy="650848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78DF1A-7967-287E-2DA0-5CF2E5B48739}"/>
              </a:ext>
            </a:extLst>
          </p:cNvPr>
          <p:cNvSpPr txBox="1"/>
          <p:nvPr/>
        </p:nvSpPr>
        <p:spPr>
          <a:xfrm>
            <a:off x="1646066" y="4033246"/>
            <a:ext cx="657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MY PAUL SCHOOL PYTHON BASIC CLASS</a:t>
            </a:r>
          </a:p>
          <a:p>
            <a:r>
              <a:rPr lang="en-US" altLang="ko-KR" sz="160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2026 </a:t>
            </a:r>
            <a:r>
              <a:rPr lang="en-US" altLang="ko-KR" sz="16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CHOI JAE SEONG</a:t>
            </a:r>
            <a:endParaRPr lang="ko-KR" altLang="en-US" sz="16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C911F2-25BC-FED8-8C3D-D003BA57E829}"/>
              </a:ext>
            </a:extLst>
          </p:cNvPr>
          <p:cNvSpPr txBox="1"/>
          <p:nvPr/>
        </p:nvSpPr>
        <p:spPr>
          <a:xfrm>
            <a:off x="1646066" y="2094254"/>
            <a:ext cx="65798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dirty="0">
                <a:solidFill>
                  <a:srgbClr val="98E59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파이썬</a:t>
            </a:r>
            <a:endParaRPr lang="en-US" altLang="ko-KR" sz="6000" dirty="0">
              <a:solidFill>
                <a:srgbClr val="98E59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6000" dirty="0">
                <a:solidFill>
                  <a:srgbClr val="44BEA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기초</a:t>
            </a:r>
            <a:r>
              <a:rPr lang="ko-KR" alt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과정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64BFEA72-A8D3-54ED-97E3-FCDD1F5D8CB7}"/>
              </a:ext>
            </a:extLst>
          </p:cNvPr>
          <p:cNvSpPr/>
          <p:nvPr/>
        </p:nvSpPr>
        <p:spPr>
          <a:xfrm>
            <a:off x="1780208" y="1665833"/>
            <a:ext cx="1384448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DE695"/>
              </a:gs>
              <a:gs pos="100000">
                <a:srgbClr val="37BBA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Impact" panose="020B0806030902050204" pitchFamily="34" charset="0"/>
              </a:rPr>
              <a:t>Week 09</a:t>
            </a:r>
            <a:endParaRPr lang="ko-KR" altLang="en-US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364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70593-75E7-55F6-E8FA-F2DB481BF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9225EF3-205D-D378-0510-F5C62D638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49" y="210033"/>
            <a:ext cx="11412701" cy="6437934"/>
          </a:xfrm>
          <a:prstGeom prst="rect">
            <a:avLst/>
          </a:prstGeom>
        </p:spPr>
      </p:pic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F5D4F206-4BB5-2D0C-6D9E-42ED1306359D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 descr="노트북으로 코딩을 하고 있는 안경을 쓴 여성 개발자, 프로그래머 일러스트 | 유토이미지 | 상세페이지 | 베이직샵 | 일러스트 |  22348614">
            <a:extLst>
              <a:ext uri="{FF2B5EF4-FFF2-40B4-BE49-F238E27FC236}">
                <a16:creationId xmlns:a16="http://schemas.microsoft.com/office/drawing/2014/main" id="{983B236E-5A72-A792-4BF1-DF8769BC4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6964" y="4754966"/>
            <a:ext cx="2381249" cy="158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892E9F-9108-1CA8-DE96-F44160ADE5B0}"/>
              </a:ext>
            </a:extLst>
          </p:cNvPr>
          <p:cNvSpPr txBox="1"/>
          <p:nvPr/>
        </p:nvSpPr>
        <p:spPr>
          <a:xfrm>
            <a:off x="1004567" y="1120421"/>
            <a:ext cx="4188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rgbClr val="98E59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Chapter 09</a:t>
            </a:r>
            <a:endParaRPr lang="ko-KR" altLang="en-US" sz="4000" dirty="0">
              <a:solidFill>
                <a:srgbClr val="98E596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88246B-8223-92C4-D36B-0A89A7F86D26}"/>
              </a:ext>
            </a:extLst>
          </p:cNvPr>
          <p:cNvSpPr txBox="1"/>
          <p:nvPr/>
        </p:nvSpPr>
        <p:spPr>
          <a:xfrm>
            <a:off x="1004567" y="1837185"/>
            <a:ext cx="8325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파일 읽고 쓰기</a:t>
            </a:r>
            <a:endParaRPr lang="ko-KR" altLang="en-US" sz="4800" dirty="0">
              <a:solidFill>
                <a:srgbClr val="FF0000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9661A2-5B1C-C2C4-5A2B-0EEAB2450C8F}"/>
              </a:ext>
            </a:extLst>
          </p:cNvPr>
          <p:cNvSpPr txBox="1"/>
          <p:nvPr/>
        </p:nvSpPr>
        <p:spPr>
          <a:xfrm>
            <a:off x="1004567" y="5517877"/>
            <a:ext cx="74661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본 </a:t>
            </a:r>
            <a:r>
              <a:rPr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강의교안에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사용된 일부 그림의 저작권은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우재남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과 </a:t>
            </a:r>
            <a:r>
              <a:rPr lang="ko-KR" alt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한빛아카데미㈜</a:t>
            </a:r>
            <a:r>
              <a:rPr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에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있습니다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D6C5EB-B2C8-C582-854F-C5518D11D53B}"/>
              </a:ext>
            </a:extLst>
          </p:cNvPr>
          <p:cNvSpPr txBox="1"/>
          <p:nvPr/>
        </p:nvSpPr>
        <p:spPr>
          <a:xfrm>
            <a:off x="1004566" y="5850020"/>
            <a:ext cx="79923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본 자료에는 인터넷에서 다운받아 사용한 그림이나 수식들이 일부 있으니 학습 외 다른 용도로 사용하거나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외부로 유출을 금해주시기 바랍니다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 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ECF293-E50F-4BB8-E340-461B2CB7356F}"/>
              </a:ext>
            </a:extLst>
          </p:cNvPr>
          <p:cNvSpPr txBox="1"/>
          <p:nvPr/>
        </p:nvSpPr>
        <p:spPr>
          <a:xfrm>
            <a:off x="1004566" y="2738695"/>
            <a:ext cx="3480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</a:t>
            </a:r>
            <a:r>
              <a:rPr lang="en-US" altLang="ko-KR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.276 </a:t>
            </a:r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~</a:t>
            </a:r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8934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2CD4D-2800-2A45-C3AD-0D5D3B329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잘린 대각선 방향 모서리 4">
            <a:extLst>
              <a:ext uri="{FF2B5EF4-FFF2-40B4-BE49-F238E27FC236}">
                <a16:creationId xmlns:a16="http://schemas.microsoft.com/office/drawing/2014/main" id="{A5912134-8679-68AA-E771-269B9683F5F7}"/>
              </a:ext>
            </a:extLst>
          </p:cNvPr>
          <p:cNvSpPr/>
          <p:nvPr/>
        </p:nvSpPr>
        <p:spPr>
          <a:xfrm>
            <a:off x="8990679" y="0"/>
            <a:ext cx="3201320" cy="2512381"/>
          </a:xfrm>
          <a:custGeom>
            <a:avLst/>
            <a:gdLst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2359289 w 7344792"/>
              <a:gd name="connsiteY5" fmla="*/ 6858000 h 6858000"/>
              <a:gd name="connsiteX6" fmla="*/ 0 w 7344792"/>
              <a:gd name="connsiteY6" fmla="*/ 4498711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2359289 w 7344792"/>
              <a:gd name="connsiteY5" fmla="*/ 6858000 h 6858000"/>
              <a:gd name="connsiteX6" fmla="*/ 1402672 w 7344792"/>
              <a:gd name="connsiteY6" fmla="*/ 5484132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1402672 w 7344792"/>
              <a:gd name="connsiteY6" fmla="*/ 5484132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3009530 w 7344792"/>
              <a:gd name="connsiteY6" fmla="*/ 4294525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2778710 w 7344792"/>
              <a:gd name="connsiteY6" fmla="*/ 3770742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5940600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2778710 w 7344792"/>
              <a:gd name="connsiteY6" fmla="*/ 3770742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5940600 w 7344792"/>
              <a:gd name="connsiteY1" fmla="*/ 0 h 6858000"/>
              <a:gd name="connsiteX2" fmla="*/ 7344792 w 7344792"/>
              <a:gd name="connsiteY2" fmla="*/ 1853261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2778710 w 7344792"/>
              <a:gd name="connsiteY6" fmla="*/ 3770742 h 6858000"/>
              <a:gd name="connsiteX7" fmla="*/ 0 w 734479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44792" h="6858000">
                <a:moveTo>
                  <a:pt x="0" y="0"/>
                </a:moveTo>
                <a:lnTo>
                  <a:pt x="5940600" y="0"/>
                </a:lnTo>
                <a:lnTo>
                  <a:pt x="7344792" y="1853261"/>
                </a:lnTo>
                <a:lnTo>
                  <a:pt x="7344792" y="6858000"/>
                </a:lnTo>
                <a:lnTo>
                  <a:pt x="7344792" y="6858000"/>
                </a:lnTo>
                <a:lnTo>
                  <a:pt x="5040345" y="6858000"/>
                </a:lnTo>
                <a:lnTo>
                  <a:pt x="2778710" y="3770742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평행 사변형 20">
            <a:extLst>
              <a:ext uri="{FF2B5EF4-FFF2-40B4-BE49-F238E27FC236}">
                <a16:creationId xmlns:a16="http://schemas.microsoft.com/office/drawing/2014/main" id="{53A3263D-2CF0-758B-1126-F278913E67A7}"/>
              </a:ext>
            </a:extLst>
          </p:cNvPr>
          <p:cNvSpPr/>
          <p:nvPr/>
        </p:nvSpPr>
        <p:spPr>
          <a:xfrm flipH="1">
            <a:off x="8504807" y="0"/>
            <a:ext cx="1207363" cy="1038687"/>
          </a:xfrm>
          <a:prstGeom prst="parallelogram">
            <a:avLst>
              <a:gd name="adj" fmla="val 92486"/>
            </a:avLst>
          </a:prstGeom>
          <a:solidFill>
            <a:srgbClr val="B5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평행 사변형 21">
            <a:extLst>
              <a:ext uri="{FF2B5EF4-FFF2-40B4-BE49-F238E27FC236}">
                <a16:creationId xmlns:a16="http://schemas.microsoft.com/office/drawing/2014/main" id="{DF1A4ABC-0C82-591E-2417-156EF0768D98}"/>
              </a:ext>
            </a:extLst>
          </p:cNvPr>
          <p:cNvSpPr/>
          <p:nvPr/>
        </p:nvSpPr>
        <p:spPr>
          <a:xfrm flipH="1">
            <a:off x="550416" y="4012707"/>
            <a:ext cx="2900778" cy="2852952"/>
          </a:xfrm>
          <a:prstGeom prst="parallelogram">
            <a:avLst>
              <a:gd name="adj" fmla="val 92486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각 삼각형 23">
            <a:extLst>
              <a:ext uri="{FF2B5EF4-FFF2-40B4-BE49-F238E27FC236}">
                <a16:creationId xmlns:a16="http://schemas.microsoft.com/office/drawing/2014/main" id="{D3133128-3891-8349-9323-7573AFE6F2E9}"/>
              </a:ext>
            </a:extLst>
          </p:cNvPr>
          <p:cNvSpPr/>
          <p:nvPr/>
        </p:nvSpPr>
        <p:spPr>
          <a:xfrm>
            <a:off x="1" y="3598215"/>
            <a:ext cx="2974018" cy="3259785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E82594B4-F3D0-0885-3B7A-4ECC22640BA2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다이아몬드 25">
            <a:extLst>
              <a:ext uri="{FF2B5EF4-FFF2-40B4-BE49-F238E27FC236}">
                <a16:creationId xmlns:a16="http://schemas.microsoft.com/office/drawing/2014/main" id="{E72107FC-F6C7-7652-037E-93A22F3B909E}"/>
              </a:ext>
            </a:extLst>
          </p:cNvPr>
          <p:cNvSpPr/>
          <p:nvPr/>
        </p:nvSpPr>
        <p:spPr>
          <a:xfrm>
            <a:off x="949036" y="1172860"/>
            <a:ext cx="1271258" cy="1271258"/>
          </a:xfrm>
          <a:prstGeom prst="diamond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다이아몬드 26">
            <a:extLst>
              <a:ext uri="{FF2B5EF4-FFF2-40B4-BE49-F238E27FC236}">
                <a16:creationId xmlns:a16="http://schemas.microsoft.com/office/drawing/2014/main" id="{10FB7C8C-F575-B175-99F0-CEC53DF753A6}"/>
              </a:ext>
            </a:extLst>
          </p:cNvPr>
          <p:cNvSpPr/>
          <p:nvPr/>
        </p:nvSpPr>
        <p:spPr>
          <a:xfrm>
            <a:off x="1584665" y="1171641"/>
            <a:ext cx="650848" cy="650848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6191E6-5392-18F3-ADC1-03333944E6E4}"/>
              </a:ext>
            </a:extLst>
          </p:cNvPr>
          <p:cNvSpPr txBox="1"/>
          <p:nvPr/>
        </p:nvSpPr>
        <p:spPr>
          <a:xfrm>
            <a:off x="1910089" y="1142909"/>
            <a:ext cx="37272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rgbClr val="51B8B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CONTENTS</a:t>
            </a:r>
            <a:endParaRPr lang="ko-KR" altLang="en-US" sz="4000" dirty="0">
              <a:solidFill>
                <a:srgbClr val="51B8B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" name="다이아몬드 5">
            <a:extLst>
              <a:ext uri="{FF2B5EF4-FFF2-40B4-BE49-F238E27FC236}">
                <a16:creationId xmlns:a16="http://schemas.microsoft.com/office/drawing/2014/main" id="{1BA3B8D3-C39D-DC66-A063-01A3AA4BF2AC}"/>
              </a:ext>
            </a:extLst>
          </p:cNvPr>
          <p:cNvSpPr/>
          <p:nvPr/>
        </p:nvSpPr>
        <p:spPr>
          <a:xfrm>
            <a:off x="2000279" y="2586988"/>
            <a:ext cx="271622" cy="271622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EB331082-ED62-41E0-0526-ED86E534AEE4}"/>
              </a:ext>
            </a:extLst>
          </p:cNvPr>
          <p:cNvSpPr/>
          <p:nvPr/>
        </p:nvSpPr>
        <p:spPr>
          <a:xfrm flipH="1">
            <a:off x="5415378" y="0"/>
            <a:ext cx="6776621" cy="6858000"/>
          </a:xfrm>
          <a:prstGeom prst="rt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88F318-C09E-8D9F-7DE9-4C87E36CC7E0}"/>
              </a:ext>
            </a:extLst>
          </p:cNvPr>
          <p:cNvSpPr txBox="1"/>
          <p:nvPr/>
        </p:nvSpPr>
        <p:spPr>
          <a:xfrm>
            <a:off x="2271901" y="2487771"/>
            <a:ext cx="3986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51B8B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파일 읽기</a:t>
            </a:r>
          </a:p>
        </p:txBody>
      </p:sp>
      <p:sp>
        <p:nvSpPr>
          <p:cNvPr id="8" name="다이아몬드 7">
            <a:extLst>
              <a:ext uri="{FF2B5EF4-FFF2-40B4-BE49-F238E27FC236}">
                <a16:creationId xmlns:a16="http://schemas.microsoft.com/office/drawing/2014/main" id="{EB0E6E9E-1377-C47C-4DC5-3F68055621DB}"/>
              </a:ext>
            </a:extLst>
          </p:cNvPr>
          <p:cNvSpPr/>
          <p:nvPr/>
        </p:nvSpPr>
        <p:spPr>
          <a:xfrm>
            <a:off x="2000279" y="3139479"/>
            <a:ext cx="271622" cy="271622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B8CE82-E9F8-4FCC-27EB-0F3A9073B932}"/>
              </a:ext>
            </a:extLst>
          </p:cNvPr>
          <p:cNvSpPr txBox="1"/>
          <p:nvPr/>
        </p:nvSpPr>
        <p:spPr>
          <a:xfrm>
            <a:off x="2280779" y="3053864"/>
            <a:ext cx="3986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51B8B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파일 쓰기</a:t>
            </a:r>
          </a:p>
        </p:txBody>
      </p:sp>
    </p:spTree>
    <p:extLst>
      <p:ext uri="{BB962C8B-B14F-4D97-AF65-F5344CB8AC3E}">
        <p14:creationId xmlns:p14="http://schemas.microsoft.com/office/powerpoint/2010/main" val="763837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D8967-33E3-2CFC-52E3-C8A02F1AB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AECDD8F4-2DFE-B3CE-58FD-E5061DD8DFA2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4045462-7318-E981-7AE1-9CEF54262349}"/>
              </a:ext>
            </a:extLst>
          </p:cNvPr>
          <p:cNvSpPr/>
          <p:nvPr/>
        </p:nvSpPr>
        <p:spPr>
          <a:xfrm>
            <a:off x="391357" y="210845"/>
            <a:ext cx="11409286" cy="6436310"/>
          </a:xfrm>
          <a:prstGeom prst="roundRect">
            <a:avLst>
              <a:gd name="adj" fmla="val 10046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2917A2C-1CCA-091D-443A-C45921ADD6D1}"/>
              </a:ext>
            </a:extLst>
          </p:cNvPr>
          <p:cNvSpPr/>
          <p:nvPr/>
        </p:nvSpPr>
        <p:spPr>
          <a:xfrm>
            <a:off x="537839" y="326254"/>
            <a:ext cx="11116322" cy="6205491"/>
          </a:xfrm>
          <a:prstGeom prst="roundRect">
            <a:avLst>
              <a:gd name="adj" fmla="val 91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8E4818-5B25-1145-7DDA-9C3BBC9A327F}"/>
              </a:ext>
            </a:extLst>
          </p:cNvPr>
          <p:cNvSpPr txBox="1"/>
          <p:nvPr/>
        </p:nvSpPr>
        <p:spPr>
          <a:xfrm>
            <a:off x="4001565" y="2305614"/>
            <a:ext cx="4188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4000" dirty="0">
              <a:solidFill>
                <a:schemeClr val="accent2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87006D-8390-3593-1A71-13EAFF530AC6}"/>
              </a:ext>
            </a:extLst>
          </p:cNvPr>
          <p:cNvSpPr txBox="1"/>
          <p:nvPr/>
        </p:nvSpPr>
        <p:spPr>
          <a:xfrm>
            <a:off x="2607771" y="3013500"/>
            <a:ext cx="6976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파일 읽기</a:t>
            </a:r>
          </a:p>
        </p:txBody>
      </p:sp>
    </p:spTree>
    <p:extLst>
      <p:ext uri="{BB962C8B-B14F-4D97-AF65-F5344CB8AC3E}">
        <p14:creationId xmlns:p14="http://schemas.microsoft.com/office/powerpoint/2010/main" val="69937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15B85-2171-A446-530C-941BB0749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14941CEA-4605-77B1-390F-01FEAD0C691B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6BBC9F1D-5486-9F2D-935A-826BAE7AAA1D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94A63B1B-F07F-E6AF-BDED-ED6050F5571B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3F7BEDBB-DA41-2E0B-75EE-B656F3C56565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4D1B70-381D-8084-CD01-20B8F27D22DA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3877F0B9-2CA9-A2DC-471C-7431823895CD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432B5956-A1D8-1308-6194-63657D78138E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D31745C8-7B33-13DC-6197-EC56DA744D46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10AC0F08-F927-2485-1AE6-C06939539101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764AEAB0-1345-C980-11C1-8BAC311661EE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458654-8338-2AC6-3FE0-A7B021624F0E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01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0B97E5-7E14-D2BC-EA6E-E92B7C330AB3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파일 읽기 </a:t>
            </a:r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</a:t>
            </a:r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단계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81D51013-CBC1-0BC2-83F5-84F432F17872}"/>
              </a:ext>
            </a:extLst>
          </p:cNvPr>
          <p:cNvSpPr/>
          <p:nvPr/>
        </p:nvSpPr>
        <p:spPr>
          <a:xfrm>
            <a:off x="574027" y="1249399"/>
            <a:ext cx="369331" cy="369331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79A7C1-47E0-308E-3BC5-0B52F0EDEF8E}"/>
              </a:ext>
            </a:extLst>
          </p:cNvPr>
          <p:cNvSpPr txBox="1"/>
          <p:nvPr/>
        </p:nvSpPr>
        <p:spPr>
          <a:xfrm>
            <a:off x="943358" y="1141676"/>
            <a:ext cx="6220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파일 읽기의 단계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D468F39-B29A-EAD9-4A5C-A454421FE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028662-9237-D4D1-BA80-3B3CF353D997}"/>
              </a:ext>
            </a:extLst>
          </p:cNvPr>
          <p:cNvSpPr txBox="1"/>
          <p:nvPr/>
        </p:nvSpPr>
        <p:spPr>
          <a:xfrm>
            <a:off x="784847" y="1794646"/>
            <a:ext cx="9957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키보드가 아닌 파일에서 값을 읽기 위해서는 </a:t>
            </a:r>
            <a:r>
              <a:rPr lang="ko-KR" altLang="en-US" sz="2000" dirty="0">
                <a:highlight>
                  <a:srgbClr val="FFF898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파일 </a:t>
            </a:r>
            <a:r>
              <a:rPr lang="ko-KR" altLang="en-US" sz="2000" dirty="0">
                <a:solidFill>
                  <a:srgbClr val="FF0000"/>
                </a:solidFill>
                <a:highlight>
                  <a:srgbClr val="FFF898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열기</a:t>
            </a:r>
            <a:r>
              <a:rPr lang="en-US" altLang="ko-KR" sz="2000" dirty="0">
                <a:highlight>
                  <a:srgbClr val="FFF898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000" dirty="0">
                <a:highlight>
                  <a:srgbClr val="FFF898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파일 </a:t>
            </a:r>
            <a:r>
              <a:rPr lang="ko-KR" altLang="en-US" sz="2000" dirty="0">
                <a:solidFill>
                  <a:srgbClr val="FF0000"/>
                </a:solidFill>
                <a:highlight>
                  <a:srgbClr val="FFF898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읽기</a:t>
            </a:r>
            <a:r>
              <a:rPr lang="en-US" altLang="ko-KR" sz="2000" dirty="0">
                <a:highlight>
                  <a:srgbClr val="FFF898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000" dirty="0">
                <a:highlight>
                  <a:srgbClr val="FFF898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파일 </a:t>
            </a:r>
            <a:r>
              <a:rPr lang="ko-KR" altLang="en-US" sz="2000" dirty="0">
                <a:solidFill>
                  <a:srgbClr val="FF0000"/>
                </a:solidFill>
                <a:highlight>
                  <a:srgbClr val="FFF898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닫기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단계 작업이 필요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28BAB64-6D9E-91E5-8C2D-E0340614D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174" y="2766494"/>
            <a:ext cx="523875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355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B9FDE-8B8F-6808-2810-CE7F9B89E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8008DC17-FF0E-8FD8-4D0F-A3ED22BDEEE8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E8B95E50-1B58-3D82-4BAA-C52C4329C508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F7E3C7E2-2707-B20E-EC0E-95ED05CDDD71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5D4EAE67-84B8-1E16-3A3E-17F4061EA49A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C2173D0-2196-7AA0-1CA1-FF893590061A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8E829B3D-854E-67F6-807D-AB3894510969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88778C73-7E12-73F0-FD91-34231807D7C7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CD4AA9FC-5F8C-C5C9-0C8C-5CA69FE9045A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B1D44947-DAE8-0834-DA7D-890643687528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C81D3692-FED7-B6C5-43CB-686A85BAE230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FC590B-FA45-2F57-819A-06BDE0CB88E2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01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0CDC50-4329-D462-0C03-65D179C73903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파일 읽기 </a:t>
            </a:r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</a:t>
            </a:r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단계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C8369329-874F-60CC-651F-ECAD701B247E}"/>
              </a:ext>
            </a:extLst>
          </p:cNvPr>
          <p:cNvSpPr/>
          <p:nvPr/>
        </p:nvSpPr>
        <p:spPr>
          <a:xfrm>
            <a:off x="574027" y="1249399"/>
            <a:ext cx="369331" cy="369331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39E168-93DC-79C7-FDD0-CB63A1EF8D21}"/>
              </a:ext>
            </a:extLst>
          </p:cNvPr>
          <p:cNvSpPr txBox="1"/>
          <p:nvPr/>
        </p:nvSpPr>
        <p:spPr>
          <a:xfrm>
            <a:off x="943358" y="1141676"/>
            <a:ext cx="6220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단계</a:t>
            </a:r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파일 열기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29B66AC-4435-192E-DDF5-615D50BDA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D504B9-94DB-7029-2282-674FADBCDACB}"/>
              </a:ext>
            </a:extLst>
          </p:cNvPr>
          <p:cNvSpPr txBox="1"/>
          <p:nvPr/>
        </p:nvSpPr>
        <p:spPr>
          <a:xfrm>
            <a:off x="784847" y="1794646"/>
            <a:ext cx="99571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파일을 열기 위해서는 </a:t>
            </a:r>
            <a:r>
              <a:rPr lang="en-US" altLang="ko-KR" sz="2000" dirty="0">
                <a:highlight>
                  <a:srgbClr val="FFF898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open()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함수에서 파일 이름을 지정하고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모드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(mode)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읽기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(Read)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의미하는 </a:t>
            </a:r>
            <a:r>
              <a:rPr lang="en-US" altLang="ko-KR" sz="2000" dirty="0">
                <a:highlight>
                  <a:srgbClr val="FFF898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"r"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로 설정</a:t>
            </a:r>
          </a:p>
        </p:txBody>
      </p:sp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95323886-835A-3D3F-F502-6AA68788A185}"/>
              </a:ext>
            </a:extLst>
          </p:cNvPr>
          <p:cNvSpPr/>
          <p:nvPr/>
        </p:nvSpPr>
        <p:spPr>
          <a:xfrm>
            <a:off x="973585" y="3192784"/>
            <a:ext cx="10244830" cy="833318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변수 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= 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898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open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("</a:t>
            </a:r>
            <a:r>
              <a:rPr lang="ko-KR" altLang="en-US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파일경로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", "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898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r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")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C3540845-0AC4-03EC-3EEF-C73665B0C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974" y="4716355"/>
            <a:ext cx="84391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062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DB671-1C97-1359-55AA-334C16E68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4EE792E0-0137-4BB3-6691-3E88241B53D9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2382B2D4-910E-CD32-C765-90AD231803CA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CA89A7BC-53C8-3B73-907E-A1DD2D535B65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CBE2E071-51A1-80B1-6890-62D165C5157A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7A417EA-19DC-7922-7496-B5F9099C03C3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ADF0A5A6-CEC3-8601-5AA0-39DE43A0C6CA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C31AE47-4B05-4130-A468-19F83466F3CE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2E1C00F1-B8DD-3AA9-4F64-A6724499EC12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B3E45891-1F79-9729-5B68-C6F80C1F1780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6E515D05-F63A-3EE9-6436-C37541A6956D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A2707C-6232-C6BC-D42F-33468299268B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01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19390D-A64B-26F5-F503-5C30F32E6FD7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파일 읽기 </a:t>
            </a:r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</a:t>
            </a:r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단계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831EFD99-9875-CF39-08B2-C70F9F0B8A67}"/>
              </a:ext>
            </a:extLst>
          </p:cNvPr>
          <p:cNvSpPr/>
          <p:nvPr/>
        </p:nvSpPr>
        <p:spPr>
          <a:xfrm>
            <a:off x="574027" y="1249399"/>
            <a:ext cx="369331" cy="369331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030C08-230D-CD37-A955-EE1A56665CBB}"/>
              </a:ext>
            </a:extLst>
          </p:cNvPr>
          <p:cNvSpPr txBox="1"/>
          <p:nvPr/>
        </p:nvSpPr>
        <p:spPr>
          <a:xfrm>
            <a:off x="943358" y="1141676"/>
            <a:ext cx="6220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단계</a:t>
            </a:r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파일 읽기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D0C89E7-9C4F-4F49-E67D-BB06E15D6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138775-1E3B-014D-8957-63F9C9B37CE2}"/>
              </a:ext>
            </a:extLst>
          </p:cNvPr>
          <p:cNvSpPr txBox="1"/>
          <p:nvPr/>
        </p:nvSpPr>
        <p:spPr>
          <a:xfrm>
            <a:off x="784847" y="1794646"/>
            <a:ext cx="9957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파일을 읽기 위해서 </a:t>
            </a:r>
            <a:r>
              <a:rPr lang="en-US" altLang="ko-KR" sz="2000" dirty="0" err="1">
                <a:highlight>
                  <a:srgbClr val="FFF898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readline</a:t>
            </a:r>
            <a:r>
              <a:rPr lang="en-US" altLang="ko-KR" sz="2000" dirty="0">
                <a:highlight>
                  <a:srgbClr val="FFF898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()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과 </a:t>
            </a:r>
            <a:r>
              <a:rPr lang="en-US" altLang="ko-KR" sz="2000" dirty="0" err="1">
                <a:highlight>
                  <a:srgbClr val="FFF898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readlines</a:t>
            </a:r>
            <a:r>
              <a:rPr lang="en-US" altLang="ko-KR" sz="2000" dirty="0">
                <a:highlight>
                  <a:srgbClr val="FFF898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()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함수를 사용할 수 있음</a:t>
            </a:r>
          </a:p>
        </p:txBody>
      </p:sp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322BE281-E04E-A472-BA8B-FC3B0D8632D5}"/>
              </a:ext>
            </a:extLst>
          </p:cNvPr>
          <p:cNvSpPr/>
          <p:nvPr/>
        </p:nvSpPr>
        <p:spPr>
          <a:xfrm>
            <a:off x="973585" y="2457147"/>
            <a:ext cx="10244830" cy="833318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변수 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= </a:t>
            </a:r>
            <a:r>
              <a:rPr lang="ko-KR" altLang="en-US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파일이 저장된 변수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898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  <a:r>
              <a:rPr lang="en-US" altLang="ko-KR" sz="2400" dirty="0" err="1">
                <a:solidFill>
                  <a:schemeClr val="tx1"/>
                </a:solidFill>
                <a:highlight>
                  <a:srgbClr val="FFF898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readline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898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C041838-0C01-D901-CA75-7D578F9E7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837" y="3623199"/>
            <a:ext cx="2740289" cy="233978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55EAC0B9-B560-952B-4A13-6E4BBAA0B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9563" y="3552857"/>
            <a:ext cx="3215600" cy="241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229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62018-18FC-7B1C-A8EF-576A9E607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F02D1F93-0786-86D6-A78D-6813BC8C70B7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E6E4D3D8-16AE-8A14-4090-A7F1167D142D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8D53B60E-24D7-B8B4-F055-19A4FCF06D1A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1E843B4E-3CBB-B465-03F7-1B403A7D1617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4D47C9C-D302-0E6F-8410-0AF55119035C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6B7F3622-0569-4AA8-EB68-25F96F56CBEF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59EC6C1F-F689-F02B-F383-83144CB5B490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E936183F-D58D-347B-BD82-600535D19D6D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75FE6995-B27A-A2D2-3F80-5BD0875FAF2D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055EC260-9B8B-375B-EFD9-61154DCBE11B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BAA905-8D5C-4F3E-D7C3-C9CDAF8075DB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01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08F96E-DD96-02F6-C650-3956677E282C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파일 읽기 </a:t>
            </a:r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</a:t>
            </a:r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단계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EA0437E3-3638-CF76-1D27-C4A1410D08E1}"/>
              </a:ext>
            </a:extLst>
          </p:cNvPr>
          <p:cNvSpPr/>
          <p:nvPr/>
        </p:nvSpPr>
        <p:spPr>
          <a:xfrm>
            <a:off x="574027" y="1249399"/>
            <a:ext cx="369331" cy="369331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86B253-8119-F4A7-9DCF-75BA1E25CD4F}"/>
              </a:ext>
            </a:extLst>
          </p:cNvPr>
          <p:cNvSpPr txBox="1"/>
          <p:nvPr/>
        </p:nvSpPr>
        <p:spPr>
          <a:xfrm>
            <a:off x="943358" y="1141676"/>
            <a:ext cx="6220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</a:t>
            </a:r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단계</a:t>
            </a:r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파일 닫기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D02016F-4880-93C6-A3B1-F6560A171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4B4B1E-F340-C6E4-3ED9-A30C0C71EF2F}"/>
              </a:ext>
            </a:extLst>
          </p:cNvPr>
          <p:cNvSpPr txBox="1"/>
          <p:nvPr/>
        </p:nvSpPr>
        <p:spPr>
          <a:xfrm>
            <a:off x="784847" y="1794646"/>
            <a:ext cx="99571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파일과 관련된 모든 작업이 끝나면 반드시 파일을 정상적으로 닫아줘야 함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r>
              <a:rPr lang="en-US" altLang="ko-KR" sz="2000" dirty="0">
                <a:highlight>
                  <a:srgbClr val="FFF898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close()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함수를 사용하여 파일을 닫을 수 있음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7CDAC413-0B31-4BCC-0F8F-7BE68F0F6D5D}"/>
              </a:ext>
            </a:extLst>
          </p:cNvPr>
          <p:cNvSpPr/>
          <p:nvPr/>
        </p:nvSpPr>
        <p:spPr>
          <a:xfrm>
            <a:off x="973585" y="2860172"/>
            <a:ext cx="10244830" cy="833318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파일이 저장된 변수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898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.close()</a:t>
            </a:r>
          </a:p>
        </p:txBody>
      </p:sp>
    </p:spTree>
    <p:extLst>
      <p:ext uri="{BB962C8B-B14F-4D97-AF65-F5344CB8AC3E}">
        <p14:creationId xmlns:p14="http://schemas.microsoft.com/office/powerpoint/2010/main" val="36584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E4AAE-D262-5B18-DB7E-F40D7FCDD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E1B6D828-0EC6-866B-B9BC-65D852E03DAB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138829BD-309D-F58E-4D18-4644A7302B66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41BE7415-C4CA-C9F8-9F77-D2647C3B24EB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9D8ACB03-887F-867D-9E88-7D3EBBCECB58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D49A178-45F9-B097-0579-D59F8E610AD0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81C61CB4-B65A-334A-083D-795387B64F57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FD1530BC-148F-BF59-A2C6-036783EC7F3F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3D5D3985-ADC6-8E32-2C6F-A5AC1B3243D6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6682A8A4-F45E-F356-EB82-86D44A57EC00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03BD2957-B6F9-963C-D125-6977E15CBDC0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347F60-C37A-6C6F-8310-D976CCD13464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02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01510A-4483-F8D4-ECDE-091ED60C440B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파일 읽기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825812F-3E42-CC16-14D7-FD9785AFE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1A97A68-2B73-55B4-2CAE-F17A01DE5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262" y="896644"/>
            <a:ext cx="7305476" cy="445659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80ABA2A0-D0CF-1F35-B463-B38A0E2F98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7370" y="5495275"/>
            <a:ext cx="7277260" cy="106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19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C98E9-9D87-B2A8-62F3-D700FCF3B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6D9A627A-CCB8-E02A-FCBC-191AC0415C8E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4F1662D8-235B-99EC-9114-155CBC65DE44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20A6010B-19F3-0CF6-72F8-72F6C59B425F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4B9BD5DD-9B62-BCC3-6C13-6FF048E18F58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2B76BE7-3599-F931-EF88-A27162A3FCC4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704AD9F7-392E-3042-930B-9DA7EB4B3F09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D7FF11CA-118E-AA46-B3DF-2D6AA6B32879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64A4DFBA-0F34-14D2-5759-2DAB28830924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B4FBB79E-EF88-444E-26E3-E01FE24316DD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6EF97F07-6474-0D44-FFBC-311DDF7B92E5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9C2864-5943-B35D-47F1-E669890F695C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02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61B0E7-401D-83B0-EE0A-5BDF433662C6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파일 읽기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5177CC2-C3FE-5A5F-0AB2-C836AEA77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7A070A7-2ADB-A063-8721-E28E3A6E3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311" y="1314450"/>
            <a:ext cx="8372475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826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536EB-65C5-0E38-CE87-10525A600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4D6627A0-4835-E4B4-5A0A-C51BAAC84AC4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597DE1AB-7EFF-31A4-B14F-44509A9F8224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33C24645-D9CC-05F5-9B9B-9B183A9AD93F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9AD389F8-66E1-DAFF-333C-9B312C3B5BD9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C4FE143-E74A-AD53-B985-3BEB873EC844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6A4EF22F-C83D-1341-8FE6-CD28B0B47212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B55A8090-BF54-2849-E0F0-17DD84702B4B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A2617ED7-6398-418C-C97C-0EF4CBFA23A1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E64DE97C-1B94-E3C0-2BE9-2DDBCE801627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F9384BE2-BC85-BCE6-2670-0E138D0B5013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B07625-CD3E-93FD-0B74-3C2964BA8E91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02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5E50F1-8AE7-63CD-2802-D2C789D5A2D0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파일 읽기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DC08161-A264-2CBF-A60A-64F643104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008D01E-499B-1DBF-7721-475606596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139" y="1133475"/>
            <a:ext cx="8353425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587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852EB-3455-5FCA-430A-37FC87B58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4A56D9F3-1307-016B-D128-A919DC8204E7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6724D2E4-09C0-AAE7-6543-F1BD4634A7C6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ED560154-74F3-353B-14A3-80443DBAA4BE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B41ABF9B-0C96-2651-E08B-4A8A12591713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08E5D7F-D0B0-0B56-7399-F179E5F93780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85AAE815-7ED5-AD25-A914-AA78E99DD915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28CD71BA-C4BF-5878-A87A-4C891BBC04C8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49AC5328-E4EB-8AE7-6F6B-DB16E6938757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6F882231-0B3D-AB60-B925-22E1B3102848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BDB5FF7D-0F17-F2C7-EBFA-122A915826C3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DFF1B0-4C89-03C6-3D09-545C5E464B4E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02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F8B7AC-90A6-4499-D659-6643D2C0CC97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파일 읽기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2FC10D4-5163-8467-EE87-B7DD0F582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4" name="모서리가 둥근 직사각형 10">
            <a:extLst>
              <a:ext uri="{FF2B5EF4-FFF2-40B4-BE49-F238E27FC236}">
                <a16:creationId xmlns:a16="http://schemas.microsoft.com/office/drawing/2014/main" id="{9563A2A4-CAAA-5229-FDA0-3E2B4BC5CE0F}"/>
              </a:ext>
            </a:extLst>
          </p:cNvPr>
          <p:cNvSpPr/>
          <p:nvPr/>
        </p:nvSpPr>
        <p:spPr>
          <a:xfrm>
            <a:off x="973585" y="1514600"/>
            <a:ext cx="10244830" cy="4317872"/>
          </a:xfrm>
          <a:prstGeom prst="roundRect">
            <a:avLst>
              <a:gd name="adj" fmla="val 3321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</a:t>
            </a:r>
            <a:r>
              <a:rPr lang="ko-KR" altLang="en-US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파일 열기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 = open('example.txt', 'r', encoding='utf-8')</a:t>
            </a: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while True: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line =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f.</a:t>
            </a:r>
            <a:r>
              <a:rPr lang="en-US" altLang="ko-KR" sz="2400" dirty="0" err="1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readline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()</a:t>
            </a:r>
            <a:endParaRPr lang="ko-KR" altLang="en-US" sz="2400" dirty="0">
              <a:solidFill>
                <a:srgbClr val="08603D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ko-KR" altLang="en-US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if not line: 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break  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</a:t>
            </a:r>
            <a:r>
              <a:rPr lang="ko-KR" altLang="en-US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더 이상 읽을 줄이 없으면 </a:t>
            </a:r>
            <a:r>
              <a:rPr lang="ko-KR" altLang="en-US" sz="2400" dirty="0" err="1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반복문</a:t>
            </a:r>
            <a:r>
              <a:rPr lang="ko-KR" altLang="en-US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종료</a:t>
            </a:r>
          </a:p>
          <a:p>
            <a:r>
              <a:rPr lang="ko-KR" altLang="en-US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line.strip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()) 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strip()</a:t>
            </a:r>
            <a:r>
              <a:rPr lang="ko-KR" altLang="en-US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은 </a:t>
            </a:r>
            <a:r>
              <a:rPr lang="ko-KR" altLang="en-US" sz="2400" dirty="0" err="1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줄바꿈</a:t>
            </a:r>
            <a:r>
              <a:rPr lang="ko-KR" altLang="en-US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문자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ko-KR" altLang="en-US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제거</a:t>
            </a:r>
          </a:p>
          <a:p>
            <a:endParaRPr lang="ko-KR" altLang="en-US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f.close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() 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</a:t>
            </a:r>
            <a:r>
              <a:rPr lang="ko-KR" altLang="en-US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파일 닫기</a:t>
            </a:r>
            <a:endParaRPr lang="en-US" altLang="ko-KR" sz="2400" dirty="0">
              <a:solidFill>
                <a:srgbClr val="08603D"/>
              </a:solidFill>
              <a:highlight>
                <a:srgbClr val="FFF898"/>
              </a:highlight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9130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670E3-BDDB-A740-E188-AC97A73C4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774CF53E-1641-E4E8-9DA5-58D2ACB77DFC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69E597E2-69A0-C499-07AD-6DD77DDE0A25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4895B2B8-6A9E-430E-D73F-90AE626DABA2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08688999-883C-9891-A584-2EF32384228F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287F839-BAEC-7447-6226-F116C4509B43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A2B4B2B6-ED62-0886-B29D-078838A3E212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04DC72D4-F2E7-6693-6B9D-BD407AE37344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6BB14C6B-DA95-4776-64C6-276B897E7AD3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2BB9B175-B0A1-1FCB-A067-B659B2B1D455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A513F50E-4579-C8BB-700B-727123E94E85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55054-FE73-769D-1EE9-4E45B6446D03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02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1D0C6F-2ECA-AE1E-6F28-41C5273A98A5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파일 읽기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BCD3CE9-4A95-067C-C3E0-215237F6C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4" name="모서리가 둥근 직사각형 10">
            <a:extLst>
              <a:ext uri="{FF2B5EF4-FFF2-40B4-BE49-F238E27FC236}">
                <a16:creationId xmlns:a16="http://schemas.microsoft.com/office/drawing/2014/main" id="{F2903189-641F-3740-B70C-64B390AB5968}"/>
              </a:ext>
            </a:extLst>
          </p:cNvPr>
          <p:cNvSpPr/>
          <p:nvPr/>
        </p:nvSpPr>
        <p:spPr>
          <a:xfrm>
            <a:off x="973585" y="1514600"/>
            <a:ext cx="10244830" cy="4317872"/>
          </a:xfrm>
          <a:prstGeom prst="roundRect">
            <a:avLst>
              <a:gd name="adj" fmla="val 3321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</a:t>
            </a:r>
            <a:r>
              <a:rPr lang="ko-KR" altLang="en-US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파일 열기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 = open('example.txt', 'r', encoding='utf-8')</a:t>
            </a:r>
          </a:p>
          <a:p>
            <a:endParaRPr lang="en-US" altLang="ko-KR" sz="2400" dirty="0">
              <a:solidFill>
                <a:srgbClr val="08603D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</a:t>
            </a:r>
            <a:r>
              <a:rPr lang="ko-KR" altLang="en-US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모든 줄을 읽어 리스트로 저장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lines =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f.</a:t>
            </a:r>
            <a:r>
              <a:rPr lang="en-US" altLang="ko-KR" sz="2400" dirty="0" err="1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readlines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()</a:t>
            </a:r>
          </a:p>
          <a:p>
            <a:endParaRPr lang="en-US" altLang="ko-KR" sz="2400" dirty="0">
              <a:solidFill>
                <a:srgbClr val="08603D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for line in lines: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print(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line.strip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())</a:t>
            </a:r>
          </a:p>
          <a:p>
            <a:endParaRPr lang="en-US" altLang="ko-KR" sz="2400" dirty="0">
              <a:solidFill>
                <a:srgbClr val="08603D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f.close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() 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</a:t>
            </a:r>
            <a:r>
              <a:rPr lang="ko-KR" altLang="en-US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파일 닫기</a:t>
            </a:r>
            <a:endParaRPr lang="en-US" altLang="ko-KR" sz="2400" dirty="0">
              <a:solidFill>
                <a:srgbClr val="08603D"/>
              </a:solidFill>
              <a:highlight>
                <a:srgbClr val="FFF898"/>
              </a:highlight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6095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40FDD-F5E9-A60D-EEE7-AC4DFA076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4908DD90-7944-42B5-A4F3-DBBA837145F3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C74A20F9-DF07-76FF-8153-BC4B530E3F1B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54FE07DF-D079-60E0-B15E-7403FFE64175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715D5D61-4994-BF88-8E01-9437C8CAF163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1ECFE83-76FE-4496-54C8-DD6DC9ACCE49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A869432D-B794-461C-596D-7D3931311587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BD40049F-7328-2158-CD1D-67DF835D2B19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341E5ABC-153B-B97E-C4ED-3823E13F7AC6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71CB8064-051F-5F0C-3375-D9DEFBC60DBF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FA53327B-9765-2C3A-3563-736F6C60CCD0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2B6E7A-F02A-E766-4665-9E15A35FDCF1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02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6B88F5-19DE-3944-02CE-62132D539035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파일 읽기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61C5679-0B5F-2D66-9168-88887FBC6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4" name="모서리가 둥근 직사각형 10">
            <a:extLst>
              <a:ext uri="{FF2B5EF4-FFF2-40B4-BE49-F238E27FC236}">
                <a16:creationId xmlns:a16="http://schemas.microsoft.com/office/drawing/2014/main" id="{E94E0424-CAF7-0350-71C9-6FE7FB70EA2C}"/>
              </a:ext>
            </a:extLst>
          </p:cNvPr>
          <p:cNvSpPr/>
          <p:nvPr/>
        </p:nvSpPr>
        <p:spPr>
          <a:xfrm>
            <a:off x="973585" y="1514600"/>
            <a:ext cx="10244830" cy="4317872"/>
          </a:xfrm>
          <a:prstGeom prst="roundRect">
            <a:avLst>
              <a:gd name="adj" fmla="val 3321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with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open('example.txt', 'r', encoding='utf-8') as f: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lines =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f.readlines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()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for line in lines: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print(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line.strip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3067634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310C7-8D20-B1A4-CE30-726C99F17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79C88145-3B25-FD8A-5508-3E2E5713025F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E943B6D-C0E7-DED1-40DE-E6389BC21137}"/>
              </a:ext>
            </a:extLst>
          </p:cNvPr>
          <p:cNvSpPr/>
          <p:nvPr/>
        </p:nvSpPr>
        <p:spPr>
          <a:xfrm>
            <a:off x="391357" y="210845"/>
            <a:ext cx="11409286" cy="6436310"/>
          </a:xfrm>
          <a:prstGeom prst="roundRect">
            <a:avLst>
              <a:gd name="adj" fmla="val 10046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FCF7A17-2375-A283-E3B6-CA03DA59A1F1}"/>
              </a:ext>
            </a:extLst>
          </p:cNvPr>
          <p:cNvSpPr/>
          <p:nvPr/>
        </p:nvSpPr>
        <p:spPr>
          <a:xfrm>
            <a:off x="537839" y="326254"/>
            <a:ext cx="11116322" cy="6205491"/>
          </a:xfrm>
          <a:prstGeom prst="roundRect">
            <a:avLst>
              <a:gd name="adj" fmla="val 91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0959B0-9E8D-2C84-B623-6D7F3953CC7F}"/>
              </a:ext>
            </a:extLst>
          </p:cNvPr>
          <p:cNvSpPr txBox="1"/>
          <p:nvPr/>
        </p:nvSpPr>
        <p:spPr>
          <a:xfrm>
            <a:off x="4001565" y="2305614"/>
            <a:ext cx="4188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4000" dirty="0">
              <a:solidFill>
                <a:schemeClr val="accent2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0F6379-07EB-4839-04DA-7EE2FE424A20}"/>
              </a:ext>
            </a:extLst>
          </p:cNvPr>
          <p:cNvSpPr txBox="1"/>
          <p:nvPr/>
        </p:nvSpPr>
        <p:spPr>
          <a:xfrm>
            <a:off x="2607771" y="3013500"/>
            <a:ext cx="6976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파일 쓰기</a:t>
            </a:r>
          </a:p>
        </p:txBody>
      </p:sp>
    </p:spTree>
    <p:extLst>
      <p:ext uri="{BB962C8B-B14F-4D97-AF65-F5344CB8AC3E}">
        <p14:creationId xmlns:p14="http://schemas.microsoft.com/office/powerpoint/2010/main" val="2797414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A0AAE-9316-7A03-67D6-429EDB299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DA0071F9-D07D-6CB4-26F3-20101E598960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321C70D8-F886-1748-840B-D2BE2F5BD79D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2913B899-F0D5-D7C4-1D80-EA82C822B39E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06B806E5-916B-039B-B81C-0C586DEFF348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1B8445D-34E2-A4B6-8AC0-A51EAC244F90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B3EA76C7-0E1A-09B5-5B73-DD720E09E019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AC46C7D7-8A81-00C2-6BBE-70F8EF8933D3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74823C19-CF6A-D71D-C211-7D83F855FD68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1DFDD7AA-1D5F-B7B9-CB88-F663BB7F638F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2ADDEB6C-03FB-AC4D-1084-68E627BE0DA6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C77AE5-7A54-AB4E-1362-C51AA41BC20D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01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BE268D-2548-BE48-CB28-4E554C0AC96E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파일 쓰기 </a:t>
            </a:r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</a:t>
            </a:r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단계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3EA44BD0-A936-E02A-1263-C4DFF9FB0B45}"/>
              </a:ext>
            </a:extLst>
          </p:cNvPr>
          <p:cNvSpPr/>
          <p:nvPr/>
        </p:nvSpPr>
        <p:spPr>
          <a:xfrm>
            <a:off x="574027" y="1249399"/>
            <a:ext cx="369331" cy="369331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295562-564E-7269-9DEC-5F1353370BC7}"/>
              </a:ext>
            </a:extLst>
          </p:cNvPr>
          <p:cNvSpPr txBox="1"/>
          <p:nvPr/>
        </p:nvSpPr>
        <p:spPr>
          <a:xfrm>
            <a:off x="943358" y="1141676"/>
            <a:ext cx="6220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파일 쓰기의 단계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964831A-1444-67FB-6469-4A33E77E8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781518-1DB4-442E-1AF6-F1A2E3C26C09}"/>
              </a:ext>
            </a:extLst>
          </p:cNvPr>
          <p:cNvSpPr txBox="1"/>
          <p:nvPr/>
        </p:nvSpPr>
        <p:spPr>
          <a:xfrm>
            <a:off x="784847" y="1794646"/>
            <a:ext cx="9957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키보드가 아닌 파일에서 값을 쓰기 위해서는 </a:t>
            </a:r>
            <a:r>
              <a:rPr lang="ko-KR" altLang="en-US" sz="2000" dirty="0">
                <a:highlight>
                  <a:srgbClr val="FFF898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파일 </a:t>
            </a:r>
            <a:r>
              <a:rPr lang="ko-KR" altLang="en-US" sz="2000" dirty="0">
                <a:solidFill>
                  <a:srgbClr val="FF0000"/>
                </a:solidFill>
                <a:highlight>
                  <a:srgbClr val="FFF898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열기</a:t>
            </a:r>
            <a:r>
              <a:rPr lang="en-US" altLang="ko-KR" sz="2000" dirty="0">
                <a:highlight>
                  <a:srgbClr val="FFF898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000" dirty="0">
                <a:highlight>
                  <a:srgbClr val="FFF898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파일 </a:t>
            </a:r>
            <a:r>
              <a:rPr lang="ko-KR" altLang="en-US" sz="2000" dirty="0">
                <a:solidFill>
                  <a:srgbClr val="FF0000"/>
                </a:solidFill>
                <a:highlight>
                  <a:srgbClr val="FFF898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쓰기</a:t>
            </a:r>
            <a:r>
              <a:rPr lang="en-US" altLang="ko-KR" sz="2000" dirty="0">
                <a:highlight>
                  <a:srgbClr val="FFF898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000" dirty="0">
                <a:highlight>
                  <a:srgbClr val="FFF898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파일 </a:t>
            </a:r>
            <a:r>
              <a:rPr lang="ko-KR" altLang="en-US" sz="2000" dirty="0">
                <a:solidFill>
                  <a:srgbClr val="FF0000"/>
                </a:solidFill>
                <a:highlight>
                  <a:srgbClr val="FFF898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닫기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단계 작업이 필요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D264E53-F23D-6FE0-6D00-12FD61F1B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242" y="2567618"/>
            <a:ext cx="101727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067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16885-8CDF-D4FC-8C5D-28A3A72F9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48AD60E8-F091-556C-D4D8-C524F83311C8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07C447CC-F1A2-E46F-C7DD-BEAA79CA570A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19AD7C82-9E0D-993A-9E4C-A58F6A09E834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1BC24067-7BDE-CF06-4D21-BC7E81546A28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07B246C-CE58-565A-DC92-A8CCCE26C32F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3F3146E5-2B3B-0001-4806-74C5DE1F2267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E3510D28-227E-E385-0242-1C60A96A96B3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158C95CD-0690-50A3-784B-48CECF6F2054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B9AE0481-FA61-E58A-D8BB-192BA34154E7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68AC93C1-FE37-B209-17D2-4464E2AF6A85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C59C24-88A1-45AF-C72C-5E4D34D6CF42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01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86F9FB-A215-1858-9BCE-201F9ACA2845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파일 쓰기 </a:t>
            </a:r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</a:t>
            </a:r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단계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4253C5A4-E3C7-21E5-E723-E2D978E74AE1}"/>
              </a:ext>
            </a:extLst>
          </p:cNvPr>
          <p:cNvSpPr/>
          <p:nvPr/>
        </p:nvSpPr>
        <p:spPr>
          <a:xfrm>
            <a:off x="574027" y="1249399"/>
            <a:ext cx="369331" cy="369331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0EAB1A-DF04-E19F-B208-83143176AD5A}"/>
              </a:ext>
            </a:extLst>
          </p:cNvPr>
          <p:cNvSpPr txBox="1"/>
          <p:nvPr/>
        </p:nvSpPr>
        <p:spPr>
          <a:xfrm>
            <a:off x="943358" y="1141676"/>
            <a:ext cx="6220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단계</a:t>
            </a:r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파일 열기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D7196C2-8653-1FDF-F7B3-6ACACA7DF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275395-3F23-AE8D-B35D-584763AC22FF}"/>
              </a:ext>
            </a:extLst>
          </p:cNvPr>
          <p:cNvSpPr txBox="1"/>
          <p:nvPr/>
        </p:nvSpPr>
        <p:spPr>
          <a:xfrm>
            <a:off x="784847" y="1794646"/>
            <a:ext cx="99571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파일을 열기 위해서는 </a:t>
            </a:r>
            <a:r>
              <a:rPr lang="en-US" altLang="ko-KR" sz="2000" dirty="0">
                <a:highlight>
                  <a:srgbClr val="FFF898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open()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함수에서 파일 이름을 지정하고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모드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(mode)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쓰기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(Write)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의미하는 </a:t>
            </a:r>
            <a:r>
              <a:rPr lang="en-US" altLang="ko-KR" sz="2000" dirty="0">
                <a:highlight>
                  <a:srgbClr val="FFF898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"w"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로 설정</a:t>
            </a:r>
          </a:p>
        </p:txBody>
      </p:sp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4AFD6FAB-D5D4-83E9-022E-3CB79B78D18A}"/>
              </a:ext>
            </a:extLst>
          </p:cNvPr>
          <p:cNvSpPr/>
          <p:nvPr/>
        </p:nvSpPr>
        <p:spPr>
          <a:xfrm>
            <a:off x="973585" y="3192784"/>
            <a:ext cx="10244830" cy="833318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변수 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= 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898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open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("</a:t>
            </a:r>
            <a:r>
              <a:rPr lang="ko-KR" altLang="en-US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파일경로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", "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898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w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")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D9FCA5-8FF0-8405-F530-06B95657A66F}"/>
              </a:ext>
            </a:extLst>
          </p:cNvPr>
          <p:cNvSpPr txBox="1"/>
          <p:nvPr/>
        </p:nvSpPr>
        <p:spPr>
          <a:xfrm>
            <a:off x="784847" y="4639331"/>
            <a:ext cx="9957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파일 경로에 같은 이름의 파일이 있다면 </a:t>
            </a:r>
            <a:r>
              <a:rPr lang="ko-KR" altLang="en-US" sz="2000" dirty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기존 파일을 덮어 씀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D92BD7-A5D5-4E26-D230-1C93C462EF0B}"/>
              </a:ext>
            </a:extLst>
          </p:cNvPr>
          <p:cNvSpPr txBox="1"/>
          <p:nvPr/>
        </p:nvSpPr>
        <p:spPr>
          <a:xfrm>
            <a:off x="784847" y="5225602"/>
            <a:ext cx="9957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파일 경로에 같은 이름의 파일이 없다면 </a:t>
            </a:r>
            <a:r>
              <a:rPr lang="ko-KR" altLang="en-US" sz="2000" dirty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파일을 새로 생성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함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114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03E4F-0E88-BF22-B20D-78CF518B8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BE7AAC71-AC56-3B38-E5BA-42E0957A8F90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2B90384A-085A-D600-CE40-8648F125F5D0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EE30A2D9-FAA3-A446-4822-B1BE643D9391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9A0F0441-976D-67A4-5A4B-E30E2BE05EDE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00EAF36-B84A-90A8-9075-41C05E2B7296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83A2536F-6CDD-D0BE-FAAB-80B5F08D6E75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3C58A8AA-759A-9E81-3140-CAC6B0B33F30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A3557671-655B-F14A-E356-F58F4EFD8C22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C171707E-145E-BE4D-AC6A-F3976278FCE2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739365EC-7CFB-11D7-588E-85B82C1D250E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F2A85E-7F0A-C9C0-CDF7-0FFD179D5EB3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01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5485B5-E3E7-642E-C8C6-7F2C2205E850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파일 쓰기 </a:t>
            </a:r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</a:t>
            </a:r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단계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54A3C179-848B-4A49-8F02-29A73811D352}"/>
              </a:ext>
            </a:extLst>
          </p:cNvPr>
          <p:cNvSpPr/>
          <p:nvPr/>
        </p:nvSpPr>
        <p:spPr>
          <a:xfrm>
            <a:off x="574027" y="1249399"/>
            <a:ext cx="369331" cy="369331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66D676-222B-F9E2-E9F2-CF797513FCF8}"/>
              </a:ext>
            </a:extLst>
          </p:cNvPr>
          <p:cNvSpPr txBox="1"/>
          <p:nvPr/>
        </p:nvSpPr>
        <p:spPr>
          <a:xfrm>
            <a:off x="943358" y="1141676"/>
            <a:ext cx="6220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단계</a:t>
            </a:r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파일 쓰기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9A2D609-17B7-14C2-AAED-2B304CE2A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F6C7D6-4764-F5B1-3E64-03744130D7B7}"/>
              </a:ext>
            </a:extLst>
          </p:cNvPr>
          <p:cNvSpPr txBox="1"/>
          <p:nvPr/>
        </p:nvSpPr>
        <p:spPr>
          <a:xfrm>
            <a:off x="784847" y="1794646"/>
            <a:ext cx="9957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파일에 쓰기 위해서 </a:t>
            </a:r>
            <a:r>
              <a:rPr lang="en-US" altLang="ko-KR" sz="2000" dirty="0" err="1">
                <a:highlight>
                  <a:srgbClr val="FFF898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writelines</a:t>
            </a:r>
            <a:r>
              <a:rPr lang="en-US" altLang="ko-KR" sz="2000" dirty="0">
                <a:highlight>
                  <a:srgbClr val="FFF898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()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함수를 사용할 수 있음</a:t>
            </a:r>
          </a:p>
        </p:txBody>
      </p:sp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70787AE4-715F-6342-33F5-12C3879650D4}"/>
              </a:ext>
            </a:extLst>
          </p:cNvPr>
          <p:cNvSpPr/>
          <p:nvPr/>
        </p:nvSpPr>
        <p:spPr>
          <a:xfrm>
            <a:off x="973585" y="2457147"/>
            <a:ext cx="10244830" cy="833318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파일이 저장된 변수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898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  <a:r>
              <a:rPr lang="en-US" altLang="ko-KR" sz="2400" dirty="0" err="1">
                <a:solidFill>
                  <a:schemeClr val="tx1"/>
                </a:solidFill>
                <a:highlight>
                  <a:srgbClr val="FFF898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writelines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898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ko-KR" altLang="en-US" sz="2400" dirty="0">
                <a:solidFill>
                  <a:schemeClr val="tx1"/>
                </a:solidFill>
                <a:highlight>
                  <a:srgbClr val="FFF898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내용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898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759441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153BE-D4A0-BBC7-08B1-49EB0AFA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CF6BA8AB-858A-AF88-F7D3-6AA3D853293E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18E26F14-457F-6142-6DBF-990CF7FF1A48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A06FDFD0-4C96-F95F-2E54-C664C354015A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8F9DA500-2A0F-DFB1-6D2E-4DACD84938D1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88BA7E5-79DC-CB8F-D6D2-84542A82CE94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57063423-AE43-C7FF-F9BC-4BF521BB772C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C3C2CFBC-34BF-792F-A30E-A17480FBC77B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178B9420-2430-8D49-9D24-1C3F3E873FC2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393E6F7C-F30D-6AAA-28F9-0D9C280318D0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380F7FD7-F07C-3F73-B49D-DEC375636B28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8689D5-8C78-DAC0-67D5-F6FD192365CC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01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E2D64A-D387-DA84-62A3-75BE1A44F58C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파일 쓰기 </a:t>
            </a:r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</a:t>
            </a:r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단계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53CA9E79-5259-0BE1-40F7-64240332C82D}"/>
              </a:ext>
            </a:extLst>
          </p:cNvPr>
          <p:cNvSpPr/>
          <p:nvPr/>
        </p:nvSpPr>
        <p:spPr>
          <a:xfrm>
            <a:off x="574027" y="1249399"/>
            <a:ext cx="369331" cy="369331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58A0EB-3E8D-FC58-E35C-4BC92E3111A7}"/>
              </a:ext>
            </a:extLst>
          </p:cNvPr>
          <p:cNvSpPr txBox="1"/>
          <p:nvPr/>
        </p:nvSpPr>
        <p:spPr>
          <a:xfrm>
            <a:off x="943358" y="1141676"/>
            <a:ext cx="6220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</a:t>
            </a:r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단계</a:t>
            </a:r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파일 닫기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061EF29-4A56-2C13-2798-0BAF30BAC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54C519-ACD7-D4F1-A70C-3C24FFF26EF7}"/>
              </a:ext>
            </a:extLst>
          </p:cNvPr>
          <p:cNvSpPr txBox="1"/>
          <p:nvPr/>
        </p:nvSpPr>
        <p:spPr>
          <a:xfrm>
            <a:off x="784847" y="1794646"/>
            <a:ext cx="99571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파일과 관련된 모든 작업이 끝나면 반드시 파일을 정상적으로 닫아줘야 함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r>
              <a:rPr lang="en-US" altLang="ko-KR" sz="2000" dirty="0">
                <a:highlight>
                  <a:srgbClr val="FFF898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close()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함수를 사용하여 파일을 닫을 수 있음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9786F30B-99AE-7A95-9CBE-C805BAD50753}"/>
              </a:ext>
            </a:extLst>
          </p:cNvPr>
          <p:cNvSpPr/>
          <p:nvPr/>
        </p:nvSpPr>
        <p:spPr>
          <a:xfrm>
            <a:off x="973585" y="2860172"/>
            <a:ext cx="10244830" cy="833318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파일이 저장된 변수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898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.close()</a:t>
            </a:r>
          </a:p>
        </p:txBody>
      </p:sp>
    </p:spTree>
    <p:extLst>
      <p:ext uri="{BB962C8B-B14F-4D97-AF65-F5344CB8AC3E}">
        <p14:creationId xmlns:p14="http://schemas.microsoft.com/office/powerpoint/2010/main" val="3251680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951C7-7847-442C-6F53-7996E9CA0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D7A1B177-6C76-303A-41E7-B371D80B4464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1AB77F60-439E-09B8-628D-DF4868A5A9E6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1D83F700-50C6-B514-3EAF-078294449F16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DAB2B58E-2AF5-177B-9AFA-20D020F48BAA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21152DB-C30E-ACAE-BBA1-690643C0ABEE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36230C32-34EF-E36B-C25A-380AA55B49B5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79595CE5-7A67-FDA6-5C15-AFCE28EBA047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4715527E-11BF-B8B2-E7DC-1CF6317FD4C5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639B95C2-2912-3818-972C-AD44B6B62F83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4623FD91-47D0-119F-1CCD-96E05A4C5A06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DFBA3A-7C07-A9D4-F9BB-AB9D4E8EEEC4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02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F02BD7-1A45-2133-ADC3-E474BDEB8029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파일 쓰기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6F84D59-4159-EFAC-B53C-2197AAAFA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4" name="모서리가 둥근 직사각형 10">
            <a:extLst>
              <a:ext uri="{FF2B5EF4-FFF2-40B4-BE49-F238E27FC236}">
                <a16:creationId xmlns:a16="http://schemas.microsoft.com/office/drawing/2014/main" id="{8F9EC947-4491-B9E1-6E5E-3B4DC1BC72AB}"/>
              </a:ext>
            </a:extLst>
          </p:cNvPr>
          <p:cNvSpPr/>
          <p:nvPr/>
        </p:nvSpPr>
        <p:spPr>
          <a:xfrm>
            <a:off x="973585" y="1514600"/>
            <a:ext cx="10244830" cy="4317872"/>
          </a:xfrm>
          <a:prstGeom prst="roundRect">
            <a:avLst>
              <a:gd name="adj" fmla="val 3321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outFile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= open("/content/example1.txt", 'w')</a:t>
            </a: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outStr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= ""</a:t>
            </a: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while True: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outStr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= input("</a:t>
            </a:r>
            <a:r>
              <a:rPr lang="ko-KR" altLang="en-US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내용 입력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 ")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if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outStr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== "":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break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outFile.writelines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outStr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+ "\n")</a:t>
            </a: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outFile.close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()</a:t>
            </a:r>
            <a:endParaRPr lang="en-US" altLang="ko-KR" sz="2400" dirty="0">
              <a:solidFill>
                <a:schemeClr val="tx1"/>
              </a:solidFill>
              <a:highlight>
                <a:srgbClr val="FFF898"/>
              </a:highlight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54790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F4F9E-7EA9-8900-7457-907CB65CB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657FDEE5-8E0A-8AC2-83E9-AE7590817F51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FD69F85D-7D51-305F-90C8-8F25E0407E39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EFDCCF42-69B1-084A-9805-4E243F7AD7F2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6EF3DA85-DCDB-5100-E0F6-0A2F4A2C9337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DAD341-3288-7A7D-7505-BB795311F516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F3FB79C5-7435-E254-2DD2-379B6C2A16C9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F40452F9-3DF9-0919-76BD-7E379EB3A6CD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8D788ABA-4984-B477-DD3C-7F0961C812B2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1273D017-1141-B613-A948-8E886E09FDBF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E635E9D1-91A1-6E39-FDE6-0C35E08A1F80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07CD28-8157-9316-9EBC-3E4DE372F61D}"/>
              </a:ext>
            </a:extLst>
          </p:cNvPr>
          <p:cNvSpPr txBox="1"/>
          <p:nvPr/>
        </p:nvSpPr>
        <p:spPr>
          <a:xfrm>
            <a:off x="1358525" y="151495"/>
            <a:ext cx="52266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LAB: </a:t>
            </a:r>
            <a:r>
              <a:rPr lang="ko-KR" altLang="en-US" sz="3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암호화 하기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4D64858-3930-90C2-803A-7CEA1CF0B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2" name="다이아몬드 1">
            <a:extLst>
              <a:ext uri="{FF2B5EF4-FFF2-40B4-BE49-F238E27FC236}">
                <a16:creationId xmlns:a16="http://schemas.microsoft.com/office/drawing/2014/main" id="{12E4036B-9CE9-045F-A82F-4E700C4D1530}"/>
              </a:ext>
            </a:extLst>
          </p:cNvPr>
          <p:cNvSpPr/>
          <p:nvPr/>
        </p:nvSpPr>
        <p:spPr>
          <a:xfrm>
            <a:off x="666750" y="1000793"/>
            <a:ext cx="369331" cy="369331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988AE4-AB83-6920-18FC-885C15624A74}"/>
              </a:ext>
            </a:extLst>
          </p:cNvPr>
          <p:cNvSpPr txBox="1"/>
          <p:nvPr/>
        </p:nvSpPr>
        <p:spPr>
          <a:xfrm>
            <a:off x="1036081" y="893070"/>
            <a:ext cx="6220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51B8B0"/>
                </a:solidFill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Problem (LAB 9.2.1)</a:t>
            </a:r>
            <a:endParaRPr lang="ko-KR" altLang="en-US" sz="3200" dirty="0">
              <a:solidFill>
                <a:srgbClr val="51B8B0"/>
              </a:solidFill>
              <a:highlight>
                <a:srgbClr val="FFFF00"/>
              </a:highligh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6BF9901-987A-A4FE-3445-0DC551689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312" y="1580752"/>
            <a:ext cx="10239375" cy="1905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1DCF208-4F5F-EB3C-455D-104545E18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312" y="3423424"/>
            <a:ext cx="10210800" cy="153352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7726B9D2-4C9F-D564-8B5D-34739A3FE2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838" y="4904432"/>
            <a:ext cx="10201275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1762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45131-4BB2-9828-AE5D-206EC87EF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9BA6FF71-2383-CD39-D53E-4FF0FEE46E95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45417D02-30A1-DA42-7B12-D1844117BA9A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C251328C-36A6-DC96-D0C5-B2F95990FC02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0EF3E725-B2F5-3C61-6866-FD01CEED5CDE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C2F938B-E4AE-3BA5-C707-68632DF3E1D3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E686BCFF-012D-CABF-3419-15DBE912E9BE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E037B4E6-23AE-81D0-9189-0B401C2B727F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1E6D9361-A7C5-6FD2-7A52-6C7A7961B523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9076512E-F96C-43BD-10A4-D61FD7EFFECE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D2A313BB-BB39-8549-C0B7-22C879769E11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1224C3-B579-7E4F-D0E7-22737007C716}"/>
              </a:ext>
            </a:extLst>
          </p:cNvPr>
          <p:cNvSpPr txBox="1"/>
          <p:nvPr/>
        </p:nvSpPr>
        <p:spPr>
          <a:xfrm>
            <a:off x="2325949" y="2828835"/>
            <a:ext cx="7315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00" dirty="0">
                <a:solidFill>
                  <a:srgbClr val="81DAD6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Question?</a:t>
            </a:r>
            <a:endParaRPr lang="ko-KR" altLang="en-US" sz="7200" dirty="0">
              <a:solidFill>
                <a:srgbClr val="81DAD6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7467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5098</TotalTime>
  <Words>586</Words>
  <Application>Microsoft Office PowerPoint</Application>
  <PresentationFormat>와이드스크린</PresentationFormat>
  <Paragraphs>109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5" baseType="lpstr">
      <vt:lpstr>Microsoft GothicNeo Light</vt:lpstr>
      <vt:lpstr>Pretendard Light</vt:lpstr>
      <vt:lpstr>Arial</vt:lpstr>
      <vt:lpstr>Impact</vt:lpstr>
      <vt:lpstr>맑은 고딕</vt:lpstr>
      <vt:lpstr>G마켓 산스 Medium</vt:lpstr>
      <vt:lpstr>G마켓 산스 Bold</vt:lpstr>
      <vt:lpstr>KoPub돋움체 Bold</vt:lpstr>
      <vt:lpstr>Pretendard Medium</vt:lpstr>
      <vt:lpstr>Microsoft GothicNeo</vt:lpstr>
      <vt:lpstr>D2Coding ligature</vt:lpstr>
      <vt:lpstr>Pretendard SemiBold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 재</dc:creator>
  <cp:lastModifiedBy>성 재</cp:lastModifiedBy>
  <cp:revision>405</cp:revision>
  <dcterms:created xsi:type="dcterms:W3CDTF">2025-09-13T18:52:17Z</dcterms:created>
  <dcterms:modified xsi:type="dcterms:W3CDTF">2026-06-13T03:47:15Z</dcterms:modified>
  <cp:contentStatus/>
</cp:coreProperties>
</file>