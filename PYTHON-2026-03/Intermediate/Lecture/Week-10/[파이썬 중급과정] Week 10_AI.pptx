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  <p:sldId id="285" r:id="rId4"/>
    <p:sldId id="286" r:id="rId5"/>
    <p:sldId id="424" r:id="rId6"/>
    <p:sldId id="447" r:id="rId7"/>
    <p:sldId id="457" r:id="rId8"/>
    <p:sldId id="458" r:id="rId9"/>
    <p:sldId id="363" r:id="rId10"/>
    <p:sldId id="449" r:id="rId11"/>
    <p:sldId id="451" r:id="rId12"/>
    <p:sldId id="459" r:id="rId13"/>
    <p:sldId id="460" r:id="rId14"/>
    <p:sldId id="461" r:id="rId15"/>
    <p:sldId id="462" r:id="rId16"/>
    <p:sldId id="463" r:id="rId17"/>
    <p:sldId id="464" r:id="rId18"/>
    <p:sldId id="465" r:id="rId19"/>
    <p:sldId id="466" r:id="rId20"/>
    <p:sldId id="467" r:id="rId21"/>
    <p:sldId id="470" r:id="rId22"/>
    <p:sldId id="468" r:id="rId23"/>
    <p:sldId id="471" r:id="rId24"/>
    <p:sldId id="469" r:id="rId25"/>
    <p:sldId id="282" r:id="rId26"/>
  </p:sldIdLst>
  <p:sldSz cx="12192000" cy="6858000"/>
  <p:notesSz cx="6858000" cy="9144000"/>
  <p:embeddedFontLst>
    <p:embeddedFont>
      <p:font typeface="D2Coding ligature" panose="020B0609020101020101" pitchFamily="49" charset="-127"/>
      <p:regular r:id="rId27"/>
      <p:bold r:id="rId28"/>
    </p:embeddedFont>
    <p:embeddedFont>
      <p:font typeface="G마켓 산스 Bold" panose="02000000000000000000" pitchFamily="50" charset="-127"/>
      <p:bold r:id="rId29"/>
    </p:embeddedFont>
    <p:embeddedFont>
      <p:font typeface="G마켓 산스 Medium" panose="02000000000000000000" pitchFamily="50" charset="-127"/>
      <p:regular r:id="rId30"/>
    </p:embeddedFont>
    <p:embeddedFont>
      <p:font typeface="KoPub돋움체 Bold" panose="02020603020101020101" pitchFamily="18" charset="-127"/>
      <p:regular r:id="rId31"/>
    </p:embeddedFont>
    <p:embeddedFont>
      <p:font typeface="Pretendard Light" panose="02000403000000020004" pitchFamily="50" charset="-127"/>
      <p:regular r:id="rId32"/>
    </p:embeddedFont>
    <p:embeddedFont>
      <p:font typeface="Pretendard Medium" panose="02000603000000020004" pitchFamily="50" charset="-127"/>
      <p:regular r:id="rId33"/>
    </p:embeddedFont>
    <p:embeddedFont>
      <p:font typeface="Pretendard SemiBold" panose="02000703000000020004" pitchFamily="50" charset="-127"/>
      <p:bold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Impact" panose="020B0806030902050204" pitchFamily="34" charset="0"/>
      <p:regular r:id="rId37"/>
    </p:embeddedFont>
    <p:embeddedFont>
      <p:font typeface="Microsoft GothicNeo" panose="020B0500000101010101" pitchFamily="50" charset="-127"/>
      <p:regular r:id="rId38"/>
      <p:bold r:id="rId39"/>
    </p:embeddedFont>
    <p:embeddedFont>
      <p:font typeface="Microsoft GothicNeo Light" panose="020B0300000101010101" pitchFamily="50" charset="-127"/>
      <p:regular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8FF4"/>
    <a:srgbClr val="4A8B71"/>
    <a:srgbClr val="008000"/>
    <a:srgbClr val="F2F3F9"/>
    <a:srgbClr val="569E85"/>
    <a:srgbClr val="E36D6B"/>
    <a:srgbClr val="EC9E9C"/>
    <a:srgbClr val="76B19C"/>
    <a:srgbClr val="ED9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C1E8A24-D2BD-4F24-BA0A-E5348FFC47D3}"/>
              </a:ext>
            </a:extLst>
          </p:cNvPr>
          <p:cNvSpPr/>
          <p:nvPr/>
        </p:nvSpPr>
        <p:spPr>
          <a:xfrm>
            <a:off x="362712" y="315468"/>
            <a:ext cx="11466576" cy="6227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0C81F2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13CBD-0234-45E7-B8BE-3097A91501E2}"/>
              </a:ext>
            </a:extLst>
          </p:cNvPr>
          <p:cNvSpPr/>
          <p:nvPr/>
        </p:nvSpPr>
        <p:spPr>
          <a:xfrm>
            <a:off x="362712" y="315468"/>
            <a:ext cx="4483608" cy="6227064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모서리가 둥근 직사각형 43">
            <a:extLst>
              <a:ext uri="{FF2B5EF4-FFF2-40B4-BE49-F238E27FC236}">
                <a16:creationId xmlns:a16="http://schemas.microsoft.com/office/drawing/2014/main" id="{6213B534-391D-4BCF-8E6E-8A262482373C}"/>
              </a:ext>
            </a:extLst>
          </p:cNvPr>
          <p:cNvSpPr/>
          <p:nvPr/>
        </p:nvSpPr>
        <p:spPr>
          <a:xfrm>
            <a:off x="6879118" y="4789647"/>
            <a:ext cx="2917371" cy="485873"/>
          </a:xfrm>
          <a:prstGeom prst="roundRect">
            <a:avLst>
              <a:gd name="adj" fmla="val 50000"/>
            </a:avLst>
          </a:prstGeom>
          <a:pattFill prst="pct5">
            <a:fgClr>
              <a:srgbClr val="0C81F2"/>
            </a:fgClr>
            <a:bgClr>
              <a:srgbClr val="0C81F2"/>
            </a:bgClr>
          </a:pattFill>
          <a:ln w="9525">
            <a:noFill/>
            <a:prstDash val="solid"/>
          </a:ln>
          <a:effectLst>
            <a:outerShdw blurRad="304800" dist="38100" dir="2700000" algn="tl" rotWithShape="0">
              <a:srgbClr val="0C81F2">
                <a:alpha val="17000"/>
              </a:srgb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Impact" panose="020B0806030902050204" pitchFamily="34" charset="0"/>
                <a:ea typeface="G마켓 산스 Medium" panose="02000000000000000000" pitchFamily="50" charset="-127"/>
                <a:cs typeface="Microsoft GothicNeo Light" panose="020B0300000101010101" pitchFamily="50" charset="-127"/>
              </a:rPr>
              <a:t>Week 10</a:t>
            </a:r>
            <a:endParaRPr lang="ko-KR" altLang="en-US" sz="2400" dirty="0">
              <a:latin typeface="Impact" panose="020B0806030902050204" pitchFamily="34" charset="0"/>
              <a:ea typeface="G마켓 산스 Medium" panose="02000000000000000000" pitchFamily="50" charset="-127"/>
              <a:cs typeface="Microsoft GothicNeo Light" panose="020B0300000101010101" pitchFamily="50" charset="-127"/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BC2E65EA-009D-40B0-BD2D-9B6AE5E03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7951"/>
              </p:ext>
            </p:extLst>
          </p:nvPr>
        </p:nvGraphicFramePr>
        <p:xfrm>
          <a:off x="362711" y="331343"/>
          <a:ext cx="4483608" cy="619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68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</a:tblGrid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9254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699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425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09023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BA663E-45B6-4C2C-B2E9-DB732813B517}"/>
              </a:ext>
            </a:extLst>
          </p:cNvPr>
          <p:cNvGrpSpPr/>
          <p:nvPr/>
        </p:nvGrpSpPr>
        <p:grpSpPr>
          <a:xfrm>
            <a:off x="3175107" y="2906014"/>
            <a:ext cx="360000" cy="1519682"/>
            <a:chOff x="3175107" y="2906014"/>
            <a:chExt cx="360000" cy="151968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3E5BC57-257D-4034-B6AA-386AF2A3C57E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E27B153-D673-4A80-886F-3C031E7B2146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8BDBD16-0C86-4297-B1BF-2A0C2974B2E1}"/>
                </a:ext>
              </a:extLst>
            </p:cNvPr>
            <p:cNvCxnSpPr>
              <a:cxnSpLocks/>
              <a:stCxn id="41" idx="4"/>
              <a:endCxn id="63" idx="3"/>
            </p:cNvCxnSpPr>
            <p:nvPr/>
          </p:nvCxnSpPr>
          <p:spPr>
            <a:xfrm>
              <a:off x="3355107" y="3266014"/>
              <a:ext cx="741" cy="1159682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CAF1CA6-CF89-4471-B143-123BEDD7AF54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A8C0CC-52B3-47F9-B161-A1F5A96F225A}"/>
              </a:ext>
            </a:extLst>
          </p:cNvPr>
          <p:cNvGrpSpPr/>
          <p:nvPr/>
        </p:nvGrpSpPr>
        <p:grpSpPr>
          <a:xfrm>
            <a:off x="357853" y="4425696"/>
            <a:ext cx="4479323" cy="2131608"/>
            <a:chOff x="357853" y="4425696"/>
            <a:chExt cx="447932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D8E533F7-B42D-41B8-BB34-3271918104F7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042BF142-3614-427C-8A69-D2ECC855FB30}"/>
                </a:ext>
              </a:extLst>
            </p:cNvPr>
            <p:cNvSpPr/>
            <p:nvPr/>
          </p:nvSpPr>
          <p:spPr>
            <a:xfrm>
              <a:off x="1097280" y="4425696"/>
              <a:ext cx="3739896" cy="2112264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9896" h="2112264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3739896" y="1426464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0F16DAA9-0382-4FF1-BF15-8B7862189CE7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D323E324-A78F-46D5-918F-50D84ED6C641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08C90F95-48B7-4B07-9B5C-47278389F460}"/>
              </a:ext>
            </a:extLst>
          </p:cNvPr>
          <p:cNvSpPr/>
          <p:nvPr/>
        </p:nvSpPr>
        <p:spPr>
          <a:xfrm>
            <a:off x="3307842" y="4408239"/>
            <a:ext cx="94527" cy="94527"/>
          </a:xfrm>
          <a:prstGeom prst="ellipse">
            <a:avLst/>
          </a:prstGeom>
          <a:solidFill>
            <a:srgbClr val="66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7D9E3-CFB0-B4D3-392E-EB0BB59875EF}"/>
              </a:ext>
            </a:extLst>
          </p:cNvPr>
          <p:cNvSpPr txBox="1"/>
          <p:nvPr/>
        </p:nvSpPr>
        <p:spPr>
          <a:xfrm>
            <a:off x="5286104" y="1284424"/>
            <a:ext cx="6103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D5073-5AFE-3DAE-DF88-DF3DFA677969}"/>
              </a:ext>
            </a:extLst>
          </p:cNvPr>
          <p:cNvSpPr txBox="1"/>
          <p:nvPr/>
        </p:nvSpPr>
        <p:spPr>
          <a:xfrm>
            <a:off x="5286104" y="3428999"/>
            <a:ext cx="6103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MY PAUL SCHOOL </a:t>
            </a:r>
          </a:p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PYTHON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INTERMEDIATE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C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LASS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algn="ctr"/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7038635" y="1705319"/>
            <a:ext cx="6858686" cy="344804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14"/>
              <a:gd name="connsiteY0" fmla="*/ 27000 h 35000"/>
              <a:gd name="connsiteX1" fmla="*/ 10014 w 10014"/>
              <a:gd name="connsiteY1" fmla="*/ 0 h 35000"/>
              <a:gd name="connsiteX2" fmla="*/ 10000 w 10014"/>
              <a:gd name="connsiteY2" fmla="*/ 35000 h 35000"/>
              <a:gd name="connsiteX3" fmla="*/ 0 w 10014"/>
              <a:gd name="connsiteY3" fmla="*/ 35000 h 35000"/>
              <a:gd name="connsiteX4" fmla="*/ 0 w 10014"/>
              <a:gd name="connsiteY4" fmla="*/ 27000 h 35000"/>
              <a:gd name="connsiteX0" fmla="*/ 0 w 10001"/>
              <a:gd name="connsiteY0" fmla="*/ 27395 h 35395"/>
              <a:gd name="connsiteX1" fmla="*/ 10000 w 10001"/>
              <a:gd name="connsiteY1" fmla="*/ 0 h 35395"/>
              <a:gd name="connsiteX2" fmla="*/ 10000 w 10001"/>
              <a:gd name="connsiteY2" fmla="*/ 35395 h 35395"/>
              <a:gd name="connsiteX3" fmla="*/ 0 w 10001"/>
              <a:gd name="connsiteY3" fmla="*/ 35395 h 35395"/>
              <a:gd name="connsiteX4" fmla="*/ 0 w 10001"/>
              <a:gd name="connsiteY4" fmla="*/ 27395 h 3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35395">
                <a:moveTo>
                  <a:pt x="0" y="27395"/>
                </a:moveTo>
                <a:lnTo>
                  <a:pt x="10000" y="0"/>
                </a:lnTo>
                <a:cubicBezTo>
                  <a:pt x="9995" y="11667"/>
                  <a:pt x="10005" y="23728"/>
                  <a:pt x="10000" y="35395"/>
                </a:cubicBezTo>
                <a:lnTo>
                  <a:pt x="0" y="35395"/>
                </a:lnTo>
                <a:lnTo>
                  <a:pt x="0" y="27395"/>
                </a:lnTo>
                <a:close/>
              </a:path>
            </a:pathLst>
          </a:cu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1219200" y="442912"/>
            <a:ext cx="9753600" cy="5972175"/>
          </a:xfrm>
          <a:prstGeom prst="roundRect">
            <a:avLst>
              <a:gd name="adj" fmla="val 470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2000">
                <a:schemeClr val="bg1"/>
              </a:gs>
              <a:gs pos="84000">
                <a:srgbClr val="9DD1FB"/>
              </a:gs>
            </a:gsLst>
            <a:lin ang="126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 altLang="ko-KR" sz="4400" b="1" i="1" kern="0" dirty="0">
              <a:solidFill>
                <a:srgbClr val="44546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9AF3E-8830-AE22-A9F8-F1675930F293}"/>
              </a:ext>
            </a:extLst>
          </p:cNvPr>
          <p:cNvSpPr txBox="1"/>
          <p:nvPr/>
        </p:nvSpPr>
        <p:spPr>
          <a:xfrm>
            <a:off x="1519469" y="1820131"/>
            <a:ext cx="8672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4800" b="1" dirty="0">
                <a:solidFill>
                  <a:srgbClr val="FFC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</a:t>
            </a:r>
            <a:r>
              <a:rPr lang="it-IT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rtificial </a:t>
            </a:r>
            <a:r>
              <a:rPr lang="it-IT" altLang="ko-KR" sz="4800" b="1" dirty="0">
                <a:solidFill>
                  <a:srgbClr val="FFC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</a:t>
            </a:r>
            <a:r>
              <a:rPr lang="it-IT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ntelligence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557DE-FD49-3860-3838-69387BA332BA}"/>
              </a:ext>
            </a:extLst>
          </p:cNvPr>
          <p:cNvSpPr txBox="1"/>
          <p:nvPr/>
        </p:nvSpPr>
        <p:spPr>
          <a:xfrm>
            <a:off x="1519470" y="1112245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10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ED954E-9B8B-BFDA-FAB2-B3FAE5DFD440}"/>
              </a:ext>
            </a:extLst>
          </p:cNvPr>
          <p:cNvSpPr txBox="1"/>
          <p:nvPr/>
        </p:nvSpPr>
        <p:spPr>
          <a:xfrm>
            <a:off x="1519471" y="5437978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김종훈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김동건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8DA91F-DDCB-AD08-3526-2F1A064B66B8}"/>
              </a:ext>
            </a:extLst>
          </p:cNvPr>
          <p:cNvSpPr txBox="1"/>
          <p:nvPr/>
        </p:nvSpPr>
        <p:spPr>
          <a:xfrm>
            <a:off x="1519470" y="5770121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7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AE31-2D86-E093-DB02-6DDA040B8148}"/>
              </a:ext>
            </a:extLst>
          </p:cNvPr>
          <p:cNvSpPr txBox="1"/>
          <p:nvPr/>
        </p:nvSpPr>
        <p:spPr>
          <a:xfrm>
            <a:off x="782624" y="1289798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428A6-7E52-039D-B855-D2F802FCD221}"/>
              </a:ext>
            </a:extLst>
          </p:cNvPr>
          <p:cNvSpPr txBox="1"/>
          <p:nvPr/>
        </p:nvSpPr>
        <p:spPr>
          <a:xfrm>
            <a:off x="1759952" y="210472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인공지능과 파이썬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EB637-AE02-0604-3333-825B85A047F4}"/>
              </a:ext>
            </a:extLst>
          </p:cNvPr>
          <p:cNvSpPr txBox="1"/>
          <p:nvPr/>
        </p:nvSpPr>
        <p:spPr>
          <a:xfrm>
            <a:off x="873574" y="210472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10.1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BD61D-5685-D1D2-08CE-FD1B45FE6BB2}"/>
              </a:ext>
            </a:extLst>
          </p:cNvPr>
          <p:cNvSpPr txBox="1"/>
          <p:nvPr/>
        </p:nvSpPr>
        <p:spPr>
          <a:xfrm>
            <a:off x="1759952" y="291957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BAEC9-7590-023E-98F0-EC6F6A803E37}"/>
              </a:ext>
            </a:extLst>
          </p:cNvPr>
          <p:cNvSpPr txBox="1"/>
          <p:nvPr/>
        </p:nvSpPr>
        <p:spPr>
          <a:xfrm>
            <a:off x="873574" y="291957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10.2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A8ACC2-C2A2-1F10-B166-A1E51BC1E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75" y="4480610"/>
            <a:ext cx="2069867" cy="1789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AAAF7-E54B-90C6-EA64-7627200F3B2E}"/>
              </a:ext>
            </a:extLst>
          </p:cNvPr>
          <p:cNvSpPr txBox="1"/>
          <p:nvPr/>
        </p:nvSpPr>
        <p:spPr>
          <a:xfrm>
            <a:off x="1759953" y="373442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E3BF1-0FF9-7331-CE65-3809B820A301}"/>
              </a:ext>
            </a:extLst>
          </p:cNvPr>
          <p:cNvSpPr txBox="1"/>
          <p:nvPr/>
        </p:nvSpPr>
        <p:spPr>
          <a:xfrm>
            <a:off x="873574" y="3734426"/>
            <a:ext cx="990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10.3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A09C0-D4C4-E574-0DB6-3C6F846BDACB}"/>
              </a:ext>
            </a:extLst>
          </p:cNvPr>
          <p:cNvSpPr txBox="1"/>
          <p:nvPr/>
        </p:nvSpPr>
        <p:spPr>
          <a:xfrm>
            <a:off x="1759953" y="454927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Computer Vision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95711-8665-69BB-6E7F-FCBDC066AD9E}"/>
              </a:ext>
            </a:extLst>
          </p:cNvPr>
          <p:cNvSpPr txBox="1"/>
          <p:nvPr/>
        </p:nvSpPr>
        <p:spPr>
          <a:xfrm>
            <a:off x="873575" y="4549276"/>
            <a:ext cx="990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10.4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인공지능과 파이썬</a:t>
            </a:r>
            <a:endParaRPr lang="it-IT" altLang="ko-KR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2056-B611-F7E9-ECCC-F0D996EA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B2276D6-1FBB-D342-8124-8E8A38DB49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42323D-74A9-8350-81ED-0BAAEBB3F3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A6A3C7-6AF8-DD53-47B4-41A2ECADBC9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EE2EF-3BD4-0DD6-B843-CAE24798995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파이썬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E925C-7EE4-272C-7A89-75FEE892DFE9}"/>
              </a:ext>
            </a:extLst>
          </p:cNvPr>
          <p:cNvSpPr txBox="1"/>
          <p:nvPr/>
        </p:nvSpPr>
        <p:spPr>
          <a:xfrm>
            <a:off x="943357" y="1170429"/>
            <a:ext cx="463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 파이썬 언어를 사용하는가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FC2A4B8-08C5-426D-0A77-90EC599078B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B1BF65F-2AC7-35B7-0066-BC268300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1E83B-9735-3782-91BD-BFB14FB378A2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쉽고 강력한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표준 언어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144BE-D36F-D67C-CB0B-D9C260635885}"/>
              </a:ext>
            </a:extLst>
          </p:cNvPr>
          <p:cNvSpPr txBox="1"/>
          <p:nvPr/>
        </p:nvSpPr>
        <p:spPr>
          <a:xfrm>
            <a:off x="831438" y="211484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사실 핵심은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C++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언어가 담당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678D5-555F-3499-A875-8B19705CC725}"/>
              </a:ext>
            </a:extLst>
          </p:cNvPr>
          <p:cNvSpPr txBox="1"/>
          <p:nvPr/>
        </p:nvSpPr>
        <p:spPr>
          <a:xfrm>
            <a:off x="831438" y="2959696"/>
            <a:ext cx="971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진짜 일꾼은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C++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AI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수억 개의 숫자를 계산하는 복잡한 작업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엄청나게 빠른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C++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바닥에서 다 처리함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10344-E8B3-CE7A-911A-F19889891B17}"/>
              </a:ext>
            </a:extLst>
          </p:cNvPr>
          <p:cNvSpPr txBox="1"/>
          <p:nvPr/>
        </p:nvSpPr>
        <p:spPr>
          <a:xfrm>
            <a:off x="831438" y="3881668"/>
            <a:ext cx="971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지휘관은 파이썬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하지만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C++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코드가 너무 복잡하고 사람이 쓰기 어려움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그래서 사람이 이해하기 쉬운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파이썬으로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명령을 내리면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파이썬이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뒤에 있는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C++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움직여 일을 시키는 구조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B0462-70D2-0B38-5195-2F6AFEA700C8}"/>
              </a:ext>
            </a:extLst>
          </p:cNvPr>
          <p:cNvSpPr txBox="1"/>
          <p:nvPr/>
        </p:nvSpPr>
        <p:spPr>
          <a:xfrm>
            <a:off x="3037643" y="5138696"/>
            <a:ext cx="6116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껍데기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명령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 편한 </a:t>
            </a:r>
            <a:r>
              <a:rPr lang="ko-KR" altLang="en-US" b="1" u="none" strike="noStrike" dirty="0" err="1">
                <a:effectLst/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파이썬</a:t>
            </a:r>
            <a:r>
              <a:rPr lang="ko-KR" altLang="en-US" dirty="0" err="1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으로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만들고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</a:p>
          <a:p>
            <a:pPr algn="ctr"/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알맹이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엔진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 빠른 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C++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돌리는 것이 현대 </a:t>
            </a:r>
            <a:r>
              <a:rPr lang="en-US" altLang="ko-KR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개발의 표준</a:t>
            </a:r>
          </a:p>
        </p:txBody>
      </p:sp>
    </p:spTree>
    <p:extLst>
      <p:ext uri="{BB962C8B-B14F-4D97-AF65-F5344CB8AC3E}">
        <p14:creationId xmlns:p14="http://schemas.microsoft.com/office/powerpoint/2010/main" val="408144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8B52-D2FD-C7FD-EDAE-3B5C648B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E4D6FCD-885D-1410-9221-C8872F12BD1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2BDF0E-3F72-C05A-653D-D2F1AFC8D61A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D4D7D-FFE8-A60A-91E1-9337E882AA1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BC672-DF69-4C20-F0AB-A995AFCF6E9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구현 언어별 장단점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1D024B-DE10-4CB2-A515-FD635B4A41DA}"/>
              </a:ext>
            </a:extLst>
          </p:cNvPr>
          <p:cNvSpPr txBox="1"/>
          <p:nvPr/>
        </p:nvSpPr>
        <p:spPr>
          <a:xfrm>
            <a:off x="943358" y="1170429"/>
            <a:ext cx="573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Python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7CFF35F2-CEE1-90E2-6C03-F349B9453A2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FDAB358-199D-7732-EE0F-86778DCA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68F405-BE11-5294-4F75-0CCC53424757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아이디어를 가장 빠르게 코드로 구현할 수 있는 언어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20B5C-5EE3-4637-42A8-E8882790101F}"/>
              </a:ext>
            </a:extLst>
          </p:cNvPr>
          <p:cNvSpPr txBox="1"/>
          <p:nvPr/>
        </p:nvSpPr>
        <p:spPr>
          <a:xfrm>
            <a:off x="943358" y="3770039"/>
            <a:ext cx="573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Java / Kotlin</a:t>
            </a:r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D04CCF16-3A34-C843-E379-1C78B50F7D1D}"/>
              </a:ext>
            </a:extLst>
          </p:cNvPr>
          <p:cNvSpPr/>
          <p:nvPr/>
        </p:nvSpPr>
        <p:spPr>
          <a:xfrm>
            <a:off x="639634" y="384901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5028DA-08FD-85C9-8466-777917BAB44C}"/>
              </a:ext>
            </a:extLst>
          </p:cNvPr>
          <p:cNvSpPr txBox="1"/>
          <p:nvPr/>
        </p:nvSpPr>
        <p:spPr>
          <a:xfrm>
            <a:off x="838500" y="423353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 만들어진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모델을 스마트폰 앱이나 대형 서비스에 이식할 때 유용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FBAC6E-B915-BB16-1139-5C808026AB64}"/>
              </a:ext>
            </a:extLst>
          </p:cNvPr>
          <p:cNvSpPr txBox="1"/>
          <p:nvPr/>
        </p:nvSpPr>
        <p:spPr>
          <a:xfrm>
            <a:off x="943358" y="2509719"/>
            <a:ext cx="573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C++</a:t>
            </a:r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F04746A5-9D64-A8FF-70F2-2E50A72B3D0C}"/>
              </a:ext>
            </a:extLst>
          </p:cNvPr>
          <p:cNvSpPr/>
          <p:nvPr/>
        </p:nvSpPr>
        <p:spPr>
          <a:xfrm>
            <a:off x="639634" y="258869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B593D4-B869-B517-05E0-8798162A9F1A}"/>
              </a:ext>
            </a:extLst>
          </p:cNvPr>
          <p:cNvSpPr txBox="1"/>
          <p:nvPr/>
        </p:nvSpPr>
        <p:spPr>
          <a:xfrm>
            <a:off x="838500" y="297321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속도가 생명인 실전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서비스를 작동시키는 숨은 공신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2BC838-1D62-E008-31BC-1C34D02CA446}"/>
              </a:ext>
            </a:extLst>
          </p:cNvPr>
          <p:cNvSpPr txBox="1"/>
          <p:nvPr/>
        </p:nvSpPr>
        <p:spPr>
          <a:xfrm>
            <a:off x="943358" y="4993239"/>
            <a:ext cx="573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JavaScript</a:t>
            </a:r>
          </a:p>
        </p:txBody>
      </p:sp>
      <p:sp>
        <p:nvSpPr>
          <p:cNvPr id="30" name="다이아몬드 29">
            <a:extLst>
              <a:ext uri="{FF2B5EF4-FFF2-40B4-BE49-F238E27FC236}">
                <a16:creationId xmlns:a16="http://schemas.microsoft.com/office/drawing/2014/main" id="{87278D09-5C03-287D-C77F-9D3D5DB8FBD8}"/>
              </a:ext>
            </a:extLst>
          </p:cNvPr>
          <p:cNvSpPr/>
          <p:nvPr/>
        </p:nvSpPr>
        <p:spPr>
          <a:xfrm>
            <a:off x="639634" y="507221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D9BA2-E1E7-511F-D86A-F6DC0BF8D92C}"/>
              </a:ext>
            </a:extLst>
          </p:cNvPr>
          <p:cNvSpPr txBox="1"/>
          <p:nvPr/>
        </p:nvSpPr>
        <p:spPr>
          <a:xfrm>
            <a:off x="838500" y="545673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다운로드 없는 가벼운 웹 기반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서비스를 만들 때 최고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460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28721-849D-AAB8-FB80-1F9B0FB93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E00BE5C-2A51-E9C0-6823-593226E86FF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CD9D44-FB98-4782-09A6-7F74174462F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9C7E6-57B2-2F16-21D3-97B12D13DCA4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6EB9A-B1A5-DADD-226C-9E8542540B6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구현 언어별 장단점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1596B8-3622-A6F6-7945-2AC92A183C07}"/>
              </a:ext>
            </a:extLst>
          </p:cNvPr>
          <p:cNvSpPr txBox="1"/>
          <p:nvPr/>
        </p:nvSpPr>
        <p:spPr>
          <a:xfrm>
            <a:off x="943357" y="1170429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Java / Kotlin - "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안드로이드와 대기업의 선택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03747BC-CB2F-EB4A-9C17-411BE68C5E5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83A955E-CCE9-BCDF-E3EE-35594CE1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E3B6C1-4BB7-892D-D5CD-577CB7818C30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스마트폰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안드로이드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앱에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기능을 넣을 때 가장 호환성이 좋다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BB8C5F-743F-6709-4684-7A44918E7D21}"/>
              </a:ext>
            </a:extLst>
          </p:cNvPr>
          <p:cNvSpPr txBox="1"/>
          <p:nvPr/>
        </p:nvSpPr>
        <p:spPr>
          <a:xfrm>
            <a:off x="831438" y="211484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대기업의 대규모 서버 시스템과 안정적으로 연동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B45BBF-D5F9-34B3-8CB8-6BE31EE07224}"/>
              </a:ext>
            </a:extLst>
          </p:cNvPr>
          <p:cNvSpPr txBox="1"/>
          <p:nvPr/>
        </p:nvSpPr>
        <p:spPr>
          <a:xfrm>
            <a:off x="838500" y="2876615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AI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전용 최신 기술이나 연구용 도구가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파이썬에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비해 늦게 업데이트될 수 있음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E85F22-C3FD-EA83-3524-E2675ACF7C37}"/>
              </a:ext>
            </a:extLst>
          </p:cNvPr>
          <p:cNvSpPr txBox="1"/>
          <p:nvPr/>
        </p:nvSpPr>
        <p:spPr>
          <a:xfrm>
            <a:off x="943358" y="3770039"/>
            <a:ext cx="573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JavaScript - "</a:t>
            </a:r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웹브라우저에서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바로 실행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FA9DA4C1-11AA-3C6E-7C73-ABDDC1CC1034}"/>
              </a:ext>
            </a:extLst>
          </p:cNvPr>
          <p:cNvSpPr/>
          <p:nvPr/>
        </p:nvSpPr>
        <p:spPr>
          <a:xfrm>
            <a:off x="639634" y="384901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89EC15-697D-471A-45F5-0EBDB6D557F0}"/>
              </a:ext>
            </a:extLst>
          </p:cNvPr>
          <p:cNvSpPr txBox="1"/>
          <p:nvPr/>
        </p:nvSpPr>
        <p:spPr>
          <a:xfrm>
            <a:off x="838500" y="423353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설치 없이 인터넷 창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크롬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사파리 등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에서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바로 실행할 수 있다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702DA-5421-AC0E-84A0-60938CA2A93F}"/>
              </a:ext>
            </a:extLst>
          </p:cNvPr>
          <p:cNvSpPr txBox="1"/>
          <p:nvPr/>
        </p:nvSpPr>
        <p:spPr>
          <a:xfrm>
            <a:off x="831438" y="471445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사용자가 웹사이트에 접속하자마자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웹캠으로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얼굴을 인식하는 등의 기능을 만들기 쉽다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F98DC3-5E7B-6697-4647-4043D2462257}"/>
              </a:ext>
            </a:extLst>
          </p:cNvPr>
          <p:cNvSpPr txBox="1"/>
          <p:nvPr/>
        </p:nvSpPr>
        <p:spPr>
          <a:xfrm>
            <a:off x="838500" y="5476225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대규모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데이터를 학습시키기에는 성능과 기능의 한계가 명확함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7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9E03-6487-A847-72FC-0372A9C4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5611374-0E58-0016-56D7-BF00B103BE0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87E099-D92E-407B-5510-0CBFBF5B451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523276-DEFA-422C-548E-B77AC063FEA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DA3D7-73E1-AF0E-EB15-D27ED6F3425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구현 언어별 장단점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6138E2-1073-D517-1415-977C54CB55D2}"/>
              </a:ext>
            </a:extLst>
          </p:cNvPr>
          <p:cNvSpPr txBox="1"/>
          <p:nvPr/>
        </p:nvSpPr>
        <p:spPr>
          <a:xfrm>
            <a:off x="943357" y="1170429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Java / Kotlin - "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안드로이드와 대기업의 선택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2B4D6C1-2275-A3A6-F640-B706A39FDF82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EC5C1C7-404B-4D30-917B-ED59DFBD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07E782-C41C-A2F3-AC5C-65D269CE1F76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스마트폰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안드로이드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앱에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기능을 넣을 때 가장 호환성이 좋다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008E69-21A8-7866-4721-86BA60CDE160}"/>
              </a:ext>
            </a:extLst>
          </p:cNvPr>
          <p:cNvSpPr txBox="1"/>
          <p:nvPr/>
        </p:nvSpPr>
        <p:spPr>
          <a:xfrm>
            <a:off x="831438" y="211484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대기업의 대규모 서버 시스템과 안정적으로 연동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C8E2E5-6DA4-7D4C-7355-0300DD8BFE46}"/>
              </a:ext>
            </a:extLst>
          </p:cNvPr>
          <p:cNvSpPr txBox="1"/>
          <p:nvPr/>
        </p:nvSpPr>
        <p:spPr>
          <a:xfrm>
            <a:off x="838500" y="2876615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AI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전용 최신 기술이나 연구용 도구가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파이썬에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비해 늦게 업데이트될 수 있음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20AFC-F92B-3F48-4288-F7C3B28A462E}"/>
              </a:ext>
            </a:extLst>
          </p:cNvPr>
          <p:cNvSpPr txBox="1"/>
          <p:nvPr/>
        </p:nvSpPr>
        <p:spPr>
          <a:xfrm>
            <a:off x="943358" y="3770039"/>
            <a:ext cx="573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JavaScript - "</a:t>
            </a:r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웹브라우저에서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바로 실행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3277FC38-DEB5-6FDB-FCCC-F88ACF020E34}"/>
              </a:ext>
            </a:extLst>
          </p:cNvPr>
          <p:cNvSpPr/>
          <p:nvPr/>
        </p:nvSpPr>
        <p:spPr>
          <a:xfrm>
            <a:off x="639634" y="384901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C45CBB-7DF3-13EF-B27A-D225B0437146}"/>
              </a:ext>
            </a:extLst>
          </p:cNvPr>
          <p:cNvSpPr txBox="1"/>
          <p:nvPr/>
        </p:nvSpPr>
        <p:spPr>
          <a:xfrm>
            <a:off x="838500" y="423353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설치 없이 인터넷 창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크롬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사파리 등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에서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바로 실행할 수 있다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4CC5EC-7EA1-FCD9-EFA7-4C5ED6F552CF}"/>
              </a:ext>
            </a:extLst>
          </p:cNvPr>
          <p:cNvSpPr txBox="1"/>
          <p:nvPr/>
        </p:nvSpPr>
        <p:spPr>
          <a:xfrm>
            <a:off x="831438" y="471445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사용자가 웹사이트에 접속하자마자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웹캠으로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얼굴을 인식하는 등의 기능을 만들기 쉽다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2B4BAB-7A2D-8F1A-9CA1-82F130203268}"/>
              </a:ext>
            </a:extLst>
          </p:cNvPr>
          <p:cNvSpPr txBox="1"/>
          <p:nvPr/>
        </p:nvSpPr>
        <p:spPr>
          <a:xfrm>
            <a:off x="838500" y="5476225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대규모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데이터를 학습시키기에는 성능과 기능의 한계가 명확함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077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A56C-EAFA-C05F-3989-E9365B9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8EAE992-AE50-9806-F47A-38B24A1D833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CEDF74-08AF-2251-5D9E-7BBE5BE53F8E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5A8E55-CDA0-9674-074B-95FBD178A12F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84A41-2648-6653-4FBC-FF7DF684AEF7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B2F7D-1689-9C36-891F-A1E13F8E4D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endParaRPr lang="ko-KR" altLang="en-US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716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26C1-9F5D-6FCB-A5A9-E3C884A8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84E09E7-588A-79A7-838C-DE2FE15DFF7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25B6427-A988-9B21-1E59-BE56C2CA087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58239-229D-9EE9-1347-097851C3994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AA57A-966F-7B1A-55BE-41EBD48C1F3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4D39F-1653-E563-3EBE-A2B277F12034}"/>
              </a:ext>
            </a:extLst>
          </p:cNvPr>
          <p:cNvSpPr txBox="1"/>
          <p:nvPr/>
        </p:nvSpPr>
        <p:spPr>
          <a:xfrm>
            <a:off x="943357" y="1170429"/>
            <a:ext cx="3397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기계는 어떻게 배우는가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56427FD-8EAF-B2D9-F3B1-C1528202217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1DD8B4B-257D-D556-4003-0F8E0892A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4C32178E-26A4-3106-9009-7A4245FBB935}"/>
              </a:ext>
            </a:extLst>
          </p:cNvPr>
          <p:cNvSpPr/>
          <p:nvPr/>
        </p:nvSpPr>
        <p:spPr>
          <a:xfrm>
            <a:off x="973585" y="1904807"/>
            <a:ext cx="10244830" cy="669717"/>
          </a:xfrm>
          <a:prstGeom prst="roundRect">
            <a:avLst>
              <a:gd name="adj" fmla="val 782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컴퓨터는 주입식 교육이 아니라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수많은 </a:t>
            </a:r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정답지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보고 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스스로 공식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만든다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78528-F4F9-F4C9-9197-18AF30D946DB}"/>
              </a:ext>
            </a:extLst>
          </p:cNvPr>
          <p:cNvSpPr txBox="1"/>
          <p:nvPr/>
        </p:nvSpPr>
        <p:spPr>
          <a:xfrm>
            <a:off x="943357" y="2812649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기존의 코딩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전통적 프로그래밍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3FADB7BF-5B95-E819-B26C-ED8559D6D3D6}"/>
              </a:ext>
            </a:extLst>
          </p:cNvPr>
          <p:cNvSpPr/>
          <p:nvPr/>
        </p:nvSpPr>
        <p:spPr>
          <a:xfrm>
            <a:off x="639634" y="289162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AA09B-5150-A067-9CFF-CCA01B221F84}"/>
              </a:ext>
            </a:extLst>
          </p:cNvPr>
          <p:cNvSpPr txBox="1"/>
          <p:nvPr/>
        </p:nvSpPr>
        <p:spPr>
          <a:xfrm>
            <a:off x="838500" y="327614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인간이 규칙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(Rule)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직접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정해줌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299A5-F2DA-134D-6C4C-6AC23DCE4E7E}"/>
              </a:ext>
            </a:extLst>
          </p:cNvPr>
          <p:cNvSpPr txBox="1"/>
          <p:nvPr/>
        </p:nvSpPr>
        <p:spPr>
          <a:xfrm>
            <a:off x="831438" y="3757062"/>
            <a:ext cx="101413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지름이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7cm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이상이고 빨간색이면 사과라고 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!" →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규칙에서 조금만 벗어나면 컴퓨터가 인식 못 함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덜 익은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청사과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F73DE8-CF8E-01B2-748D-89A7B1B4EB72}"/>
              </a:ext>
            </a:extLst>
          </p:cNvPr>
          <p:cNvSpPr txBox="1"/>
          <p:nvPr/>
        </p:nvSpPr>
        <p:spPr>
          <a:xfrm>
            <a:off x="943357" y="451836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인공지능의 코딩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머신러닝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4D65A346-ED55-5A11-9617-329349F2BD3C}"/>
              </a:ext>
            </a:extLst>
          </p:cNvPr>
          <p:cNvSpPr/>
          <p:nvPr/>
        </p:nvSpPr>
        <p:spPr>
          <a:xfrm>
            <a:off x="639634" y="459733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043E2-A0BE-3958-A13F-D7FE164BD1C9}"/>
              </a:ext>
            </a:extLst>
          </p:cNvPr>
          <p:cNvSpPr txBox="1"/>
          <p:nvPr/>
        </p:nvSpPr>
        <p:spPr>
          <a:xfrm>
            <a:off x="838500" y="4981867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장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정답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이건 사과야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",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이건 귤이야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통째로 컴퓨터에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던져줌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D82D10-9458-136F-273B-D9553451D45A}"/>
              </a:ext>
            </a:extLst>
          </p:cNvPr>
          <p:cNvSpPr txBox="1"/>
          <p:nvPr/>
        </p:nvSpPr>
        <p:spPr>
          <a:xfrm>
            <a:off x="831438" y="5462781"/>
            <a:ext cx="11002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컴퓨터가 스스로 사진들을 비교하며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아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사과는 겉이 매끄럽고 꼭지가 있구나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하는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규칙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스스로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찾아냄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642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C3B9-58F7-4094-1FD8-B30D107C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29F8DE4-0D4D-E51A-E03F-C1543DD5F22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D07D9E3-1E90-7980-46C2-F1FA7794D3C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C6B30-D9E5-62DA-BC24-DBC6114ED77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26682-9504-FF17-A3E2-262034B6C585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 과정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DBAC7-1B1D-4E43-3406-00022D526989}"/>
              </a:ext>
            </a:extLst>
          </p:cNvPr>
          <p:cNvSpPr txBox="1"/>
          <p:nvPr/>
        </p:nvSpPr>
        <p:spPr>
          <a:xfrm>
            <a:off x="943357" y="1170429"/>
            <a:ext cx="401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it-IT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Guess)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42DD4B4-793D-5B17-132C-BA596EA1A5F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595BD8C-3A30-2484-A6AF-7077B955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6C75C4-BCC8-9FC7-7D96-C7E5ED6FF16A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처음에는 아무것도 모르는 상태에서 찍음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사과 사진을 보고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이라고 예측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8C254-C75A-F7DF-1B8E-295B4F50F243}"/>
              </a:ext>
            </a:extLst>
          </p:cNvPr>
          <p:cNvSpPr txBox="1"/>
          <p:nvPr/>
        </p:nvSpPr>
        <p:spPr>
          <a:xfrm>
            <a:off x="943357" y="2508219"/>
            <a:ext cx="5572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채점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(Loss Calculation)</a:t>
            </a: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C206E44B-CA8C-21EC-D9BB-F5F92239C82F}"/>
              </a:ext>
            </a:extLst>
          </p:cNvPr>
          <p:cNvSpPr/>
          <p:nvPr/>
        </p:nvSpPr>
        <p:spPr>
          <a:xfrm>
            <a:off x="639634" y="258719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09E063-4B3B-2300-3BCA-682576C431BE}"/>
              </a:ext>
            </a:extLst>
          </p:cNvPr>
          <p:cNvSpPr txBox="1"/>
          <p:nvPr/>
        </p:nvSpPr>
        <p:spPr>
          <a:xfrm>
            <a:off x="838500" y="297171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/>
              <a:t>인간이 준 정답지와 비교하여 얼마나 틀렸는지 점수를 매김</a:t>
            </a:r>
            <a:r>
              <a:rPr lang="en-US" altLang="ko-KR" sz="2000" dirty="0"/>
              <a:t>. (</a:t>
            </a:r>
            <a:r>
              <a:rPr lang="ko-KR" altLang="en-US" sz="2000" dirty="0"/>
              <a:t>틀린 점수</a:t>
            </a:r>
            <a:r>
              <a:rPr lang="en-US" altLang="ko-KR" sz="2000" dirty="0"/>
              <a:t>: 100</a:t>
            </a:r>
            <a:r>
              <a:rPr lang="ko-KR" altLang="en-US" sz="2000" dirty="0"/>
              <a:t>점</a:t>
            </a:r>
            <a:r>
              <a:rPr lang="en-US" altLang="ko-KR" sz="2000" dirty="0"/>
              <a:t>)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80A54-13FC-0821-A307-0A06CC48543A}"/>
              </a:ext>
            </a:extLst>
          </p:cNvPr>
          <p:cNvSpPr txBox="1"/>
          <p:nvPr/>
        </p:nvSpPr>
        <p:spPr>
          <a:xfrm>
            <a:off x="943357" y="4028874"/>
            <a:ext cx="5572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수정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(Update)</a:t>
            </a:r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05468C25-ED47-3C15-1D26-DE9F5B95F18F}"/>
              </a:ext>
            </a:extLst>
          </p:cNvPr>
          <p:cNvSpPr/>
          <p:nvPr/>
        </p:nvSpPr>
        <p:spPr>
          <a:xfrm>
            <a:off x="639634" y="4107845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EFEA9D-18C5-BB26-0738-43DFF1A8F04C}"/>
              </a:ext>
            </a:extLst>
          </p:cNvPr>
          <p:cNvSpPr txBox="1"/>
          <p:nvPr/>
        </p:nvSpPr>
        <p:spPr>
          <a:xfrm>
            <a:off x="838500" y="4492373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/>
              <a:t>틀린 점수를 줄이기 위해 내부 계산 공식을 아주 미세하게 수정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B17DE0-4E55-8F46-2CAE-02E1F6E8D59A}"/>
              </a:ext>
            </a:extLst>
          </p:cNvPr>
          <p:cNvSpPr txBox="1"/>
          <p:nvPr/>
        </p:nvSpPr>
        <p:spPr>
          <a:xfrm>
            <a:off x="831438" y="5013161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/>
              <a:t>이 과정을 수억 번 반복하면서 </a:t>
            </a:r>
            <a:r>
              <a:rPr lang="ko-KR" altLang="en-US" sz="2000" dirty="0" err="1"/>
              <a:t>정답률</a:t>
            </a:r>
            <a:r>
              <a:rPr lang="ko-KR" altLang="en-US" sz="2000" dirty="0"/>
              <a:t> </a:t>
            </a:r>
            <a:r>
              <a:rPr lang="en-US" altLang="ko-KR" sz="2000" dirty="0"/>
              <a:t>99%</a:t>
            </a:r>
            <a:r>
              <a:rPr lang="ko-KR" altLang="en-US" sz="2000" dirty="0"/>
              <a:t>의 완벽한 </a:t>
            </a:r>
            <a:r>
              <a:rPr lang="en-US" altLang="ko-KR" sz="2000" dirty="0"/>
              <a:t>AI</a:t>
            </a:r>
            <a:r>
              <a:rPr lang="ko-KR" altLang="en-US" sz="2000" dirty="0"/>
              <a:t>가 탄생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6124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9D97D-2D81-591E-550F-17EAC791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818BC4E5-9784-D9B0-96B7-97FB5324A64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936D111-DC01-FF5A-7C1D-8F1120FD9AE8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CF0AD-28A9-659C-F6D0-9B05996B4D74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76DFE-D496-C9A1-B228-98AAC238278D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 과정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9B44BA7-30D8-B513-4CFF-62DC6156C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BDCA50E1-E775-177C-7561-E758DE1E3B0A}"/>
              </a:ext>
            </a:extLst>
          </p:cNvPr>
          <p:cNvSpPr/>
          <p:nvPr/>
        </p:nvSpPr>
        <p:spPr>
          <a:xfrm>
            <a:off x="973585" y="1157514"/>
            <a:ext cx="10244830" cy="50880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from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sklearn.neighbors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import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KNeighborsClassifier</a:t>
            </a:r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1.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데이터 준비 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무게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g,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표면 거칠기 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1~10)</a:t>
            </a:r>
          </a:p>
          <a:p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[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오렌지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오렌지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사과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사과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 = [[150, 7], [170, 8], [140, 1], [130, 2]]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 = ["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오렌지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", "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오렌지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", "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사과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", "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사과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"]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2. AI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모델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기계</a:t>
            </a:r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데려오기</a:t>
            </a: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model =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KNeighborsClassifier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n_neighbors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=1)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3.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훈련 시키기</a:t>
            </a: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model.</a:t>
            </a:r>
            <a:r>
              <a:rPr lang="en-US" altLang="ko-KR" sz="22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Y)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4. </a:t>
            </a:r>
            <a:r>
              <a:rPr lang="ko-KR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새로운 과일 보여주고 맞춰보게 하기</a:t>
            </a:r>
            <a:endParaRPr lang="en-US" altLang="ko-KR" sz="22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model.predict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([[160, 6]]))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정답 출력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['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오렌지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2412416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5337-5057-7BB3-5D3C-7B6395E2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42B154E-F4C0-78D2-DD27-319D078C8B6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D93A39-AA5A-DF80-9A37-50CA88BD1FA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9B1D4E-FD2E-5A74-AA6B-2B1CDDE3CEC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46F28-0B2E-DEE1-A767-FFA18A1C35DA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Unsupervised Learning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EF1CAA-8277-686B-4803-366EBC8865EF}"/>
              </a:ext>
            </a:extLst>
          </p:cNvPr>
          <p:cNvSpPr txBox="1"/>
          <p:nvPr/>
        </p:nvSpPr>
        <p:spPr>
          <a:xfrm>
            <a:off x="943357" y="1170429"/>
            <a:ext cx="507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정답지가 없을 때는 어떻게 학습하는가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CE78BED-EB59-2A6F-099E-15A2A7CBA45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ED871F9-C189-A192-5CA2-318CDDE7F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FE4FF69C-C1C3-80E7-FC80-2377D70B6641}"/>
              </a:ext>
            </a:extLst>
          </p:cNvPr>
          <p:cNvSpPr/>
          <p:nvPr/>
        </p:nvSpPr>
        <p:spPr>
          <a:xfrm>
            <a:off x="973585" y="1904807"/>
            <a:ext cx="10244830" cy="669717"/>
          </a:xfrm>
          <a:prstGeom prst="roundRect">
            <a:avLst>
              <a:gd name="adj" fmla="val 782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정답을 알려주지 않아도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AI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스스로 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끼리끼리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모으는 능력이 있음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3CC18-532B-5BC0-4165-901185F1907A}"/>
              </a:ext>
            </a:extLst>
          </p:cNvPr>
          <p:cNvSpPr txBox="1"/>
          <p:nvPr/>
        </p:nvSpPr>
        <p:spPr>
          <a:xfrm>
            <a:off x="943357" y="2812649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비지도학습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it-IT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Unsupervised Learning)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이란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3657A281-F632-EA96-1FFA-B0BDDD4C5996}"/>
              </a:ext>
            </a:extLst>
          </p:cNvPr>
          <p:cNvSpPr/>
          <p:nvPr/>
        </p:nvSpPr>
        <p:spPr>
          <a:xfrm>
            <a:off x="639634" y="289162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4FCDC-4676-75B6-B7F8-BD704AEC0FD7}"/>
              </a:ext>
            </a:extLst>
          </p:cNvPr>
          <p:cNvSpPr txBox="1"/>
          <p:nvPr/>
        </p:nvSpPr>
        <p:spPr>
          <a:xfrm>
            <a:off x="838500" y="327614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정답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이건 사과야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")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없이 오직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데이터만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던져주는 방식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CB7A5-8D09-05EE-5DA0-0F2660F2A36B}"/>
              </a:ext>
            </a:extLst>
          </p:cNvPr>
          <p:cNvSpPr txBox="1"/>
          <p:nvPr/>
        </p:nvSpPr>
        <p:spPr>
          <a:xfrm>
            <a:off x="831438" y="3757062"/>
            <a:ext cx="101413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컴퓨터는 이 물건이 무엇인지는 이름표를 못 붙이지만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그룹은 빨갛고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둥글네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",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 그룹은 노랗고 까칠하네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라며 특징이 비슷한 것끼리 묶어낸다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이를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클러스터링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군집화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라고 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49F41-A170-F82B-B521-33FD693D7C7A}"/>
              </a:ext>
            </a:extLst>
          </p:cNvPr>
          <p:cNvSpPr txBox="1"/>
          <p:nvPr/>
        </p:nvSpPr>
        <p:spPr>
          <a:xfrm>
            <a:off x="943357" y="451836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우리 삶 속의 비지도학습 예시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유튜브 알고리즘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6A09D680-82EC-5393-B824-90ABB1D36911}"/>
              </a:ext>
            </a:extLst>
          </p:cNvPr>
          <p:cNvSpPr/>
          <p:nvPr/>
        </p:nvSpPr>
        <p:spPr>
          <a:xfrm>
            <a:off x="639634" y="459733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7D9101-3343-4D9F-ACF2-7CBABD7AEE10}"/>
              </a:ext>
            </a:extLst>
          </p:cNvPr>
          <p:cNvSpPr txBox="1"/>
          <p:nvPr/>
        </p:nvSpPr>
        <p:spPr>
          <a:xfrm>
            <a:off x="838500" y="4981867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유튜브는 나에게 어떤 영상이 정답인지 모름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267E6-C899-F3A2-1E49-29A7D1C256A8}"/>
              </a:ext>
            </a:extLst>
          </p:cNvPr>
          <p:cNvSpPr txBox="1"/>
          <p:nvPr/>
        </p:nvSpPr>
        <p:spPr>
          <a:xfrm>
            <a:off x="831438" y="5462781"/>
            <a:ext cx="11002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하지만 축구 영상을 자주 보는 사람들의 시청 패턴을 분석해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축구 좋아하는 그룹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나를 묶은 뒤 그 그룹이 좋아하는 다른 영상을 추천해 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95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DB90-3570-762A-874E-F6DED821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0B09B73-FEA8-4AC3-F28F-0165C1BCE9F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3135EFC-41E1-3AF6-B641-D5C01C58DB7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60F41B-2D39-D52A-57F5-48E592BDF2E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AA949-67C2-FA42-F262-2D66D426A9C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Reinforcement Learning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B1E8FF-11F2-2477-4916-C185633DEAC8}"/>
              </a:ext>
            </a:extLst>
          </p:cNvPr>
          <p:cNvSpPr txBox="1"/>
          <p:nvPr/>
        </p:nvSpPr>
        <p:spPr>
          <a:xfrm>
            <a:off x="943357" y="1170429"/>
            <a:ext cx="6593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강화학습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it-IT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Reinforcement Learning)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이란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8F2C9DA-2521-C929-7921-435ECEA5935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EB04CAF-5193-E2EA-42DC-99E62E95C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D3AED7EE-948A-9731-6284-E73C7D8CA9D4}"/>
              </a:ext>
            </a:extLst>
          </p:cNvPr>
          <p:cNvSpPr/>
          <p:nvPr/>
        </p:nvSpPr>
        <p:spPr>
          <a:xfrm>
            <a:off x="973585" y="1904807"/>
            <a:ext cx="10244830" cy="669717"/>
          </a:xfrm>
          <a:prstGeom prst="roundRect">
            <a:avLst>
              <a:gd name="adj" fmla="val 782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정답지도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데이터도 없을 땐 일단 부딪히며 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보상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향해 달린다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841123-1EA3-E04B-9D18-8B4AE2B81283}"/>
              </a:ext>
            </a:extLst>
          </p:cNvPr>
          <p:cNvSpPr txBox="1"/>
          <p:nvPr/>
        </p:nvSpPr>
        <p:spPr>
          <a:xfrm>
            <a:off x="838500" y="2937574"/>
            <a:ext cx="971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아무런 지식 없이 가상 세계에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던져놓고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잘하면 보상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(+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점수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못하면 벌점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(-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점수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주며 키우는 방식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346B9-751F-8606-6402-79721F32463C}"/>
              </a:ext>
            </a:extLst>
          </p:cNvPr>
          <p:cNvSpPr txBox="1"/>
          <p:nvPr/>
        </p:nvSpPr>
        <p:spPr>
          <a:xfrm>
            <a:off x="943357" y="4278967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알파고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D568EB46-4730-6B79-6BB3-D85A25F288C6}"/>
              </a:ext>
            </a:extLst>
          </p:cNvPr>
          <p:cNvSpPr/>
          <p:nvPr/>
        </p:nvSpPr>
        <p:spPr>
          <a:xfrm>
            <a:off x="639634" y="4357938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78E21-CCA5-A05E-9A5B-57922F2EA997}"/>
              </a:ext>
            </a:extLst>
          </p:cNvPr>
          <p:cNvSpPr txBox="1"/>
          <p:nvPr/>
        </p:nvSpPr>
        <p:spPr>
          <a:xfrm>
            <a:off x="838500" y="4742466"/>
            <a:ext cx="971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이세돌을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이긴 구글의 알파고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(AlphaGo)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 고전 오락실 게임을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번 넘게 플레이하며 인간보다 게임을 더 잘하게 된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바로 이 방식을 썼음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8828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7373-21B1-C065-4643-FC59FBA6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2A47FB12-2AA3-FCD7-7EE8-87E06F45F0C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A7828AC-9C41-CF85-5673-391FC672F3BF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B1D0AA-34B1-9FFD-A1E7-3B04D31F123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78DB-3AAD-9E23-ABBB-338F0C25F5F0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48D43-A8D3-13A5-08DE-F51C9ABCCC8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1573177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2AD1-A27E-33FC-B7AF-7F13E6F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47AB963A-C6DE-4407-86E6-814421B1FB8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1C6D8F-F810-3F08-33BA-22F2D45E7A1D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7F5462-9BB1-5523-49EC-F6C3DEC7B2B4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B979D-9098-DBE5-F96F-3973118E64A2}"/>
              </a:ext>
            </a:extLst>
          </p:cNvPr>
          <p:cNvSpPr txBox="1"/>
          <p:nvPr/>
        </p:nvSpPr>
        <p:spPr>
          <a:xfrm>
            <a:off x="1247539" y="331593"/>
            <a:ext cx="6227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딥러닝과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시각 지능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눈을 가진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AI)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A583B-7967-5135-6117-76320F3DC9F2}"/>
              </a:ext>
            </a:extLst>
          </p:cNvPr>
          <p:cNvSpPr txBox="1"/>
          <p:nvPr/>
        </p:nvSpPr>
        <p:spPr>
          <a:xfrm>
            <a:off x="943357" y="1170429"/>
            <a:ext cx="6593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인간의 뇌를 흉내 낸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딥러닝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4516FE6-EEA3-B7E4-8377-B9C7CE8A5CC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A478BE4-130E-0BA5-6455-B7F35FB98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75685B1E-AF50-B45E-4724-C825AD80D8E2}"/>
              </a:ext>
            </a:extLst>
          </p:cNvPr>
          <p:cNvSpPr/>
          <p:nvPr/>
        </p:nvSpPr>
        <p:spPr>
          <a:xfrm>
            <a:off x="973585" y="1904807"/>
            <a:ext cx="10244830" cy="669717"/>
          </a:xfrm>
          <a:prstGeom prst="roundRect">
            <a:avLst>
              <a:gd name="adj" fmla="val 782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컴퓨터에게 사람의 뇌세포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뉴런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통째로 복사해 심어주었다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6B025-D370-8461-3E7C-E611A1A1DFF5}"/>
              </a:ext>
            </a:extLst>
          </p:cNvPr>
          <p:cNvSpPr txBox="1"/>
          <p:nvPr/>
        </p:nvSpPr>
        <p:spPr>
          <a:xfrm>
            <a:off x="943357" y="452727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머신러닝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vs </a:t>
            </a:r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딥러닝의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가장 큰 차이점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5CEE3A12-8254-DF39-EF7B-ECA2FC881A38}"/>
              </a:ext>
            </a:extLst>
          </p:cNvPr>
          <p:cNvSpPr/>
          <p:nvPr/>
        </p:nvSpPr>
        <p:spPr>
          <a:xfrm>
            <a:off x="639634" y="460624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D9579-95AE-A9E0-CE78-B236ECAEC20A}"/>
              </a:ext>
            </a:extLst>
          </p:cNvPr>
          <p:cNvSpPr txBox="1"/>
          <p:nvPr/>
        </p:nvSpPr>
        <p:spPr>
          <a:xfrm>
            <a:off x="838500" y="4990777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인간이 힌트를 줘야 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("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크기랑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무게를 보고 과일을 골라봐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!")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EDBAB-7F2D-B800-8E49-7BA4C70D35DE}"/>
              </a:ext>
            </a:extLst>
          </p:cNvPr>
          <p:cNvSpPr txBox="1"/>
          <p:nvPr/>
        </p:nvSpPr>
        <p:spPr>
          <a:xfrm>
            <a:off x="838500" y="5577429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힌트도 안 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그냥 데이터만 던지면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 스스로 알아서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핵심 특징을 찾아냄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37872-63BB-C113-581A-C6D9EA2D191D}"/>
              </a:ext>
            </a:extLst>
          </p:cNvPr>
          <p:cNvSpPr txBox="1"/>
          <p:nvPr/>
        </p:nvSpPr>
        <p:spPr>
          <a:xfrm>
            <a:off x="943357" y="288166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뇌 세포의 연결망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인공신경망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15" name="다이아몬드 14">
            <a:extLst>
              <a:ext uri="{FF2B5EF4-FFF2-40B4-BE49-F238E27FC236}">
                <a16:creationId xmlns:a16="http://schemas.microsoft.com/office/drawing/2014/main" id="{CA6C0FC2-5949-5AFC-1EE4-F4406AFB0901}"/>
              </a:ext>
            </a:extLst>
          </p:cNvPr>
          <p:cNvSpPr/>
          <p:nvPr/>
        </p:nvSpPr>
        <p:spPr>
          <a:xfrm>
            <a:off x="639634" y="296063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9D3132-406B-0D53-7DCA-4939A81CFB42}"/>
              </a:ext>
            </a:extLst>
          </p:cNvPr>
          <p:cNvSpPr txBox="1"/>
          <p:nvPr/>
        </p:nvSpPr>
        <p:spPr>
          <a:xfrm>
            <a:off x="838499" y="3345167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우리 뇌 속 뉴런들이 신호를 주고받으며 학습하듯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 안에 수만 개의 가상 뉴런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수식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층층이 쌓아 연결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38A4F7-D1AB-5BA2-C660-219971B2C99A}"/>
              </a:ext>
            </a:extLst>
          </p:cNvPr>
          <p:cNvSpPr txBox="1"/>
          <p:nvPr/>
        </p:nvSpPr>
        <p:spPr>
          <a:xfrm>
            <a:off x="838500" y="3931819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신경망의 층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(Layer)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아주 깊고 복잡하다고 해서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(Deep)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러닝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이름이 붙음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203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0055-58A8-2554-178C-90FF5029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80C76C19-7E1C-1120-63C0-6B8B9BB9A4E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A4AEA6-20E4-5668-D10A-70EA58F1D92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3ED2C5-D824-5726-DD16-E559F977AE3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D138B-5B37-DA67-C377-6D1C03E65DC7}"/>
              </a:ext>
            </a:extLst>
          </p:cNvPr>
          <p:cNvSpPr txBox="1"/>
          <p:nvPr/>
        </p:nvSpPr>
        <p:spPr>
          <a:xfrm>
            <a:off x="1247539" y="331593"/>
            <a:ext cx="6227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딥러닝과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시각 지능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눈을 가진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AI)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DAEAFB-843B-84A8-A772-C25942FC2F55}"/>
              </a:ext>
            </a:extLst>
          </p:cNvPr>
          <p:cNvSpPr txBox="1"/>
          <p:nvPr/>
        </p:nvSpPr>
        <p:spPr>
          <a:xfrm>
            <a:off x="943357" y="1170429"/>
            <a:ext cx="6593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유튜브를 보다가 고양이를 깨달은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5B732964-6E84-B439-D789-5FAAAA911F23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000F389-5142-9FD3-508F-4642E27C9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A941B726-3B57-1778-7BF1-1BA3AA956743}"/>
              </a:ext>
            </a:extLst>
          </p:cNvPr>
          <p:cNvSpPr/>
          <p:nvPr/>
        </p:nvSpPr>
        <p:spPr>
          <a:xfrm>
            <a:off x="973585" y="1904807"/>
            <a:ext cx="10244830" cy="669717"/>
          </a:xfrm>
          <a:prstGeom prst="roundRect">
            <a:avLst>
              <a:gd name="adj" fmla="val 782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아무도 알려주지 않았는데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AI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스스로 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고양이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알아냄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B007B-9EE0-2512-615D-33BA9780901F}"/>
              </a:ext>
            </a:extLst>
          </p:cNvPr>
          <p:cNvSpPr txBox="1"/>
          <p:nvPr/>
        </p:nvSpPr>
        <p:spPr>
          <a:xfrm>
            <a:off x="943357" y="452727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컴퓨터가 스스로 찾아낸 기적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760BE9F2-0FB4-FD1F-7859-0B4A5D5CEBAC}"/>
              </a:ext>
            </a:extLst>
          </p:cNvPr>
          <p:cNvSpPr/>
          <p:nvPr/>
        </p:nvSpPr>
        <p:spPr>
          <a:xfrm>
            <a:off x="639634" y="460624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2C443-BA24-A1F1-89F5-0BBDAD17C542}"/>
              </a:ext>
            </a:extLst>
          </p:cNvPr>
          <p:cNvSpPr txBox="1"/>
          <p:nvPr/>
        </p:nvSpPr>
        <p:spPr>
          <a:xfrm>
            <a:off x="838500" y="4990777"/>
            <a:ext cx="971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실험이 끝난 후 컴퓨터의 뇌를 열어보니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뉴런들이 한 동물에게만 미친 듯이 반응하고 있었음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바로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고양이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였음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804D0-C864-4A05-6A6A-A695A487A2C8}"/>
              </a:ext>
            </a:extLst>
          </p:cNvPr>
          <p:cNvSpPr txBox="1"/>
          <p:nvPr/>
        </p:nvSpPr>
        <p:spPr>
          <a:xfrm>
            <a:off x="838500" y="5624449"/>
            <a:ext cx="971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이게 고양이야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라고 알려준 사람이 단 한 명도 없었지만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컴퓨터는 수많은 영상 속에서 공통적으로 등장하는 뾰족한 귀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동근 눈의 패턴을 조합해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스스로 고양이라는 개념을 발명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해 낸 것임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617D8-99A6-7BF7-F78E-69A8BCC3D1C9}"/>
              </a:ext>
            </a:extLst>
          </p:cNvPr>
          <p:cNvSpPr txBox="1"/>
          <p:nvPr/>
        </p:nvSpPr>
        <p:spPr>
          <a:xfrm>
            <a:off x="943357" y="288166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2012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년 구글의 무모한 실험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다이아몬드 14">
            <a:extLst>
              <a:ext uri="{FF2B5EF4-FFF2-40B4-BE49-F238E27FC236}">
                <a16:creationId xmlns:a16="http://schemas.microsoft.com/office/drawing/2014/main" id="{1B421549-5B4F-F575-F597-EBE5CDB88BAB}"/>
              </a:ext>
            </a:extLst>
          </p:cNvPr>
          <p:cNvSpPr/>
          <p:nvPr/>
        </p:nvSpPr>
        <p:spPr>
          <a:xfrm>
            <a:off x="639634" y="296063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20832-9409-0F3B-04F1-2132F6E00D15}"/>
              </a:ext>
            </a:extLst>
          </p:cNvPr>
          <p:cNvSpPr txBox="1"/>
          <p:nvPr/>
        </p:nvSpPr>
        <p:spPr>
          <a:xfrm>
            <a:off x="838499" y="3345167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16,000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대를 연결해 인간의 뇌를 흉내 낸 거대한 딥러닝 신경망을 구축함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5BDF8-13AF-4642-D954-A975982D946C}"/>
              </a:ext>
            </a:extLst>
          </p:cNvPr>
          <p:cNvSpPr txBox="1"/>
          <p:nvPr/>
        </p:nvSpPr>
        <p:spPr>
          <a:xfrm>
            <a:off x="838500" y="3931819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컴퓨터들에게 정답이나 설명 없이 오직 유튜브 영상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1,000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개를 며칠 동안 그냥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틀어줌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48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6A47-1864-3E6F-C6D4-D1BC7314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0FF4C92-0D86-95BD-5B31-77DF6E126E6D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C577C8A-6372-4041-EA3A-B247F1836EF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C4066-8035-E9D9-56EB-E8C243CA2AB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0C47C-8599-4051-E2BC-00919A15449A}"/>
              </a:ext>
            </a:extLst>
          </p:cNvPr>
          <p:cNvSpPr txBox="1"/>
          <p:nvPr/>
        </p:nvSpPr>
        <p:spPr>
          <a:xfrm>
            <a:off x="1247539" y="331593"/>
            <a:ext cx="6227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딥러닝과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시각 지능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눈을 가진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AI)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967402-9AEA-07A4-7835-94C3A0CB3047}"/>
              </a:ext>
            </a:extLst>
          </p:cNvPr>
          <p:cNvSpPr txBox="1"/>
          <p:nvPr/>
        </p:nvSpPr>
        <p:spPr>
          <a:xfrm>
            <a:off x="943357" y="1170429"/>
            <a:ext cx="6593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유튜브를 보다가 고양이를 깨달은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F980987A-4B41-37AF-0E55-0A0EED7C65C5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E8510B5-E1F4-41A1-A743-FA6317AC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5122" name="Picture 2" descr="Cat head shots">
            <a:extLst>
              <a:ext uri="{FF2B5EF4-FFF2-40B4-BE49-F238E27FC236}">
                <a16:creationId xmlns:a16="http://schemas.microsoft.com/office/drawing/2014/main" id="{1E2C9A0D-F4B6-1D8C-1990-A99B58A56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529" y="2425981"/>
            <a:ext cx="4837097" cy="272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8FF1-C913-A3DA-E09E-9CB76E97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EF099768-476D-73D6-0471-2B740ECF1EAF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8DF95CF-E79C-991D-278F-5310E6BB8DA2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BED3B15-0306-1CFF-550D-034C2F54BF3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531BD-3FC6-5708-3826-1620A7BE459E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746A-68E1-2D0D-BA44-BDD009F75289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Computer Vision</a:t>
            </a:r>
            <a:endParaRPr lang="ko-KR" altLang="en-US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750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72DF-8A97-BF4A-CE2C-44514C4B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D1A0D97-A4C4-ED3D-5BB9-D46DA387C76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5CB1B0B-8956-02DA-DAF2-96C0C347209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EBBE1-C0D5-D787-57A6-C92B13C8A45D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A2C23-5E89-F849-9E87-CBCED37784BD}"/>
              </a:ext>
            </a:extLst>
          </p:cNvPr>
          <p:cNvSpPr txBox="1"/>
          <p:nvPr/>
        </p:nvSpPr>
        <p:spPr>
          <a:xfrm>
            <a:off x="1247539" y="331593"/>
            <a:ext cx="6227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Computer Vision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DDD78-A12C-ED47-BD99-2A1BA0DC0C55}"/>
              </a:ext>
            </a:extLst>
          </p:cNvPr>
          <p:cNvSpPr txBox="1"/>
          <p:nvPr/>
        </p:nvSpPr>
        <p:spPr>
          <a:xfrm>
            <a:off x="943357" y="1170429"/>
            <a:ext cx="6593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컴퓨터의 눈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'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컴퓨터 비전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(Computer Vision)'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BFEAE68-0265-EC05-6796-3065D03DAD85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DA15A62-A32C-D0DE-B4A7-167E874C6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E49DCFF7-323B-3677-EF71-560FD0F3D535}"/>
              </a:ext>
            </a:extLst>
          </p:cNvPr>
          <p:cNvSpPr/>
          <p:nvPr/>
        </p:nvSpPr>
        <p:spPr>
          <a:xfrm>
            <a:off x="973585" y="1904807"/>
            <a:ext cx="10244830" cy="669717"/>
          </a:xfrm>
          <a:prstGeom prst="roundRect">
            <a:avLst>
              <a:gd name="adj" fmla="val 782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사진은 컴퓨터에게 그저 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숫자</a:t>
            </a:r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채워진 거대한 바둑판</a:t>
            </a:r>
            <a:r>
              <a:rPr lang="en-US" altLang="ko-KR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뿐</a:t>
            </a:r>
            <a:endParaRPr lang="en-US" altLang="ko-KR" sz="24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29E74-5EC4-B9EA-2EEB-C4D4720803CA}"/>
              </a:ext>
            </a:extLst>
          </p:cNvPr>
          <p:cNvSpPr txBox="1"/>
          <p:nvPr/>
        </p:nvSpPr>
        <p:spPr>
          <a:xfrm>
            <a:off x="943357" y="2881668"/>
            <a:ext cx="71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컴퓨터는 이미지를 어떻게 볼까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</p:txBody>
      </p:sp>
      <p:sp>
        <p:nvSpPr>
          <p:cNvPr id="15" name="다이아몬드 14">
            <a:extLst>
              <a:ext uri="{FF2B5EF4-FFF2-40B4-BE49-F238E27FC236}">
                <a16:creationId xmlns:a16="http://schemas.microsoft.com/office/drawing/2014/main" id="{7CABEB10-0AE8-8D57-35DB-10660976D7CC}"/>
              </a:ext>
            </a:extLst>
          </p:cNvPr>
          <p:cNvSpPr/>
          <p:nvPr/>
        </p:nvSpPr>
        <p:spPr>
          <a:xfrm>
            <a:off x="639634" y="296063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518212-87C8-852F-1874-97EF92FBE752}"/>
              </a:ext>
            </a:extLst>
          </p:cNvPr>
          <p:cNvSpPr txBox="1"/>
          <p:nvPr/>
        </p:nvSpPr>
        <p:spPr>
          <a:xfrm>
            <a:off x="838499" y="3345167"/>
            <a:ext cx="11106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우리는 예쁜 고양이 사진을 보지만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컴퓨터는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부터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255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까지의 숫자로 이루어진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격자판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픽셀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인식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까만색은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하얀색은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255).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0F959C7-8726-7E14-1789-D6658CFC0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27" y="4084001"/>
            <a:ext cx="4152900" cy="21431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40B5B5F-48F0-A20C-36FC-E691290DF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801" y="4022344"/>
            <a:ext cx="5220072" cy="226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50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EF7A-9601-BEFE-4C8D-0CEDB113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9A5860B-B114-DEED-658E-744E1849D5F8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4B9D599-FD14-789C-ED3C-1B7376065D6B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D711A-EED9-32DF-9C4C-15A99BF4C6D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764B6-78D9-F3F4-CF2B-7997C02EB61F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 과정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CEABDEF-6B10-790A-C4D0-75C4AE93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AF9B66C4-D0D8-0675-D7A0-869E5A1135B8}"/>
              </a:ext>
            </a:extLst>
          </p:cNvPr>
          <p:cNvSpPr/>
          <p:nvPr/>
        </p:nvSpPr>
        <p:spPr>
          <a:xfrm>
            <a:off x="523784" y="1157514"/>
            <a:ext cx="11221374" cy="50880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cv2import 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0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1. 3x3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크기의 가상의 흑백 이미지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바둑판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만들기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0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완전 검은색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255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는 완전 흰색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pixel_board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([, ,    [128, 255, 0]], 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dtype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=np.uint8)</a:t>
            </a:r>
          </a:p>
          <a:p>
            <a:endParaRPr lang="en-US" altLang="ko-KR" sz="20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2.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컴퓨터가 읽은 숫자 데이터 그대로 출력해보기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print("</a:t>
            </a:r>
            <a:r>
              <a:rPr lang="ko-KR" altLang="en-US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컴퓨터가 보는 숫자 바둑판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:")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pixel_board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endParaRPr lang="en-US" altLang="ko-KR" sz="20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3.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인간의 눈으로 볼 수 있게 화면에 띄우기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resized_img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cv2.resize(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pixel_board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(300, 300), interpolation=cv2.INTER_NEAREST)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cv2.imshow("Human Eye View", 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resized_img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cv2.waitKey(0)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3155306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BF76-E57E-FCE8-3E86-E8B8DB01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D3AE42CE-F260-181D-FF50-92CC0EC5AB4F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4B7E0F-D2F3-74AF-308D-3DC9117A6E9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CD5984-2B4C-0C72-5863-D110BBF4EFC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5A43F-7C0A-4C2E-6973-CAD8A37D86E5}"/>
              </a:ext>
            </a:extLst>
          </p:cNvPr>
          <p:cNvSpPr txBox="1"/>
          <p:nvPr/>
        </p:nvSpPr>
        <p:spPr>
          <a:xfrm>
            <a:off x="1247539" y="331593"/>
            <a:ext cx="6227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Computer Vision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6B09D2-B1F2-1DD8-6962-7669876501B4}"/>
              </a:ext>
            </a:extLst>
          </p:cNvPr>
          <p:cNvSpPr txBox="1"/>
          <p:nvPr/>
        </p:nvSpPr>
        <p:spPr>
          <a:xfrm>
            <a:off x="943357" y="1170429"/>
            <a:ext cx="837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딥러닝이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숫자를 분석하는 소름 돋는 방식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(CNN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알고리즘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36B8C4F-46C9-0D57-6DDD-632147A65D3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B688900-7CEE-62D8-F4A7-E5DEE200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F340D-3F65-170D-7223-1043443B3EC6}"/>
              </a:ext>
            </a:extLst>
          </p:cNvPr>
          <p:cNvSpPr txBox="1"/>
          <p:nvPr/>
        </p:nvSpPr>
        <p:spPr>
          <a:xfrm>
            <a:off x="838499" y="1766318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초급 뇌세포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선과 면 분석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숫자들의 차이를 분석해 이미지의 가로선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세로선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대각선 경계면을 찾아냄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A576D-7AC2-1B33-2359-63E5F16F57E7}"/>
              </a:ext>
            </a:extLst>
          </p:cNvPr>
          <p:cNvSpPr txBox="1"/>
          <p:nvPr/>
        </p:nvSpPr>
        <p:spPr>
          <a:xfrm>
            <a:off x="838499" y="2354134"/>
            <a:ext cx="11106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중급 뇌세포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부분 특징 조립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찾아낸 선들을 조각 맞추기 하듯 합쳐서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동그란 눈 모양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', 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뾰족한 귀 모양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같은 부위를 알아냄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C70D6-5EE9-F224-CEF3-B87C3EC87668}"/>
              </a:ext>
            </a:extLst>
          </p:cNvPr>
          <p:cNvSpPr txBox="1"/>
          <p:nvPr/>
        </p:nvSpPr>
        <p:spPr>
          <a:xfrm>
            <a:off x="831438" y="3249727"/>
            <a:ext cx="11106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3.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고급 뇌세포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최종 판정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귀 모양과 눈 모양이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모여있는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비율과 위치를 보고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숫자의 배열은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99.8%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확률로 고양이 얼굴이다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라고 결론을 내림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2944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E144-6583-DA9A-974F-12DB0317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8D0BCCDA-6E9B-F42C-4D27-0D8E5141ABB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58E3DB-0B8D-0C82-6A3D-46B3E3D6962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D62FB-D8EB-D9C5-FDB6-129E663B147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62EAB-99D3-AB41-B486-2E666C709E31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머신러닝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 과정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15964E1-B609-1C46-1115-366D4A0D3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E6ED299-A5C6-847A-D53E-EDB42F6FA850}"/>
              </a:ext>
            </a:extLst>
          </p:cNvPr>
          <p:cNvSpPr/>
          <p:nvPr/>
        </p:nvSpPr>
        <p:spPr>
          <a:xfrm>
            <a:off x="523784" y="1068899"/>
            <a:ext cx="11221374" cy="517665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cv2</a:t>
            </a: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1.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실습용 이미지 파일 불러오기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흑백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(Grayscale)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모드로 읽기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image = cv2.imread("cat.jpg", cv2.IMREAD_GRAYSCALE)</a:t>
            </a: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이미지 파일이 없는 경우를 대비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if image is None: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print("cat.jpg </a:t>
            </a:r>
            <a:r>
              <a:rPr lang="ko-KR" altLang="en-US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파일이 같은 폴더에 필요합니다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else:</a:t>
            </a: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# 2.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캐니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(Canny)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알고리즘으로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선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만 따내기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숫자의 변화가 급격한 부분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경계면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을 컴퓨터가 찾아냄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edges = cv2.collapse_edges = cv2.Canny(image, threshold1=100, threshold2=200)</a:t>
            </a:r>
          </a:p>
          <a:p>
            <a:endParaRPr lang="en-US" altLang="ko-KR" sz="20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# 3.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원본 흑백 사진과 컴퓨터가 찾아낸 선 사진 비교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cv2.imshow("1. Original Image", image)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cv2.imshow("2. AI Eye (Edge Detection)", edges)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cv2.waitKey(0)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4157393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91DF-F770-3E89-E1C6-7CA788C6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43ACF85-0E61-CFD1-3BE0-EDA368DBC2B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DEE541-74CF-F7E8-D652-2193BA2A16D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81208-A34F-A037-2746-9666AF031F99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7AE52-171B-51CF-99E2-5431AC3E3B8D}"/>
              </a:ext>
            </a:extLst>
          </p:cNvPr>
          <p:cNvSpPr txBox="1"/>
          <p:nvPr/>
        </p:nvSpPr>
        <p:spPr>
          <a:xfrm>
            <a:off x="1247539" y="331593"/>
            <a:ext cx="6227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Computer Vision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F881B7-8784-19CB-53EA-8914952BDFC9}"/>
              </a:ext>
            </a:extLst>
          </p:cNvPr>
          <p:cNvSpPr txBox="1"/>
          <p:nvPr/>
        </p:nvSpPr>
        <p:spPr>
          <a:xfrm>
            <a:off x="943357" y="1170429"/>
            <a:ext cx="837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웹캠으로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만들기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5487A78-E765-00F2-2450-5A28CDB76C7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F171BE9-B051-308D-6121-82F1DEE59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9880F9-B7A3-E071-C66C-96F6349C49BA}"/>
              </a:ext>
            </a:extLst>
          </p:cNvPr>
          <p:cNvSpPr txBox="1"/>
          <p:nvPr/>
        </p:nvSpPr>
        <p:spPr>
          <a:xfrm>
            <a:off x="838499" y="1766318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구글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티처블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머신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(Teachable Machine)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A5F85-AC3B-CA09-B1B5-036EA770C324}"/>
              </a:ext>
            </a:extLst>
          </p:cNvPr>
          <p:cNvSpPr txBox="1"/>
          <p:nvPr/>
        </p:nvSpPr>
        <p:spPr>
          <a:xfrm>
            <a:off x="838499" y="2354134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구글이 만든 무료 웹 도구로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웹캠만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있으면 누구나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딥러닝을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체험할 수 있음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CE961-D358-AD45-2110-1A4B052F9E61}"/>
              </a:ext>
            </a:extLst>
          </p:cNvPr>
          <p:cNvSpPr txBox="1"/>
          <p:nvPr/>
        </p:nvSpPr>
        <p:spPr>
          <a:xfrm>
            <a:off x="943357" y="3198167"/>
            <a:ext cx="837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가위바위보 게임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AI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1A2A50C5-ED89-78ED-F4BF-5A924D51B79A}"/>
              </a:ext>
            </a:extLst>
          </p:cNvPr>
          <p:cNvSpPr/>
          <p:nvPr/>
        </p:nvSpPr>
        <p:spPr>
          <a:xfrm>
            <a:off x="639634" y="3277138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90B5E-A093-9133-0AF3-885BF586402D}"/>
              </a:ext>
            </a:extLst>
          </p:cNvPr>
          <p:cNvSpPr txBox="1"/>
          <p:nvPr/>
        </p:nvSpPr>
        <p:spPr>
          <a:xfrm>
            <a:off x="838499" y="3782616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클래스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카메라 앞에서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손모양을 하고 사진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 찍기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D8FCA-2161-4081-7AAB-2EA6CB2F715A}"/>
              </a:ext>
            </a:extLst>
          </p:cNvPr>
          <p:cNvSpPr txBox="1"/>
          <p:nvPr/>
        </p:nvSpPr>
        <p:spPr>
          <a:xfrm>
            <a:off x="838499" y="4370432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클래스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2: 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바위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손모양을 하고 사진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 찍기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EDF32-989A-E543-6079-298B669C96B3}"/>
              </a:ext>
            </a:extLst>
          </p:cNvPr>
          <p:cNvSpPr txBox="1"/>
          <p:nvPr/>
        </p:nvSpPr>
        <p:spPr>
          <a:xfrm>
            <a:off x="838499" y="4925073"/>
            <a:ext cx="11106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클래스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3: 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손모양을 하고 사진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 찍기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6527F4-EDC6-63B9-59E4-82111A5E952C}"/>
              </a:ext>
            </a:extLst>
          </p:cNvPr>
          <p:cNvSpPr txBox="1"/>
          <p:nvPr/>
        </p:nvSpPr>
        <p:spPr>
          <a:xfrm>
            <a:off x="831438" y="5433919"/>
            <a:ext cx="11106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학습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(Train)'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버튼을 누르면 단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초 만에 내가 카메라에 대고 내미는 가위바위보를 실시간으로 찰떡같이 맞춰내는 시각지능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완성됨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8246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E94F-FFE1-23E1-DD40-CC6C0DC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9D23-B12E-D3ED-5765-25754E5D3F00}"/>
              </a:ext>
            </a:extLst>
          </p:cNvPr>
          <p:cNvSpPr/>
          <p:nvPr/>
        </p:nvSpPr>
        <p:spPr>
          <a:xfrm>
            <a:off x="-2380" y="0"/>
            <a:ext cx="12194380" cy="997223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latinLnBrk="0">
              <a:defRPr/>
            </a:pPr>
            <a:endParaRPr lang="en-US" altLang="ko-KR" sz="800" kern="0" dirty="0">
              <a:solidFill>
                <a:prstClr val="white"/>
              </a:solidFill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AAD6097F-65D0-7E57-DC65-9535DA0F777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99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67253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102056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1749689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5125246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658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0730784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8910483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589587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7412808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522151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1347117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3037311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693968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20944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072079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259794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58788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3465109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9552183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10185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46996196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5105607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94177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623155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635064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84235136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2090917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7260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0396748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5371576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6904841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8330677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0759531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2390807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323327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0308616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2968940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041407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75235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53224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442190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886777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811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805304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072595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7309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85049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50779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9043783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7935041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7416518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5434892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4296576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7673289"/>
                    </a:ext>
                  </a:extLst>
                </a:gridCol>
              </a:tblGrid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480675-6526-BC42-187F-13F73AE890C0}"/>
              </a:ext>
            </a:extLst>
          </p:cNvPr>
          <p:cNvGrpSpPr/>
          <p:nvPr/>
        </p:nvGrpSpPr>
        <p:grpSpPr>
          <a:xfrm>
            <a:off x="-2381" y="226018"/>
            <a:ext cx="1875632" cy="773586"/>
            <a:chOff x="357853" y="4425696"/>
            <a:chExt cx="516828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9D5A5E7-BEAF-E022-2119-36779715657B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E0381F82-8813-4511-6E08-577AA9ADBC50}"/>
                </a:ext>
              </a:extLst>
            </p:cNvPr>
            <p:cNvSpPr/>
            <p:nvPr/>
          </p:nvSpPr>
          <p:spPr>
            <a:xfrm>
              <a:off x="1097283" y="4425696"/>
              <a:ext cx="4428853" cy="2115425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  <a:gd name="connsiteX0" fmla="*/ 0 w 4428854"/>
                <a:gd name="connsiteY0" fmla="*/ 2112264 h 2115425"/>
                <a:gd name="connsiteX1" fmla="*/ 749808 w 4428854"/>
                <a:gd name="connsiteY1" fmla="*/ 1417320 h 2115425"/>
                <a:gd name="connsiteX2" fmla="*/ 1508760 w 4428854"/>
                <a:gd name="connsiteY2" fmla="*/ 722376 h 2115425"/>
                <a:gd name="connsiteX3" fmla="*/ 2258568 w 4428854"/>
                <a:gd name="connsiteY3" fmla="*/ 0 h 2115425"/>
                <a:gd name="connsiteX4" fmla="*/ 3017520 w 4428854"/>
                <a:gd name="connsiteY4" fmla="*/ 722376 h 2115425"/>
                <a:gd name="connsiteX5" fmla="*/ 4428854 w 4428854"/>
                <a:gd name="connsiteY5" fmla="*/ 2115425 h 2115425"/>
                <a:gd name="connsiteX6" fmla="*/ 3739896 w 4428854"/>
                <a:gd name="connsiteY6" fmla="*/ 2103120 h 2115425"/>
                <a:gd name="connsiteX7" fmla="*/ 0 w 4428854"/>
                <a:gd name="connsiteY7" fmla="*/ 2112264 h 211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854" h="2115425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4428854" y="2115425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3565EA2D-5E0B-7346-33C1-01EBAB5DA8CC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DC83789-3698-C129-0FD6-55E6AEB08F33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BE0F45-8736-44CE-506E-0B6A541163FB}"/>
              </a:ext>
            </a:extLst>
          </p:cNvPr>
          <p:cNvGrpSpPr/>
          <p:nvPr/>
        </p:nvGrpSpPr>
        <p:grpSpPr>
          <a:xfrm>
            <a:off x="11453886" y="48068"/>
            <a:ext cx="261865" cy="837864"/>
            <a:chOff x="3175107" y="2906014"/>
            <a:chExt cx="360000" cy="115185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ED63D5E-A2CD-4365-FD9D-A6CF40769D87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08C0B3-AEBF-1E20-22DB-FF630B9F4FD4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54E68-ED40-6E89-2D64-A8992C992422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355108" y="3266013"/>
              <a:ext cx="741" cy="791859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33BE3B-FDA1-43D6-7A55-63DA7E0A2BBE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A4BB84-1DF3-289D-C464-6711E8C892E3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2CA0F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2CA0F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7716</TotalTime>
  <Words>1764</Words>
  <Application>Microsoft Office PowerPoint</Application>
  <PresentationFormat>와이드스크린</PresentationFormat>
  <Paragraphs>205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8" baseType="lpstr">
      <vt:lpstr>Impact</vt:lpstr>
      <vt:lpstr>Arial</vt:lpstr>
      <vt:lpstr>Pretendard SemiBold</vt:lpstr>
      <vt:lpstr>맑은 고딕</vt:lpstr>
      <vt:lpstr>D2Coding ligature</vt:lpstr>
      <vt:lpstr>Pretendard Light</vt:lpstr>
      <vt:lpstr>Microsoft GothicNeo Light</vt:lpstr>
      <vt:lpstr>G마켓 산스 Medium</vt:lpstr>
      <vt:lpstr>Pretendard Medium</vt:lpstr>
      <vt:lpstr>G마켓 산스 Bold</vt:lpstr>
      <vt:lpstr>KoPub돋움체 Bold</vt:lpstr>
      <vt:lpstr>Microsoft GothicNeo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397</cp:revision>
  <dcterms:created xsi:type="dcterms:W3CDTF">2025-09-13T18:52:17Z</dcterms:created>
  <dcterms:modified xsi:type="dcterms:W3CDTF">2026-06-26T04:55:13Z</dcterms:modified>
  <cp:contentStatus>최종본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