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7" r:id="rId3"/>
    <p:sldId id="285" r:id="rId4"/>
    <p:sldId id="286" r:id="rId5"/>
    <p:sldId id="464" r:id="rId6"/>
    <p:sldId id="465" r:id="rId7"/>
    <p:sldId id="469" r:id="rId8"/>
    <p:sldId id="470" r:id="rId9"/>
    <p:sldId id="466" r:id="rId10"/>
    <p:sldId id="461" r:id="rId11"/>
    <p:sldId id="424" r:id="rId12"/>
    <p:sldId id="467" r:id="rId13"/>
    <p:sldId id="468" r:id="rId14"/>
    <p:sldId id="471" r:id="rId15"/>
    <p:sldId id="473" r:id="rId16"/>
    <p:sldId id="462" r:id="rId17"/>
    <p:sldId id="475" r:id="rId18"/>
    <p:sldId id="476" r:id="rId19"/>
    <p:sldId id="474" r:id="rId20"/>
    <p:sldId id="477" r:id="rId21"/>
    <p:sldId id="457" r:id="rId22"/>
    <p:sldId id="463" r:id="rId23"/>
    <p:sldId id="363" r:id="rId24"/>
    <p:sldId id="459" r:id="rId25"/>
    <p:sldId id="478" r:id="rId26"/>
    <p:sldId id="479" r:id="rId27"/>
    <p:sldId id="480" r:id="rId28"/>
    <p:sldId id="481" r:id="rId29"/>
    <p:sldId id="484" r:id="rId30"/>
    <p:sldId id="485" r:id="rId31"/>
    <p:sldId id="486" r:id="rId32"/>
    <p:sldId id="487" r:id="rId33"/>
    <p:sldId id="482" r:id="rId34"/>
    <p:sldId id="483" r:id="rId35"/>
    <p:sldId id="488" r:id="rId36"/>
    <p:sldId id="489" r:id="rId37"/>
    <p:sldId id="491" r:id="rId38"/>
    <p:sldId id="490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  <p:sldId id="500" r:id="rId48"/>
    <p:sldId id="501" r:id="rId49"/>
    <p:sldId id="502" r:id="rId50"/>
    <p:sldId id="503" r:id="rId51"/>
    <p:sldId id="504" r:id="rId52"/>
    <p:sldId id="505" r:id="rId53"/>
    <p:sldId id="506" r:id="rId54"/>
    <p:sldId id="507" r:id="rId55"/>
    <p:sldId id="509" r:id="rId56"/>
    <p:sldId id="508" r:id="rId57"/>
    <p:sldId id="510" r:id="rId58"/>
    <p:sldId id="511" r:id="rId59"/>
    <p:sldId id="512" r:id="rId60"/>
    <p:sldId id="513" r:id="rId61"/>
    <p:sldId id="514" r:id="rId62"/>
    <p:sldId id="282" r:id="rId63"/>
  </p:sldIdLst>
  <p:sldSz cx="12192000" cy="6858000"/>
  <p:notesSz cx="6858000" cy="9144000"/>
  <p:embeddedFontLst>
    <p:embeddedFont>
      <p:font typeface="D2Coding ligature" panose="020B0609020101020101" pitchFamily="49" charset="-127"/>
      <p:regular r:id="rId64"/>
      <p:bold r:id="rId65"/>
    </p:embeddedFont>
    <p:embeddedFont>
      <p:font typeface="G마켓 산스 Bold" panose="02000000000000000000" pitchFamily="50" charset="-127"/>
      <p:bold r:id="rId66"/>
    </p:embeddedFont>
    <p:embeddedFont>
      <p:font typeface="G마켓 산스 Medium" panose="02000000000000000000" pitchFamily="50" charset="-127"/>
      <p:regular r:id="rId67"/>
    </p:embeddedFont>
    <p:embeddedFont>
      <p:font typeface="Impact" panose="020B0806030902050204" pitchFamily="34" charset="0"/>
      <p:regular r:id="rId68"/>
    </p:embeddedFont>
    <p:embeddedFont>
      <p:font typeface="KoPub돋움체 Bold" panose="02020603020101020101" pitchFamily="18" charset="-127"/>
      <p:regular r:id="rId69"/>
      <p:bold r:id="rId70"/>
    </p:embeddedFont>
    <p:embeddedFont>
      <p:font typeface="Microsoft GothicNeo" panose="020B0500000101010101" pitchFamily="50" charset="-127"/>
      <p:regular r:id="rId71"/>
      <p:bold r:id="rId72"/>
    </p:embeddedFont>
    <p:embeddedFont>
      <p:font typeface="Microsoft GothicNeo Light" panose="020B0300000101010101" pitchFamily="50" charset="-127"/>
      <p:regular r:id="rId73"/>
    </p:embeddedFont>
    <p:embeddedFont>
      <p:font typeface="Pretendard Light" panose="02000403000000020004" pitchFamily="50" charset="-127"/>
      <p:regular r:id="rId74"/>
    </p:embeddedFont>
    <p:embeddedFont>
      <p:font typeface="Pretendard Medium" panose="02000603000000020004" pitchFamily="50" charset="-127"/>
      <p:regular r:id="rId75"/>
    </p:embeddedFont>
    <p:embeddedFont>
      <p:font typeface="Pretendard SemiBold" panose="02000703000000020004" pitchFamily="50" charset="-127"/>
      <p:bold r:id="rId76"/>
    </p:embeddedFont>
    <p:embeddedFont>
      <p:font typeface="맑은 고딕" panose="020B0503020000020004" pitchFamily="50" charset="-127"/>
      <p:regular r:id="rId77"/>
      <p:bold r:id="rId7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8B71"/>
    <a:srgbClr val="FEFBF2"/>
    <a:srgbClr val="0000FF"/>
    <a:srgbClr val="228FF4"/>
    <a:srgbClr val="008000"/>
    <a:srgbClr val="F2F3F9"/>
    <a:srgbClr val="569E85"/>
    <a:srgbClr val="E36D6B"/>
    <a:srgbClr val="EC9E9C"/>
    <a:srgbClr val="76B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5.fntdata"/><Relationship Id="rId76" Type="http://schemas.openxmlformats.org/officeDocument/2006/relationships/font" Target="fonts/font13.fntdata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font" Target="fonts/font11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C1E8A24-D2BD-4F24-BA0A-E5348FFC47D3}"/>
              </a:ext>
            </a:extLst>
          </p:cNvPr>
          <p:cNvSpPr/>
          <p:nvPr/>
        </p:nvSpPr>
        <p:spPr>
          <a:xfrm>
            <a:off x="362712" y="315468"/>
            <a:ext cx="11466576" cy="62270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rgbClr val="0C81F2">
                <a:alpha val="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FC13CBD-0234-45E7-B8BE-3097A91501E2}"/>
              </a:ext>
            </a:extLst>
          </p:cNvPr>
          <p:cNvSpPr/>
          <p:nvPr/>
        </p:nvSpPr>
        <p:spPr>
          <a:xfrm>
            <a:off x="362712" y="315468"/>
            <a:ext cx="4483608" cy="6227064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 latinLnBrk="0">
              <a:defRPr/>
            </a:pPr>
            <a:endParaRPr lang="en-US" altLang="ko-KR" sz="2800" i="1" kern="0" dirty="0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모서리가 둥근 직사각형 43">
            <a:extLst>
              <a:ext uri="{FF2B5EF4-FFF2-40B4-BE49-F238E27FC236}">
                <a16:creationId xmlns:a16="http://schemas.microsoft.com/office/drawing/2014/main" id="{6213B534-391D-4BCF-8E6E-8A262482373C}"/>
              </a:ext>
            </a:extLst>
          </p:cNvPr>
          <p:cNvSpPr/>
          <p:nvPr/>
        </p:nvSpPr>
        <p:spPr>
          <a:xfrm>
            <a:off x="6879118" y="4789647"/>
            <a:ext cx="2917371" cy="485873"/>
          </a:xfrm>
          <a:prstGeom prst="roundRect">
            <a:avLst>
              <a:gd name="adj" fmla="val 50000"/>
            </a:avLst>
          </a:prstGeom>
          <a:pattFill prst="pct5">
            <a:fgClr>
              <a:srgbClr val="0C81F2"/>
            </a:fgClr>
            <a:bgClr>
              <a:srgbClr val="0C81F2"/>
            </a:bgClr>
          </a:pattFill>
          <a:ln w="9525">
            <a:noFill/>
            <a:prstDash val="solid"/>
          </a:ln>
          <a:effectLst>
            <a:outerShdw blurRad="304800" dist="38100" dir="2700000" algn="tl" rotWithShape="0">
              <a:srgbClr val="0C81F2">
                <a:alpha val="17000"/>
              </a:srgb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Impact" panose="020B0806030902050204" pitchFamily="34" charset="0"/>
                <a:ea typeface="G마켓 산스 Medium" panose="02000000000000000000" pitchFamily="50" charset="-127"/>
                <a:cs typeface="Microsoft GothicNeo Light" panose="020B0300000101010101" pitchFamily="50" charset="-127"/>
              </a:rPr>
              <a:t>Week 11</a:t>
            </a:r>
            <a:endParaRPr lang="ko-KR" altLang="en-US" sz="2400" dirty="0">
              <a:latin typeface="Impact" panose="020B0806030902050204" pitchFamily="34" charset="0"/>
              <a:ea typeface="G마켓 산스 Medium" panose="02000000000000000000" pitchFamily="50" charset="-127"/>
              <a:cs typeface="Microsoft GothicNeo Light" panose="020B0300000101010101" pitchFamily="50" charset="-127"/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BC2E65EA-009D-40B0-BD2D-9B6AE5E03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07951"/>
              </p:ext>
            </p:extLst>
          </p:nvPr>
        </p:nvGraphicFramePr>
        <p:xfrm>
          <a:off x="362711" y="331343"/>
          <a:ext cx="4483608" cy="619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268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747268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</a:tblGrid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349254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699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842576"/>
                  </a:ext>
                </a:extLst>
              </a:tr>
              <a:tr h="68836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709023"/>
                  </a:ext>
                </a:extLst>
              </a:tr>
            </a:tbl>
          </a:graphicData>
        </a:graphic>
      </p:graphicFrame>
      <p:grpSp>
        <p:nvGrpSpPr>
          <p:cNvPr id="61" name="그룹 60">
            <a:extLst>
              <a:ext uri="{FF2B5EF4-FFF2-40B4-BE49-F238E27FC236}">
                <a16:creationId xmlns:a16="http://schemas.microsoft.com/office/drawing/2014/main" id="{71BA663E-45B6-4C2C-B2E9-DB732813B517}"/>
              </a:ext>
            </a:extLst>
          </p:cNvPr>
          <p:cNvGrpSpPr/>
          <p:nvPr/>
        </p:nvGrpSpPr>
        <p:grpSpPr>
          <a:xfrm>
            <a:off x="3175107" y="2906014"/>
            <a:ext cx="360000" cy="1519682"/>
            <a:chOff x="3175107" y="2906014"/>
            <a:chExt cx="360000" cy="1519682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13E5BC57-257D-4034-B6AA-386AF2A3C57E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DE27B153-D673-4A80-886F-3C031E7B2146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8BDBD16-0C86-4297-B1BF-2A0C2974B2E1}"/>
                </a:ext>
              </a:extLst>
            </p:cNvPr>
            <p:cNvCxnSpPr>
              <a:cxnSpLocks/>
              <a:stCxn id="41" idx="4"/>
              <a:endCxn id="63" idx="3"/>
            </p:cNvCxnSpPr>
            <p:nvPr/>
          </p:nvCxnSpPr>
          <p:spPr>
            <a:xfrm>
              <a:off x="3355107" y="3266014"/>
              <a:ext cx="741" cy="1159682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3CAF1CA6-CF89-4471-B143-123BEDD7AF54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4A8C0CC-52B3-47F9-B161-A1F5A96F225A}"/>
              </a:ext>
            </a:extLst>
          </p:cNvPr>
          <p:cNvGrpSpPr/>
          <p:nvPr/>
        </p:nvGrpSpPr>
        <p:grpSpPr>
          <a:xfrm>
            <a:off x="357853" y="4425696"/>
            <a:ext cx="4479323" cy="2131608"/>
            <a:chOff x="357853" y="4425696"/>
            <a:chExt cx="447932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D8E533F7-B42D-41B8-BB34-3271918104F7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042BF142-3614-427C-8A69-D2ECC855FB30}"/>
                </a:ext>
              </a:extLst>
            </p:cNvPr>
            <p:cNvSpPr/>
            <p:nvPr/>
          </p:nvSpPr>
          <p:spPr>
            <a:xfrm>
              <a:off x="1097280" y="4425696"/>
              <a:ext cx="3739896" cy="2112264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39896" h="2112264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3739896" y="1426464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0F16DAA9-0382-4FF1-BF15-8B7862189CE7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D323E324-A78F-46D5-918F-50D84ED6C641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</p:grpSp>
      <p:sp>
        <p:nvSpPr>
          <p:cNvPr id="69" name="타원 68">
            <a:extLst>
              <a:ext uri="{FF2B5EF4-FFF2-40B4-BE49-F238E27FC236}">
                <a16:creationId xmlns:a16="http://schemas.microsoft.com/office/drawing/2014/main" id="{08C90F95-48B7-4B07-9B5C-47278389F460}"/>
              </a:ext>
            </a:extLst>
          </p:cNvPr>
          <p:cNvSpPr/>
          <p:nvPr/>
        </p:nvSpPr>
        <p:spPr>
          <a:xfrm>
            <a:off x="3307842" y="4408239"/>
            <a:ext cx="94527" cy="94527"/>
          </a:xfrm>
          <a:prstGeom prst="ellipse">
            <a:avLst/>
          </a:prstGeom>
          <a:solidFill>
            <a:srgbClr val="66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prstClr val="white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7D9E3-CFB0-B4D3-392E-EB0BB59875EF}"/>
              </a:ext>
            </a:extLst>
          </p:cNvPr>
          <p:cNvSpPr txBox="1"/>
          <p:nvPr/>
        </p:nvSpPr>
        <p:spPr>
          <a:xfrm>
            <a:off x="5286104" y="1284424"/>
            <a:ext cx="61033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5400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54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sz="54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중급</a:t>
            </a:r>
            <a:r>
              <a:rPr lang="ko-KR" alt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CD5073-5AFE-3DAE-DF88-DF3DFA677969}"/>
              </a:ext>
            </a:extLst>
          </p:cNvPr>
          <p:cNvSpPr txBox="1"/>
          <p:nvPr/>
        </p:nvSpPr>
        <p:spPr>
          <a:xfrm>
            <a:off x="5286104" y="3428999"/>
            <a:ext cx="61033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MY PAUL SCHOOL </a:t>
            </a:r>
          </a:p>
          <a:p>
            <a:pPr algn="ctr"/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PYTHON 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INTERMEDIATE</a:t>
            </a:r>
            <a:r>
              <a:rPr lang="en-US" altLang="ko-KR" sz="18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 C</a:t>
            </a:r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LASS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  <a:p>
            <a:pPr algn="ctr"/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CHOI JAE SEONG</a:t>
            </a:r>
            <a:endParaRPr lang="en-US" altLang="ko-KR" sz="18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526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7038635" y="1705319"/>
            <a:ext cx="6858686" cy="3448048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14"/>
              <a:gd name="connsiteY0" fmla="*/ 27000 h 35000"/>
              <a:gd name="connsiteX1" fmla="*/ 10014 w 10014"/>
              <a:gd name="connsiteY1" fmla="*/ 0 h 35000"/>
              <a:gd name="connsiteX2" fmla="*/ 10000 w 10014"/>
              <a:gd name="connsiteY2" fmla="*/ 35000 h 35000"/>
              <a:gd name="connsiteX3" fmla="*/ 0 w 10014"/>
              <a:gd name="connsiteY3" fmla="*/ 35000 h 35000"/>
              <a:gd name="connsiteX4" fmla="*/ 0 w 10014"/>
              <a:gd name="connsiteY4" fmla="*/ 27000 h 35000"/>
              <a:gd name="connsiteX0" fmla="*/ 0 w 10001"/>
              <a:gd name="connsiteY0" fmla="*/ 27395 h 35395"/>
              <a:gd name="connsiteX1" fmla="*/ 10000 w 10001"/>
              <a:gd name="connsiteY1" fmla="*/ 0 h 35395"/>
              <a:gd name="connsiteX2" fmla="*/ 10000 w 10001"/>
              <a:gd name="connsiteY2" fmla="*/ 35395 h 35395"/>
              <a:gd name="connsiteX3" fmla="*/ 0 w 10001"/>
              <a:gd name="connsiteY3" fmla="*/ 35395 h 35395"/>
              <a:gd name="connsiteX4" fmla="*/ 0 w 10001"/>
              <a:gd name="connsiteY4" fmla="*/ 27395 h 35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1" h="35395">
                <a:moveTo>
                  <a:pt x="0" y="27395"/>
                </a:moveTo>
                <a:lnTo>
                  <a:pt x="10000" y="0"/>
                </a:lnTo>
                <a:cubicBezTo>
                  <a:pt x="9995" y="11667"/>
                  <a:pt x="10005" y="23728"/>
                  <a:pt x="10000" y="35395"/>
                </a:cubicBezTo>
                <a:lnTo>
                  <a:pt x="0" y="35395"/>
                </a:lnTo>
                <a:lnTo>
                  <a:pt x="0" y="27395"/>
                </a:lnTo>
                <a:close/>
              </a:path>
            </a:pathLst>
          </a:cu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1219200" y="442912"/>
            <a:ext cx="9753600" cy="5972175"/>
          </a:xfrm>
          <a:prstGeom prst="roundRect">
            <a:avLst>
              <a:gd name="adj" fmla="val 4705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2000">
                <a:schemeClr val="bg1"/>
              </a:gs>
              <a:gs pos="84000">
                <a:srgbClr val="9DD1FB"/>
              </a:gs>
            </a:gsLst>
            <a:lin ang="126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defRPr/>
            </a:pPr>
            <a:endParaRPr lang="en-US" altLang="ko-KR" sz="4400" b="1" i="1" kern="0" dirty="0">
              <a:solidFill>
                <a:srgbClr val="44546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79AF3E-8830-AE22-A9F8-F1675930F293}"/>
              </a:ext>
            </a:extLst>
          </p:cNvPr>
          <p:cNvSpPr txBox="1"/>
          <p:nvPr/>
        </p:nvSpPr>
        <p:spPr>
          <a:xfrm>
            <a:off x="1519469" y="1820131"/>
            <a:ext cx="86720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4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Dynamic Programming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B557DE-FD49-3860-3838-69387BA332BA}"/>
              </a:ext>
            </a:extLst>
          </p:cNvPr>
          <p:cNvSpPr txBox="1"/>
          <p:nvPr/>
        </p:nvSpPr>
        <p:spPr>
          <a:xfrm>
            <a:off x="1519470" y="1112245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11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8DA91F-DDCB-AD08-3526-2F1A064B66B8}"/>
              </a:ext>
            </a:extLst>
          </p:cNvPr>
          <p:cNvSpPr txBox="1"/>
          <p:nvPr/>
        </p:nvSpPr>
        <p:spPr>
          <a:xfrm>
            <a:off x="1519470" y="5770121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876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F0B1E86-8EED-4ABD-BE12-DB3F55496EB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E6CF24D-314C-4E08-AC41-BE6EADD5B41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AE31-2D86-E093-DB02-6DDA040B8148}"/>
              </a:ext>
            </a:extLst>
          </p:cNvPr>
          <p:cNvSpPr txBox="1"/>
          <p:nvPr/>
        </p:nvSpPr>
        <p:spPr>
          <a:xfrm>
            <a:off x="782624" y="1289798"/>
            <a:ext cx="61033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73BEF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2CA0F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9428A6-7E52-039D-B855-D2F802FCD221}"/>
              </a:ext>
            </a:extLst>
          </p:cNvPr>
          <p:cNvSpPr txBox="1"/>
          <p:nvPr/>
        </p:nvSpPr>
        <p:spPr>
          <a:xfrm>
            <a:off x="1759952" y="210472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Recursive Function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EB637-AE02-0604-3333-825B85A047F4}"/>
              </a:ext>
            </a:extLst>
          </p:cNvPr>
          <p:cNvSpPr txBox="1"/>
          <p:nvPr/>
        </p:nvSpPr>
        <p:spPr>
          <a:xfrm>
            <a:off x="873574" y="210472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11.1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9BD61D-5685-D1D2-08CE-FD1B45FE6BB2}"/>
              </a:ext>
            </a:extLst>
          </p:cNvPr>
          <p:cNvSpPr txBox="1"/>
          <p:nvPr/>
        </p:nvSpPr>
        <p:spPr>
          <a:xfrm>
            <a:off x="1759952" y="2734988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Factorial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BAEC9-7590-023E-98F0-EC6F6A803E37}"/>
              </a:ext>
            </a:extLst>
          </p:cNvPr>
          <p:cNvSpPr txBox="1"/>
          <p:nvPr/>
        </p:nvSpPr>
        <p:spPr>
          <a:xfrm>
            <a:off x="873574" y="2734988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11.2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FA8ACC2-C2A2-1F10-B166-A1E51BC1E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3775" y="4480610"/>
            <a:ext cx="2069867" cy="178943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8BA4FC-BCF2-1168-581D-903B2616F664}"/>
              </a:ext>
            </a:extLst>
          </p:cNvPr>
          <p:cNvSpPr txBox="1"/>
          <p:nvPr/>
        </p:nvSpPr>
        <p:spPr>
          <a:xfrm>
            <a:off x="1759952" y="3365250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Fibonacci Sequence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F26791-0100-FD7A-B3D3-9E438F13192E}"/>
              </a:ext>
            </a:extLst>
          </p:cNvPr>
          <p:cNvSpPr txBox="1"/>
          <p:nvPr/>
        </p:nvSpPr>
        <p:spPr>
          <a:xfrm>
            <a:off x="873574" y="3365250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11.3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1F971C-7E24-3B5F-E0FA-829B016D4FD8}"/>
              </a:ext>
            </a:extLst>
          </p:cNvPr>
          <p:cNvSpPr txBox="1"/>
          <p:nvPr/>
        </p:nvSpPr>
        <p:spPr>
          <a:xfrm>
            <a:off x="1759952" y="3995512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Dynamic Programming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DD559-2CA7-5CAF-F0D3-25CEF635CDAA}"/>
              </a:ext>
            </a:extLst>
          </p:cNvPr>
          <p:cNvSpPr txBox="1"/>
          <p:nvPr/>
        </p:nvSpPr>
        <p:spPr>
          <a:xfrm>
            <a:off x="873574" y="3995512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11.4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919643-ECE4-F6BB-952D-B3A3179CD511}"/>
              </a:ext>
            </a:extLst>
          </p:cNvPr>
          <p:cNvSpPr txBox="1"/>
          <p:nvPr/>
        </p:nvSpPr>
        <p:spPr>
          <a:xfrm>
            <a:off x="1759952" y="4625774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064F2A-7148-DF97-D4BA-89273D6FD691}"/>
              </a:ext>
            </a:extLst>
          </p:cNvPr>
          <p:cNvSpPr txBox="1"/>
          <p:nvPr/>
        </p:nvSpPr>
        <p:spPr>
          <a:xfrm>
            <a:off x="873574" y="4625774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11.5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CFDC6-FE8B-A7AA-A9E5-CDD838FD86DD}"/>
              </a:ext>
            </a:extLst>
          </p:cNvPr>
          <p:cNvSpPr txBox="1"/>
          <p:nvPr/>
        </p:nvSpPr>
        <p:spPr>
          <a:xfrm>
            <a:off x="1759952" y="5256036"/>
            <a:ext cx="86720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C18472-0006-5B26-91B2-657E94CC56D7}"/>
              </a:ext>
            </a:extLst>
          </p:cNvPr>
          <p:cNvSpPr txBox="1"/>
          <p:nvPr/>
        </p:nvSpPr>
        <p:spPr>
          <a:xfrm>
            <a:off x="873574" y="5256036"/>
            <a:ext cx="886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63D1C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11.6</a:t>
            </a:r>
            <a:endParaRPr lang="ko-KR" altLang="en-US" sz="2800" dirty="0">
              <a:solidFill>
                <a:srgbClr val="63D1CD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344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Recursive Function</a:t>
            </a: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FC572-9FE2-E9F8-11AB-A21395CA1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3A614FA-49C4-BA5B-F17B-AA85F8933BB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5310089-0131-1F84-5CFE-37ED78A2CB5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5C199-824A-9CE1-D8AF-416BDFF8B64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00CFB3-4CFD-EAA9-3EDA-5FB372212E84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함수의 개념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8E4C-26BA-FE1D-11AA-C4205762B6C3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Recursive Function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4BA07698-F9F5-E8AE-8C1E-8ABF4E90E7E4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235DB21-73DB-EF57-FCD1-EBF341D88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531D0E-F755-5012-4859-B1449BDF9353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(Recursive Function)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함수 안에서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자기 자신을 다시 호출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하는 함수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A07BB-6674-66BE-9A0A-9FF9CCD88666}"/>
              </a:ext>
            </a:extLst>
          </p:cNvPr>
          <p:cNvSpPr txBox="1"/>
          <p:nvPr/>
        </p:nvSpPr>
        <p:spPr>
          <a:xfrm>
            <a:off x="838499" y="211484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큰 문제를 한 번에 해결하지 않고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더 작은 문제로 나누어 해결할 때 자주 사용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5C384-AE77-2E45-CC21-99B7BC6051E5}"/>
              </a:ext>
            </a:extLst>
          </p:cNvPr>
          <p:cNvSpPr txBox="1"/>
          <p:nvPr/>
        </p:nvSpPr>
        <p:spPr>
          <a:xfrm>
            <a:off x="838499" y="2595756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재귀 함수는 반복문처럼 같은 작업을 여러 번 수행할 수 있다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1BA5E-E2C4-F96D-A770-2C2A4F1FE521}"/>
              </a:ext>
            </a:extLst>
          </p:cNvPr>
          <p:cNvSpPr txBox="1"/>
          <p:nvPr/>
        </p:nvSpPr>
        <p:spPr>
          <a:xfrm>
            <a:off x="838499" y="3076670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재귀 함수에는 반드시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종료 조건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(Base Case)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 필요하다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DF48C8-B1A7-7A11-DFC0-8FD50B35CDA5}"/>
              </a:ext>
            </a:extLst>
          </p:cNvPr>
          <p:cNvSpPr txBox="1"/>
          <p:nvPr/>
        </p:nvSpPr>
        <p:spPr>
          <a:xfrm>
            <a:off x="838499" y="3543536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종료 조건이 없으면 함수가 끝나지 않고 계속 자기 자신을 호출하게 된다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207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C884-4A1A-3B32-0FF9-50BEF27C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BFBCF6A-86A3-B3DB-3EA3-F5D4C3F194D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63E78C-C7F2-5BAF-EC22-F02EDBE73B7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B7723-D20F-4EBB-AC89-5E617AB3F12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99079-CDB8-60D0-694A-572C9F1AE75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함수의 개념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61FDF-EB14-9539-8AD0-4A9896F80BE6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Recursive Function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0AF265D-E35E-65AA-167E-3F344D09D7D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F5BFEB6-A10A-46CD-7D71-F3E8F36B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52FE19C-17A1-9B1D-79BB-0354137E4A0D}"/>
              </a:ext>
            </a:extLst>
          </p:cNvPr>
          <p:cNvSpPr/>
          <p:nvPr/>
        </p:nvSpPr>
        <p:spPr>
          <a:xfrm>
            <a:off x="973585" y="2059619"/>
            <a:ext cx="4757563" cy="3497269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countdown(n):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</a:t>
            </a:r>
            <a:r>
              <a:rPr lang="en-US" altLang="ko-KR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 == 0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print("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끝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print(n)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countdown(n - 1)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countdown(5)</a:t>
            </a: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6B862F67-8722-4617-8163-92B217AE93E2}"/>
              </a:ext>
            </a:extLst>
          </p:cNvPr>
          <p:cNvSpPr/>
          <p:nvPr/>
        </p:nvSpPr>
        <p:spPr>
          <a:xfrm>
            <a:off x="6460852" y="2059619"/>
            <a:ext cx="4757563" cy="3497269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끝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4565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73CA-2F8F-0DB2-F835-F5AB7D131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895ABED-25B7-B931-31AE-B625E77ECBF7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C813469-BE2A-03D3-55D8-89DE54876D7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59C058-09D5-CBF8-BA01-FE98E7D0819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F25436-8E54-2824-D3A3-A70BBFABD72B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함수의 구조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9D764B-B49D-4704-DF3A-03EA6CF8C56B}"/>
              </a:ext>
            </a:extLst>
          </p:cNvPr>
          <p:cNvSpPr txBox="1"/>
          <p:nvPr/>
        </p:nvSpPr>
        <p:spPr>
          <a:xfrm>
            <a:off x="943357" y="1170429"/>
            <a:ext cx="4516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 Case, Recursive Case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F3F358F-71EE-34EE-AF9D-A194BFAB3EB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6A081BD-855D-F70C-A884-66F8F43A6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F14C5B-788D-EDA0-97CF-B0F18D30003C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it-IT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 Case: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문제가 충분히 작아져서 재귀 호출 없이 바로 결과를 알 수 있는 가장 간단한 경우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9A5AFC-F0A7-F743-1ACA-15ECD213B5B5}"/>
              </a:ext>
            </a:extLst>
          </p:cNvPr>
          <p:cNvSpPr txBox="1"/>
          <p:nvPr/>
        </p:nvSpPr>
        <p:spPr>
          <a:xfrm>
            <a:off x="838499" y="211484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it-IT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Recursive Case: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 Case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향해 문제의 크기를 점진적으로 축소하며 자기 자신을 호출하는 과정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B86D7F6-A091-EBE8-19F8-304CF446CD56}"/>
              </a:ext>
            </a:extLst>
          </p:cNvPr>
          <p:cNvSpPr/>
          <p:nvPr/>
        </p:nvSpPr>
        <p:spPr>
          <a:xfrm>
            <a:off x="1607675" y="2905374"/>
            <a:ext cx="8975325" cy="272227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factorial(n):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Base Case: </a:t>
            </a:r>
            <a:r>
              <a:rPr lang="ko-KR" altLang="en-US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재귀를 종료하고 값을 반환</a:t>
            </a:r>
            <a:endParaRPr lang="en-US" altLang="ko-KR" sz="2200" dirty="0">
              <a:solidFill>
                <a:srgbClr val="7030A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n == 0:</a:t>
            </a:r>
          </a:p>
          <a:p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1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>
                <a:solidFill>
                  <a:schemeClr val="accent2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Recursive Case: n</a:t>
            </a:r>
            <a:r>
              <a:rPr lang="ko-KR" altLang="en-US" sz="2200" dirty="0">
                <a:solidFill>
                  <a:schemeClr val="accent2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을 줄여가며 자신을 호출</a:t>
            </a:r>
            <a:endParaRPr lang="en-US" altLang="ko-KR" sz="2200" dirty="0">
              <a:solidFill>
                <a:schemeClr val="accent2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accent2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>
                <a:solidFill>
                  <a:schemeClr val="accent2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return n * factorial(n - 1)</a:t>
            </a:r>
          </a:p>
        </p:txBody>
      </p:sp>
    </p:spTree>
    <p:extLst>
      <p:ext uri="{BB962C8B-B14F-4D97-AF65-F5344CB8AC3E}">
        <p14:creationId xmlns:p14="http://schemas.microsoft.com/office/powerpoint/2010/main" val="2868021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44A2-2F46-AAB3-C094-03DF6AFD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0289EEE-7DE9-F9DC-A6DA-02A03F207BEE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943822C-D906-023A-2091-5DC5DC943E3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8E2C65-F489-ED8B-3B10-B5AFC6E83F4D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74269-B646-8480-AD68-4F6E64187DD7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함수의 구조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94DDD6-3488-C454-D97C-C421EA8E8E29}"/>
              </a:ext>
            </a:extLst>
          </p:cNvPr>
          <p:cNvSpPr txBox="1"/>
          <p:nvPr/>
        </p:nvSpPr>
        <p:spPr>
          <a:xfrm>
            <a:off x="943357" y="1170429"/>
            <a:ext cx="4516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 Case, Recursive Case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9B1C23E-597D-59A6-5FF1-000001B3124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B0822D5-A60E-4B67-4B26-AE2FEB1A6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4B5DBC-CF69-DE9B-AD8A-1E39B2B48254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즉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재귀 함수는 크게 두 부분으로 구성된다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EB3E9-937D-7151-0C05-57AA9734EECA}"/>
              </a:ext>
            </a:extLst>
          </p:cNvPr>
          <p:cNvSpPr txBox="1"/>
          <p:nvPr/>
        </p:nvSpPr>
        <p:spPr>
          <a:xfrm>
            <a:off x="838499" y="2248124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Base Case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더 이상 문제를 쪼개지 않고 바로 답을 반환하는 종료 조건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재귀를 멈추는 조건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D07BD9-22BD-B559-3998-2306AAE4647E}"/>
              </a:ext>
            </a:extLst>
          </p:cNvPr>
          <p:cNvSpPr txBox="1"/>
          <p:nvPr/>
        </p:nvSpPr>
        <p:spPr>
          <a:xfrm>
            <a:off x="831438" y="3476218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Recursive Case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문제를 더 작은 문제로 바꾸어 자기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자신을 다시 호출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하는 부분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6734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0C7E-B41F-B485-D991-20DEE7887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DBD070BD-6FC5-3665-B980-FAFA5F1FA4D9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4E0FA16-78D3-CDD8-A33E-5A12B74986AF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0D2AFB1-CDD3-785B-6064-2FA2FBE097A4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21BED-2834-7EE9-0BBE-F77FE51EC70E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B3DD4-C563-8133-E5F7-1A708B476842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Factorial</a:t>
            </a:r>
          </a:p>
        </p:txBody>
      </p:sp>
    </p:spTree>
    <p:extLst>
      <p:ext uri="{BB962C8B-B14F-4D97-AF65-F5344CB8AC3E}">
        <p14:creationId xmlns:p14="http://schemas.microsoft.com/office/powerpoint/2010/main" val="54080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5C021-B6BC-0F39-7817-A78702EF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12905F91-497C-44E5-6AFE-50E67247434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5435C6-79D4-6D60-F182-DC814E5FF014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A80E33-F3FA-AC38-95BF-D21C3B38767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A6ABB-DBC2-ECB2-2164-069D3CE268B5}"/>
              </a:ext>
            </a:extLst>
          </p:cNvPr>
          <p:cNvSpPr txBox="1"/>
          <p:nvPr/>
        </p:nvSpPr>
        <p:spPr>
          <a:xfrm>
            <a:off x="1247539" y="331593"/>
            <a:ext cx="4848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팩토리얼로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이해하는 재귀 함수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466E5-9738-95A5-A676-8160DD7DA63C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Factorial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7AFD1DD7-39CB-A38E-0916-82812591150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DB89302-7597-537D-613C-89B9EECEA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980F1B-F02A-D925-157B-3B246C06C814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0!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0E283-4270-3993-7E47-5305A2E81A3A}"/>
              </a:ext>
            </a:extLst>
          </p:cNvPr>
          <p:cNvSpPr txBox="1"/>
          <p:nvPr/>
        </p:nvSpPr>
        <p:spPr>
          <a:xfrm>
            <a:off x="838499" y="211484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팩토리얼은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자기보다 작은 </a:t>
            </a:r>
            <a:r>
              <a:rPr lang="ko-KR" altLang="en-US" sz="2000" dirty="0" err="1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팩토리얼을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이용해 표현할 수 있다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920709E5-791F-6982-05D7-F17644E94EA9}"/>
              </a:ext>
            </a:extLst>
          </p:cNvPr>
          <p:cNvSpPr/>
          <p:nvPr/>
        </p:nvSpPr>
        <p:spPr>
          <a:xfrm>
            <a:off x="2217795" y="2729038"/>
            <a:ext cx="7755085" cy="2340228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5! = 5 × 4 × 3 × 2 × 1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4! = 4 × 3 × 2 × 1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따라서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5! = 5 × 4!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A11B042-5562-D4F4-7D98-D266E48B46FC}"/>
              </a:ext>
            </a:extLst>
          </p:cNvPr>
          <p:cNvSpPr/>
          <p:nvPr/>
        </p:nvSpPr>
        <p:spPr>
          <a:xfrm>
            <a:off x="2217795" y="5278744"/>
            <a:ext cx="7755085" cy="78470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factorial(n) = n × factorial(n - 1)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524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2056-B611-F7E9-ECCC-F0D996EAB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B2276D6-1FBB-D342-8124-8E8A38DB496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042323D-74A9-8350-81ED-0BAAEBB3F3E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A6A3C7-6AF8-DD53-47B4-41A2ECADBC9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EE2EF-3BD4-0DD6-B843-CAE247989950}"/>
              </a:ext>
            </a:extLst>
          </p:cNvPr>
          <p:cNvSpPr txBox="1"/>
          <p:nvPr/>
        </p:nvSpPr>
        <p:spPr>
          <a:xfrm>
            <a:off x="1247539" y="331593"/>
            <a:ext cx="5295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팩토리얼로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이해하는 재귀 함수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E925C-7EE4-272C-7A89-75FEE892DFE9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Factorial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8FC2A4B8-08C5-426D-0A77-90EC599078B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BF65F-2AC7-35B7-0066-BC268300F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1026" name="Picture 2" descr="0팩토리얼, 0!=1로 정의하는 이유, 증명, 고등수학 : 네이버 블로그">
            <a:extLst>
              <a:ext uri="{FF2B5EF4-FFF2-40B4-BE49-F238E27FC236}">
                <a16:creationId xmlns:a16="http://schemas.microsoft.com/office/drawing/2014/main" id="{F149B55D-5483-4EE4-100F-C04C791DC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846180"/>
            <a:ext cx="7620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1440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27C23-09B6-1D7D-B2EF-E3226E72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92D259A8-FC87-B8AD-BD5A-D9E3BC07F07E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F9E39C7-923E-4F48-B814-446701BACED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0DFCA5-CA3B-EFA0-E8D7-22396177AA4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34E7E-38CA-0B1D-3D25-E898CBD7C073}"/>
              </a:ext>
            </a:extLst>
          </p:cNvPr>
          <p:cNvSpPr txBox="1"/>
          <p:nvPr/>
        </p:nvSpPr>
        <p:spPr>
          <a:xfrm>
            <a:off x="1247539" y="331593"/>
            <a:ext cx="4848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534A97-AB4E-807B-112A-18C3D7EC6127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 Case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6E84189-FBDC-D0E8-95CE-BC3ADDFA92C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2B5C0F6-8C7F-221E-55D5-F47454C6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928589-4496-52EB-5BB4-D1513E5D5ADC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팩토리얼에서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가장 작은 문제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(Base Case)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는 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0!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또는 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1!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이다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E6CC03-72CF-D1C0-E9D7-C1EA2335DBF8}"/>
              </a:ext>
            </a:extLst>
          </p:cNvPr>
          <p:cNvSpPr txBox="1"/>
          <p:nvPr/>
        </p:nvSpPr>
        <p:spPr>
          <a:xfrm>
            <a:off x="838499" y="3550044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따라서 재귀 함수에서는 다음 조건을 종료 조건으로 사용할 수 있다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5E8CA5B4-5A2C-9FE9-B68D-AD9AF8946CA8}"/>
              </a:ext>
            </a:extLst>
          </p:cNvPr>
          <p:cNvSpPr/>
          <p:nvPr/>
        </p:nvSpPr>
        <p:spPr>
          <a:xfrm>
            <a:off x="2217794" y="2248124"/>
            <a:ext cx="7755085" cy="963668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0! = 1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1! = 1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AB604BE-C15D-C6F9-13FF-C7F276FA235E}"/>
              </a:ext>
            </a:extLst>
          </p:cNvPr>
          <p:cNvSpPr/>
          <p:nvPr/>
        </p:nvSpPr>
        <p:spPr>
          <a:xfrm>
            <a:off x="2217794" y="4288406"/>
            <a:ext cx="7755085" cy="78470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n == 0: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1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156297FC-C02D-8B70-5720-6B98DBB2E2AE}"/>
              </a:ext>
            </a:extLst>
          </p:cNvPr>
          <p:cNvSpPr/>
          <p:nvPr/>
        </p:nvSpPr>
        <p:spPr>
          <a:xfrm>
            <a:off x="2217794" y="5224072"/>
            <a:ext cx="7755085" cy="78470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n &lt;= 1: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1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46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40BC5-8888-191C-C5A8-F3674377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D8ACF1C2-2FF4-A7D1-0707-883D6FA6986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07765E-4025-F6E4-310B-9190379F306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72C87-525B-9755-08F2-4BF1B68BA552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90EF8F-692C-2D00-0181-13EA40FBAC0E}"/>
              </a:ext>
            </a:extLst>
          </p:cNvPr>
          <p:cNvSpPr txBox="1"/>
          <p:nvPr/>
        </p:nvSpPr>
        <p:spPr>
          <a:xfrm>
            <a:off x="1247539" y="331593"/>
            <a:ext cx="4848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Base Case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2EA09D-C598-DE94-F263-BA564D66423D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Base Case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198A23F-88C8-CB0A-3B59-8CD646BF64C3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72C7BDB-5C31-7464-462C-7548984D2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91AFFF1F-1BBA-7A94-44C7-9A3E677EA465}"/>
              </a:ext>
            </a:extLst>
          </p:cNvPr>
          <p:cNvSpPr/>
          <p:nvPr/>
        </p:nvSpPr>
        <p:spPr>
          <a:xfrm>
            <a:off x="2217792" y="2021232"/>
            <a:ext cx="7755085" cy="267898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factorial(n):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</a:t>
            </a:r>
            <a:r>
              <a:rPr lang="en-US" altLang="ko-KR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 &lt;= 1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1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n * factorial(n - 1)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print(factorial(5))</a:t>
            </a: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28DE1692-13D7-406C-1828-51BB4C11D302}"/>
              </a:ext>
            </a:extLst>
          </p:cNvPr>
          <p:cNvSpPr/>
          <p:nvPr/>
        </p:nvSpPr>
        <p:spPr>
          <a:xfrm>
            <a:off x="2217791" y="5007828"/>
            <a:ext cx="7755085" cy="78470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120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4946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73486-841A-2DC9-8365-28C49AAC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3881A9D-08FE-0248-F06D-006F41409826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DBFE742-E10B-3DF3-7A4A-561673B69AA5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4C9687B-6EDA-D311-D3A1-CB065BEF3F47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01F8A3-C528-1450-8D03-AE1346379FD1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7CF9B-3A79-9C07-9B49-C186376FF484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Fibonacci Sequence</a:t>
            </a:r>
          </a:p>
        </p:txBody>
      </p:sp>
    </p:spTree>
    <p:extLst>
      <p:ext uri="{BB962C8B-B14F-4D97-AF65-F5344CB8AC3E}">
        <p14:creationId xmlns:p14="http://schemas.microsoft.com/office/powerpoint/2010/main" val="2798981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B3DF5-CB3F-2E74-E7A2-EF167DE6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0974B5A-19DF-6179-60C7-53816FC6DC8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96D0DDB-E437-32D3-3F0D-89A96E1A6F3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48870-ECB2-B9E7-D99E-0A8835C97E47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91DA0-179E-C581-2B68-8F7C8D375BEA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A63FFF-AE1D-C3E7-8557-6E714B5A86DC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Fibonacci Sequence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330E284-94E3-6D8E-F539-8F7EADC167C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2E268C-A770-84BF-3BC0-AEB842DFC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D607E-2700-5F37-62FE-3054B994C6CC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(Fibonacci Sequence)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은 앞의 두 수를 더해서 다음 수를 만드는 수열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</a:t>
            </a:r>
          </a:p>
        </p:txBody>
      </p:sp>
      <p:pic>
        <p:nvPicPr>
          <p:cNvPr id="9" name="Picture 2" descr="피보나치 수열 생성기">
            <a:extLst>
              <a:ext uri="{FF2B5EF4-FFF2-40B4-BE49-F238E27FC236}">
                <a16:creationId xmlns:a16="http://schemas.microsoft.com/office/drawing/2014/main" id="{68C2548A-E53B-5BC2-52DD-C667625F3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6" y="2471803"/>
            <a:ext cx="4535233" cy="146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자연과 디자인에서 찾을 수 있는 '피보나치 수열'에 숨은 황금비!">
            <a:extLst>
              <a:ext uri="{FF2B5EF4-FFF2-40B4-BE49-F238E27FC236}">
                <a16:creationId xmlns:a16="http://schemas.microsoft.com/office/drawing/2014/main" id="{D0E77FF0-9813-7C2E-478D-585F6D0F1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4226185"/>
            <a:ext cx="78105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6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B0156-2289-4B67-59F8-2561C3F1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AF774A9-D81F-170A-3E65-3B71FD8D01E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1BB2942-FE88-FBDB-4971-27FE5866A194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2C1C5-EC0B-5534-4C42-C0186676E8B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9CB3A6-0A1F-8415-4387-E060041C18E6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36D2E4-69F1-8E2B-FF4C-DF1764ABDA61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Fibonacci Sequence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2AC6502-A6B8-1766-7991-49B40840A41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5D54F01-2019-76A7-64C6-3511BDD79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100C79-0714-EB10-0704-AD33F24C9C9F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피보나치 수열은 재귀 구조로 표현하기 쉽다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2ED29689-B1A4-4D9B-818E-DADEA996D5BD}"/>
              </a:ext>
            </a:extLst>
          </p:cNvPr>
          <p:cNvSpPr/>
          <p:nvPr/>
        </p:nvSpPr>
        <p:spPr>
          <a:xfrm>
            <a:off x="2217795" y="2248124"/>
            <a:ext cx="7755085" cy="78470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1, 1, 2, 3, 5, 8, 13, 21, 34, ...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CAB5D-7710-4B35-CFB5-E10F038987DE}"/>
              </a:ext>
            </a:extLst>
          </p:cNvPr>
          <p:cNvSpPr txBox="1"/>
          <p:nvPr/>
        </p:nvSpPr>
        <p:spPr>
          <a:xfrm>
            <a:off x="943358" y="3608748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계산 규칙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4A0F96B3-6DC0-FC01-64A2-8764D9F893DA}"/>
              </a:ext>
            </a:extLst>
          </p:cNvPr>
          <p:cNvSpPr/>
          <p:nvPr/>
        </p:nvSpPr>
        <p:spPr>
          <a:xfrm>
            <a:off x="639634" y="3687719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1A1188D3-F654-1355-8D53-B2A338E60A8B}"/>
              </a:ext>
            </a:extLst>
          </p:cNvPr>
          <p:cNvSpPr/>
          <p:nvPr/>
        </p:nvSpPr>
        <p:spPr>
          <a:xfrm>
            <a:off x="2217794" y="4253979"/>
            <a:ext cx="7755085" cy="1782837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첫 번째 피보나치 수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1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두 번째 피보나치 수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1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세 </a:t>
            </a:r>
            <a:r>
              <a:rPr lang="ko-KR" altLang="en-US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번째부터는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앞의 두 수를 더한다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801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8E93-55DF-3460-E94B-0D1E990C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6D5A7D2-D617-4BE8-9596-7C19B37F483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6228AB3-FAC4-E1BA-3CD3-1E78719157B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2E10DF-60AA-3EC1-84E8-015C5C36F4A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0F198-C644-2A1E-B2F7-63902960707B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C980A-5B38-207E-F0BB-2C706EFFF66A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Fibonacci Sequence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A963608-E751-EF6D-C21F-695E1D4D99B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CA5BF01-8B1B-9396-1921-D60DF18F0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4C617-A76A-1DC3-28AE-C0CBCFC8A4BD}"/>
              </a:ext>
            </a:extLst>
          </p:cNvPr>
          <p:cNvSpPr txBox="1"/>
          <p:nvPr/>
        </p:nvSpPr>
        <p:spPr>
          <a:xfrm>
            <a:off x="791496" y="4025231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일반화된 공식 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7815F94C-C4C7-65B1-A34C-447D082CF78C}"/>
              </a:ext>
            </a:extLst>
          </p:cNvPr>
          <p:cNvSpPr/>
          <p:nvPr/>
        </p:nvSpPr>
        <p:spPr>
          <a:xfrm>
            <a:off x="2218457" y="1870911"/>
            <a:ext cx="7755085" cy="191550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(1) = 1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 = 1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(1) = 2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 = 3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(5)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 = 5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795D015A-6B13-4447-A649-EE9CB82572D9}"/>
              </a:ext>
            </a:extLst>
          </p:cNvPr>
          <p:cNvSpPr/>
          <p:nvPr/>
        </p:nvSpPr>
        <p:spPr>
          <a:xfrm>
            <a:off x="2170792" y="4527612"/>
            <a:ext cx="7755085" cy="59480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fibo(n) = fibo(n - 1) + fibo(n - 2)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77956D-3638-704C-7A71-CBDC604F2E22}"/>
              </a:ext>
            </a:extLst>
          </p:cNvPr>
          <p:cNvSpPr txBox="1"/>
          <p:nvPr/>
        </p:nvSpPr>
        <p:spPr>
          <a:xfrm>
            <a:off x="791496" y="5287461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단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Base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Case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는 다음과 같다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83F845D1-4D84-0BB3-BAA3-0493BDA8C84A}"/>
              </a:ext>
            </a:extLst>
          </p:cNvPr>
          <p:cNvSpPr/>
          <p:nvPr/>
        </p:nvSpPr>
        <p:spPr>
          <a:xfrm>
            <a:off x="2170792" y="5789841"/>
            <a:ext cx="7755085" cy="73656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fibo(1) =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fibo(2) = 1</a:t>
            </a:r>
            <a:endParaRPr lang="en-US" altLang="ko-KR" sz="2200" dirty="0">
              <a:solidFill>
                <a:schemeClr val="tx1"/>
              </a:solidFill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5909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0DAB0-636B-253E-6F59-EAA088C8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6C5B400-2156-3569-3056-25851525DA38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732804-9F63-F711-37F9-B2A8060039A7}"/>
              </a:ext>
            </a:extLst>
          </p:cNvPr>
          <p:cNvSpPr/>
          <p:nvPr/>
        </p:nvSpPr>
        <p:spPr>
          <a:xfrm>
            <a:off x="246742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06C3C-2243-525A-81C5-0505B768A1EE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9F575-7382-EA30-0FE8-6A2153DECC25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5C5ECE-C473-93B0-9191-A329D6D419C5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Fibonacci Sequence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F5D060B-3246-D8B0-1A30-2D78AB2645D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F1D6CBB-F0DC-B18F-2DB3-CC1A2E880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0B43F6A2-E47B-A1AC-25D2-FCC3A83C47D7}"/>
              </a:ext>
            </a:extLst>
          </p:cNvPr>
          <p:cNvSpPr/>
          <p:nvPr/>
        </p:nvSpPr>
        <p:spPr>
          <a:xfrm>
            <a:off x="2218455" y="2093863"/>
            <a:ext cx="7755085" cy="2044141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n &lt;= 2: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1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 - 1)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 - 2)</a:t>
            </a: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F822B23C-2B1D-7815-0D39-589A4659DAEE}"/>
              </a:ext>
            </a:extLst>
          </p:cNvPr>
          <p:cNvSpPr/>
          <p:nvPr/>
        </p:nvSpPr>
        <p:spPr>
          <a:xfrm>
            <a:off x="2218456" y="4510878"/>
            <a:ext cx="7755085" cy="1286241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04923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CC3F0-D4BA-F60E-22BC-97844C75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94D62EC-909B-ED6F-0532-41B09D3F079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872FA3-6484-997B-C955-7313574BDE88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DF5FD-C0E8-C13C-365A-33A16F4B59D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421C1-9F19-27A4-FC7D-46E042710693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17D49B-24F3-D7BB-DE9D-10066C7C9C35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계산 문제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BD4B403A-E29C-E3B5-5383-CD408438173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C2B0AC6-15DE-75BD-250C-8D31858A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AF3C56-5554-70FA-7751-EA24E6E01968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피보나치 수열은 재귀 구조로 표현하기 쉽다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9AA2E-A9DE-DCE2-FB93-2ED4EAFDE47F}"/>
              </a:ext>
            </a:extLst>
          </p:cNvPr>
          <p:cNvSpPr txBox="1"/>
          <p:nvPr/>
        </p:nvSpPr>
        <p:spPr>
          <a:xfrm>
            <a:off x="838499" y="211484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하지만 단순 재귀로 구현하면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같은 계산이 여러 번 반복되는 문제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생긴다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5148CFA-BEA3-2013-F960-305BF5602918}"/>
              </a:ext>
            </a:extLst>
          </p:cNvPr>
          <p:cNvSpPr/>
          <p:nvPr/>
        </p:nvSpPr>
        <p:spPr>
          <a:xfrm>
            <a:off x="2217795" y="2956264"/>
            <a:ext cx="7755085" cy="181691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을 계산할 때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 여러 번 호출된다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도 여러 번 호출된다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도 계속 반복해서 호출된다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7998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1F67-4B27-FA55-379C-81BF36C86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36E52A5F-8037-97EC-38AA-25103F11419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4E7C9B4-072F-7EDD-CA89-0991F40C57E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A1121-F06D-974F-1A8D-4D6D0421678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18B75-2042-1433-9D37-D8BD8579F212}"/>
              </a:ext>
            </a:extLst>
          </p:cNvPr>
          <p:cNvSpPr txBox="1"/>
          <p:nvPr/>
        </p:nvSpPr>
        <p:spPr>
          <a:xfrm>
            <a:off x="1247539" y="331593"/>
            <a:ext cx="7328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수열로 알아보는 재귀의 한계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1670F2-4F14-2888-27AB-C17D6C7D4D11}"/>
              </a:ext>
            </a:extLst>
          </p:cNvPr>
          <p:cNvSpPr txBox="1"/>
          <p:nvPr/>
        </p:nvSpPr>
        <p:spPr>
          <a:xfrm>
            <a:off x="943358" y="1170429"/>
            <a:ext cx="3453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중복 계산 문제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DC1FE23-3439-76D2-3183-20F494349705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F8F8FC7-97F4-200E-0EF6-27BEEDA3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ED4C7-8509-33AF-4EF4-D5ED47DC9222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하지만 단순 재귀로 구현하면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같은 계산이 여러 번 반복되는 문제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 생긴다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2F269A0-DE57-6E15-C1A9-AB17928423FD}"/>
              </a:ext>
            </a:extLst>
          </p:cNvPr>
          <p:cNvSpPr/>
          <p:nvPr/>
        </p:nvSpPr>
        <p:spPr>
          <a:xfrm>
            <a:off x="2217795" y="2248124"/>
            <a:ext cx="7755085" cy="408604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├─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(5)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├─ </a:t>
            </a:r>
            <a:r>
              <a:rPr lang="en-US" altLang="ko-KR" sz="2200" dirty="0" err="1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│  ├─ </a:t>
            </a:r>
            <a:r>
              <a:rPr lang="en-US" altLang="ko-KR" sz="2200" dirty="0" err="1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│  └─ </a:t>
            </a:r>
            <a:r>
              <a:rPr lang="en-US" altLang="ko-KR" sz="2200" dirty="0" err="1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└─ </a:t>
            </a:r>
            <a:r>
              <a:rPr lang="en-US" altLang="ko-KR" sz="2200" dirty="0" err="1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   ├─ </a:t>
            </a:r>
            <a:r>
              <a:rPr lang="en-US" altLang="ko-KR" sz="2200" dirty="0" err="1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   └─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(1)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└─ </a:t>
            </a:r>
            <a:r>
              <a:rPr lang="en-US" altLang="ko-KR" sz="2200" dirty="0" err="1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├─ </a:t>
            </a:r>
            <a:r>
              <a:rPr lang="en-US" altLang="ko-KR" sz="2200" dirty="0" err="1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└─ </a:t>
            </a:r>
            <a:r>
              <a:rPr lang="en-US" altLang="ko-KR" sz="2200" dirty="0" err="1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52291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1B61B-4D49-8CBC-DA5F-84DA83C3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B453DDD-1CA1-FF71-D818-7DFF5337707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8E1EEA-222D-57BA-8DE6-0BAD0910332B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D22C19-E081-3CB2-42E1-00D32BA9CA3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2D5C4-6F72-A2F3-5B4A-368AACFF7F1E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Recursive 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8AA802-7353-E95E-A01E-32FCD4A5F855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Recursive Function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2C48D0D-E2AC-327F-FE8D-CF62F860047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B4E7531-8A3B-26BB-5C1D-B8C3A39C8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FDA388-6E6F-CA52-A560-EB27AB51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103" y="1859095"/>
            <a:ext cx="7065793" cy="439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79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4B68F-C836-3AE1-0B07-D6AB304C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F4BF9C0-2723-4444-A7D6-EAD0D112131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60B43B5-3B38-7C71-103C-C9CBD4B75F0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581877-045A-7AFA-C3C7-00BE4E62222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05F73-22FC-2437-3E43-94F4F65D0210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요약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3E5B306-95E6-34C2-0A90-B52352597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F41F89B8-ED74-21FF-AF42-BB86C43E5C99}"/>
              </a:ext>
            </a:extLst>
          </p:cNvPr>
          <p:cNvSpPr/>
          <p:nvPr/>
        </p:nvSpPr>
        <p:spPr>
          <a:xfrm>
            <a:off x="898124" y="1472646"/>
            <a:ext cx="10395751" cy="433230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피보나치 수열은 앞의 두 수를 더해서 다음 수를 만드는 수열이다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1, 1, 2, 3, 5, 8, 13, ...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이를 재귀 함수로 표현하면 다음과 같다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(n)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 - 1)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 - 2)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하지만 단순 재귀 방식은 같은 값을 여러 번 반복해서 계산한다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 중복 계산 때문에 </a:t>
            </a:r>
            <a:r>
              <a:rPr lang="ko-KR" altLang="en-US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입력값이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커질수록 </a:t>
            </a:r>
            <a:r>
              <a:rPr lang="ko-KR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실행 시간이 급격히 증가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676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8A56C-EAFA-C05F-3989-E9365B98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8EAE992-AE50-9806-F47A-38B24A1D833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CEDF74-08AF-2251-5D9E-7BBE5BE53F8E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65A8E55-CDA0-9674-074B-95FBD178A12F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84A41-2648-6653-4FBC-FF7DF684AEF7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B2F7D-1689-9C36-891F-A1E13F8E4D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24071608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3493-D01B-5DFE-77EB-587A2D1E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D3B8913-27C3-EB56-AA95-0AD195695783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09F4E6-363B-3A9D-3678-1CA8D7292C64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85599-69F0-7068-A4DA-F0AEC41065C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8BAEF-5E41-27D3-4A66-4FE83690FE52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중복 계산을 줄이는 알고리즘 설계 기법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52CCF-969C-321F-16A9-41A9004F600E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2F84C4C-4681-B310-DF24-329DFF78FDB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1F862F2-3FF2-B8DB-B320-3919C65CE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29219E-47F2-4F30-01A7-09379F5785D8}"/>
              </a:ext>
            </a:extLst>
          </p:cNvPr>
          <p:cNvSpPr txBox="1"/>
          <p:nvPr/>
        </p:nvSpPr>
        <p:spPr>
          <a:xfrm>
            <a:off x="838499" y="1633928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Dynamic Programming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줄여서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DP(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또는 동적 계획법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는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특정 범위까지의 값을 구하기 위해서 그것과 다른 범위까지의 값을 이용하여 효율적으로 값을 구하는 알고리즘 설계 기법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78BA7B-0AAB-8BE1-E48F-54521F27161D}"/>
              </a:ext>
            </a:extLst>
          </p:cNvPr>
          <p:cNvSpPr txBox="1"/>
          <p:nvPr/>
        </p:nvSpPr>
        <p:spPr>
          <a:xfrm>
            <a:off x="831438" y="248747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DP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는 큰 문제를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작은 문제로 나누어 해결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하는 알고리즘 설계 기법이다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73B76-FB32-2789-807B-EC3BB9983D8B}"/>
              </a:ext>
            </a:extLst>
          </p:cNvPr>
          <p:cNvSpPr txBox="1"/>
          <p:nvPr/>
        </p:nvSpPr>
        <p:spPr>
          <a:xfrm>
            <a:off x="838499" y="307636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단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단순 재귀와 달리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한 번 계산한 결과를 저장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16A169-2ADA-471E-FAB4-719463D034F5}"/>
              </a:ext>
            </a:extLst>
          </p:cNvPr>
          <p:cNvSpPr txBox="1"/>
          <p:nvPr/>
        </p:nvSpPr>
        <p:spPr>
          <a:xfrm>
            <a:off x="838499" y="366525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저장해 둔 값을 다시 사용하면 같은 계산을 반복하지 않아도 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0B0BC-424A-B8C5-57F1-53BC36A54A9E}"/>
              </a:ext>
            </a:extLst>
          </p:cNvPr>
          <p:cNvSpPr txBox="1"/>
          <p:nvPr/>
        </p:nvSpPr>
        <p:spPr>
          <a:xfrm>
            <a:off x="838499" y="4254142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따라서 실행 시간을 크게 줄일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99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C0EFA-3381-A4D9-3E9F-10C16B67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C960DA5-D83D-EE59-AE9D-6AF79282C538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AF2F54E-1A35-55CC-ADEE-095A7FB96E4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E85B30-F073-686C-3F0C-0422EC720D0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E1B36-8A70-B793-26CB-0A177630C84C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중복 계산을 줄이는 알고리즘 설계 기법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F1022-F247-A20D-3576-9395A71A18CD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핵심 아이디어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2F3010BC-47ED-0007-5CDE-44927749911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36D67A9-2C21-D849-9790-5273918F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B7498F-2CA8-AFB7-DBAD-3F6C1B0B254F}"/>
              </a:ext>
            </a:extLst>
          </p:cNvPr>
          <p:cNvSpPr txBox="1"/>
          <p:nvPr/>
        </p:nvSpPr>
        <p:spPr>
          <a:xfrm>
            <a:off x="839159" y="4612033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예를 들어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(4)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이미 계산했다면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</a:t>
            </a:r>
          </a:p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다음에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(4)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가 필요할 때 다시 계산하지 않고 저장된 값을 바로 사용한다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A5E95D7A-5B02-2FDB-9B01-368A878770E1}"/>
              </a:ext>
            </a:extLst>
          </p:cNvPr>
          <p:cNvSpPr/>
          <p:nvPr/>
        </p:nvSpPr>
        <p:spPr>
          <a:xfrm>
            <a:off x="2218457" y="2585579"/>
            <a:ext cx="7755085" cy="1686841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 번 계산한 값은 다시 계산하지 말자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2200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2AE39-5B8D-DA4F-08DD-93929340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A82E371D-486D-A58C-BDFA-FA1E0081910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5195442-9CD6-2013-78AE-D4CD88DFD17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83993F-42F8-FBCD-5F3F-DE16BDD2C1C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7117C-264D-742F-EE01-773D95F29DE7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차이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4FB0E-14AF-DB4E-1785-30E59073210C}"/>
              </a:ext>
            </a:extLst>
          </p:cNvPr>
          <p:cNvSpPr txBox="1"/>
          <p:nvPr/>
        </p:nvSpPr>
        <p:spPr>
          <a:xfrm>
            <a:off x="943357" y="1170429"/>
            <a:ext cx="4622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단순 재귀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(Naive Recursion)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FA6B2CA-ABBC-3FFF-ABD2-A3ACC570A22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24B0D5B-DB36-C48A-5DF7-F397C867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FEFFA96-184F-813A-CD90-BEB22C0FAC0F}"/>
              </a:ext>
            </a:extLst>
          </p:cNvPr>
          <p:cNvSpPr txBox="1"/>
          <p:nvPr/>
        </p:nvSpPr>
        <p:spPr>
          <a:xfrm>
            <a:off x="943357" y="180829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필요할 때마다 계속 다시 계산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169335-8831-8DA0-C4BB-C7B3CC5A7DC5}"/>
              </a:ext>
            </a:extLst>
          </p:cNvPr>
          <p:cNvSpPr txBox="1"/>
          <p:nvPr/>
        </p:nvSpPr>
        <p:spPr>
          <a:xfrm>
            <a:off x="943357" y="2626127"/>
            <a:ext cx="4622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</a:p>
        </p:txBody>
      </p:sp>
      <p:sp>
        <p:nvSpPr>
          <p:cNvPr id="5" name="다이아몬드 4">
            <a:extLst>
              <a:ext uri="{FF2B5EF4-FFF2-40B4-BE49-F238E27FC236}">
                <a16:creationId xmlns:a16="http://schemas.microsoft.com/office/drawing/2014/main" id="{24D6565B-8BC8-33ED-C5F4-5449B0502D78}"/>
              </a:ext>
            </a:extLst>
          </p:cNvPr>
          <p:cNvSpPr/>
          <p:nvPr/>
        </p:nvSpPr>
        <p:spPr>
          <a:xfrm>
            <a:off x="639634" y="2705098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6093F-9473-C9CE-6DA7-DE07ED19997F}"/>
              </a:ext>
            </a:extLst>
          </p:cNvPr>
          <p:cNvSpPr txBox="1"/>
          <p:nvPr/>
        </p:nvSpPr>
        <p:spPr>
          <a:xfrm>
            <a:off x="943357" y="3263996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한 번 계산한 결과를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저장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해두고 다시 사용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3213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C4EB9-C69A-D70D-AB7B-D57E9728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7496E48-F063-0E3C-2AF3-7D380235750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901180B-7F16-4D5F-EF3F-F28AAF01192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FBFC53-3E7F-6350-1328-CC50E780E22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B1CDB-1F0A-59A6-BB26-221194FB615A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차이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E9A040-75E4-1C79-10D7-1E0C350C99A9}"/>
              </a:ext>
            </a:extLst>
          </p:cNvPr>
          <p:cNvSpPr txBox="1"/>
          <p:nvPr/>
        </p:nvSpPr>
        <p:spPr>
          <a:xfrm>
            <a:off x="943357" y="1170429"/>
            <a:ext cx="4622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피보나치 예시로 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6B21FFD-F8C4-5661-966E-F51CECEE8BB5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1D25FEF-0759-CECB-E5E0-F009A360E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762955-30FE-69D2-B18A-D49ED093F79A}"/>
              </a:ext>
            </a:extLst>
          </p:cNvPr>
          <p:cNvSpPr txBox="1"/>
          <p:nvPr/>
        </p:nvSpPr>
        <p:spPr>
          <a:xfrm>
            <a:off x="943357" y="180829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단순 재귀에서는 다음과 같은 중복 계산이 발생한다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47AF6A37-EE71-2B2A-CF9F-18B6CA82E025}"/>
              </a:ext>
            </a:extLst>
          </p:cNvPr>
          <p:cNvSpPr/>
          <p:nvPr/>
        </p:nvSpPr>
        <p:spPr>
          <a:xfrm>
            <a:off x="2218457" y="2384612"/>
            <a:ext cx="7755085" cy="1816915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├─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(5)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├─ </a:t>
            </a:r>
            <a:r>
              <a:rPr lang="en-US" altLang="ko-KR" sz="2200" dirty="0" err="1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└─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(3)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└─ </a:t>
            </a:r>
            <a:r>
              <a:rPr lang="en-US" altLang="ko-KR" sz="2200" dirty="0" err="1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EE0C6C-8D87-6E64-17F3-41E3015790D7}"/>
              </a:ext>
            </a:extLst>
          </p:cNvPr>
          <p:cNvSpPr txBox="1"/>
          <p:nvPr/>
        </p:nvSpPr>
        <p:spPr>
          <a:xfrm>
            <a:off x="943357" y="4400883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ko-KR" sz="2000" dirty="0"/>
              <a:t>DP</a:t>
            </a:r>
            <a:r>
              <a:rPr lang="ko-KR" altLang="en-US" sz="2000" dirty="0"/>
              <a:t>를 사용하면</a:t>
            </a:r>
            <a:r>
              <a:rPr lang="en-US" altLang="ko-KR" sz="2000" dirty="0"/>
              <a:t>?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8E535B2E-0A19-1268-2313-F5621E37F815}"/>
              </a:ext>
            </a:extLst>
          </p:cNvPr>
          <p:cNvSpPr/>
          <p:nvPr/>
        </p:nvSpPr>
        <p:spPr>
          <a:xfrm>
            <a:off x="2218457" y="4977198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를 처음 계산할 때 저장한다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다음에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가 필요하면 저장된 값을 바로 가져온다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641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861D-AB96-89E3-9390-8537FD80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B00065F-00BA-3C8E-FF44-AA95C6E89CBD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9D88B2D-216C-F2B0-B0B4-716F4CDCAD7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4D2C5E-D091-6B8E-4AF0-48B9DF885BD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F5860B-987C-7D66-5CAA-36CDB2D2CA35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좋은 문제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2F6D1-9EDA-33F3-2B9D-5FC289A8D957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사용하기 좋은 문제의 특징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E084F7E-662B-6476-4E86-DC921A97EB8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ABBFEF6-E01B-768D-E7A1-531373B27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C18D68-9884-3484-49DF-A4D3F55ABA0B}"/>
              </a:ext>
            </a:extLst>
          </p:cNvPr>
          <p:cNvSpPr txBox="1"/>
          <p:nvPr/>
        </p:nvSpPr>
        <p:spPr>
          <a:xfrm>
            <a:off x="839160" y="185909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큰 문제를 작은 문제로 나눌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A62EC-03E8-FC6E-2482-7A7FE07CF8D6}"/>
              </a:ext>
            </a:extLst>
          </p:cNvPr>
          <p:cNvSpPr txBox="1"/>
          <p:nvPr/>
        </p:nvSpPr>
        <p:spPr>
          <a:xfrm>
            <a:off x="846221" y="244798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같은 작은 문제가 여러 번 반복해서 등장한다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83A0E-36BB-6E13-CC99-6F010D8A517C}"/>
              </a:ext>
            </a:extLst>
          </p:cNvPr>
          <p:cNvSpPr txBox="1"/>
          <p:nvPr/>
        </p:nvSpPr>
        <p:spPr>
          <a:xfrm>
            <a:off x="846221" y="303687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이전에 구한 결과를 저장해 다시 사용할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62DAC-A77A-3F16-7300-0549ED30EDBD}"/>
              </a:ext>
            </a:extLst>
          </p:cNvPr>
          <p:cNvSpPr txBox="1"/>
          <p:nvPr/>
        </p:nvSpPr>
        <p:spPr>
          <a:xfrm>
            <a:off x="846221" y="362576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현재 답을 구할 때 이전 답이 도움이 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984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04309-F008-A776-E3B1-47D20AB3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87E9D29-02BB-7825-F12C-BD5D08A387F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63D3A7A-2A5A-37C3-DF80-BB7F9891C57F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9ABEB1-A87D-79B7-33D9-FB89A2A02E1D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D76F4-6995-E0E6-EF6F-D86B031593D8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좋은 문제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F13BB1-2B6D-5D50-064D-75DDCA833415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계단 오르기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D5BE3A0-434E-82A1-3A84-2EC8A8681EFF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6184E3-FAB0-8FA0-660A-D82CA52F4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F0E79159-C704-5332-759D-FA047957C9DC}"/>
              </a:ext>
            </a:extLst>
          </p:cNvPr>
          <p:cNvSpPr/>
          <p:nvPr/>
        </p:nvSpPr>
        <p:spPr>
          <a:xfrm>
            <a:off x="2218457" y="2869504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 번에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칸 또는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칸씩 오를 수 있을 때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번째 계단까지 가는 방법의 수는 몇 가지일까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?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1014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6C319-B1A8-5F57-0B50-4F74BE6A5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3FEDFE01-DE12-F253-E127-6876500B150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07FCF58-B66A-E812-07CD-F950ED2D074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D595B-C7FB-56EE-C852-4928D0BF8835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E275C-F9B9-5F98-FD60-426D6C148309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좋은 문제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2F91DA-DFB9-28A5-7F62-E845374BA65B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계단 오르기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D0CCB2F-984B-B60B-630F-6D3CA2DE7B0B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3DD55E0-6881-E1F9-3F8F-F747E68A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AE7E6118-78C7-CF62-0891-FAA866E83C6D}"/>
              </a:ext>
            </a:extLst>
          </p:cNvPr>
          <p:cNvSpPr/>
          <p:nvPr/>
        </p:nvSpPr>
        <p:spPr>
          <a:xfrm>
            <a:off x="2218456" y="2538936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번째 계단에서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칸 올라오기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번째 계단에서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칸 올라오기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319FF-C928-E91D-218C-0B8CA56504F9}"/>
              </a:ext>
            </a:extLst>
          </p:cNvPr>
          <p:cNvSpPr txBox="1"/>
          <p:nvPr/>
        </p:nvSpPr>
        <p:spPr>
          <a:xfrm>
            <a:off x="839160" y="185909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5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번째 계단에 도착하려면 두 가지 경우가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ED359-3FDE-2406-E988-49CBFD11DCBC}"/>
              </a:ext>
            </a:extLst>
          </p:cNvPr>
          <p:cNvSpPr txBox="1"/>
          <p:nvPr/>
        </p:nvSpPr>
        <p:spPr>
          <a:xfrm>
            <a:off x="839160" y="3949307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즉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01A6087B-10F1-DC18-F550-6B7CA28B80F2}"/>
              </a:ext>
            </a:extLst>
          </p:cNvPr>
          <p:cNvSpPr/>
          <p:nvPr/>
        </p:nvSpPr>
        <p:spPr>
          <a:xfrm>
            <a:off x="2218455" y="4556931"/>
            <a:ext cx="7755085" cy="547729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ways(5) = ways(4) + ways(3)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C0EA9536-87E6-9E3B-F19B-03FBBF256104}"/>
              </a:ext>
            </a:extLst>
          </p:cNvPr>
          <p:cNvSpPr/>
          <p:nvPr/>
        </p:nvSpPr>
        <p:spPr>
          <a:xfrm>
            <a:off x="2218455" y="5359678"/>
            <a:ext cx="7755085" cy="547729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ways(n) = ways(n-1) + ways(n-2)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4954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863-23CA-2B14-49FC-24F2538A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120E057-B40D-B0CC-B806-1FF68E46CA5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4146B8F-5CE3-92CA-143A-22D29A50EC5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E86AE-9B14-F900-B559-4E8331CBDDD6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4BC98B-116F-0E0D-5EED-0B5F0B7A2A01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좋은 문제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FF5CD-4DD5-6092-AB1F-C1B952E95FDC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편의점에서 집까지 가는 길 찾기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33A64C41-1030-B848-F07D-CA6A58AD412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329B5C2-E5E5-55AF-74B6-862303F4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6F911A-E2E6-2813-A01B-AEFE2DB2F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974" y="1743739"/>
            <a:ext cx="7958052" cy="447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23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C0FC1-BBFA-4329-577F-61720EBD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F68FE35-7900-41B3-45E8-F13C6968C6E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EA5E12-1751-63C8-1AAB-A409CA0E96C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108B8-D624-860F-0048-1C6FBC53456D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85412-349F-1FBC-D1F6-B3F6F070B57C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사용하기 좋은 문제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1DA541-475D-6F59-0ADF-09538E68AD27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편의점에서 집까지 가는 길 찾기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B02930F-B563-DF88-0C16-B4020C0CDCE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8492826-3FCE-913C-F6E2-9A6BB1FC0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5BAC9ACD-7BD7-9120-896A-A6F902548F4F}"/>
              </a:ext>
            </a:extLst>
          </p:cNvPr>
          <p:cNvSpPr/>
          <p:nvPr/>
        </p:nvSpPr>
        <p:spPr>
          <a:xfrm>
            <a:off x="2218454" y="1859095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편의점 →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길 → 학교 앞 → 집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편의점 →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길 → 학교 앞 → 집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편의점 →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길 → 공원 앞 → 집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A8E99-2703-F78F-CAB7-F3A1B8C9CDDC}"/>
              </a:ext>
            </a:extLst>
          </p:cNvPr>
          <p:cNvSpPr txBox="1"/>
          <p:nvPr/>
        </p:nvSpPr>
        <p:spPr>
          <a:xfrm>
            <a:off x="791496" y="3167433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여기서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학교 앞 → 집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까지 가는 길은 여러 경로에서 반복해서 등장함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BBE0B3C3-1FB4-0147-EF46-2B6AD68D621B}"/>
              </a:ext>
            </a:extLst>
          </p:cNvPr>
          <p:cNvSpPr/>
          <p:nvPr/>
        </p:nvSpPr>
        <p:spPr>
          <a:xfrm>
            <a:off x="2218454" y="5228254"/>
            <a:ext cx="7755085" cy="547729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학교 앞 → 집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= 10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분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F009F-9BA8-DD95-52B6-118830D35EC6}"/>
              </a:ext>
            </a:extLst>
          </p:cNvPr>
          <p:cNvSpPr txBox="1"/>
          <p:nvPr/>
        </p:nvSpPr>
        <p:spPr>
          <a:xfrm>
            <a:off x="791495" y="3710054"/>
            <a:ext cx="10513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단순하게 생각하면 매번 학교 앞 → 집까지의 거리를 다시 계산해야 하지만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</a:t>
            </a:r>
            <a:b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</a:b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한 번 계산해 두면</a:t>
            </a:r>
            <a:b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</a:br>
            <a:b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</a:b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다음부터는 다시 계산하지 않고 저장된 값을 바로 사용할 수 있음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9838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81DA-19B7-7DA5-AD84-F0BFCCE9C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E04A07C-59E2-1115-3296-6BF92FEB6E4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3064FE9-C2ED-3F9D-1B63-042279B0F25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602844-15CE-64D1-B0CE-2F947F0CA28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D75DB-8641-93AB-90A5-4DB8622F0214}"/>
              </a:ext>
            </a:extLst>
          </p:cNvPr>
          <p:cNvSpPr txBox="1"/>
          <p:nvPr/>
        </p:nvSpPr>
        <p:spPr>
          <a:xfrm>
            <a:off x="1247539" y="331593"/>
            <a:ext cx="644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의 대표적인 방식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D25CF6-1753-2635-1641-C8679C679108}"/>
              </a:ext>
            </a:extLst>
          </p:cNvPr>
          <p:cNvSpPr txBox="1"/>
          <p:nvPr/>
        </p:nvSpPr>
        <p:spPr>
          <a:xfrm>
            <a:off x="943357" y="1170429"/>
            <a:ext cx="5634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대표적인 방식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EC15350-EA14-35B7-F986-E0A5558852B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859D716-5DFE-BA11-3654-A8D87D942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1B8357-5B3F-3C82-B285-104D7EEFAB2C}"/>
              </a:ext>
            </a:extLst>
          </p:cNvPr>
          <p:cNvSpPr txBox="1"/>
          <p:nvPr/>
        </p:nvSpPr>
        <p:spPr>
          <a:xfrm>
            <a:off x="839160" y="185909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DP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는 보통 두 가지 방식으로 구현한다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989D9-12C2-83AE-FBC1-04F5E85200F1}"/>
              </a:ext>
            </a:extLst>
          </p:cNvPr>
          <p:cNvSpPr txBox="1"/>
          <p:nvPr/>
        </p:nvSpPr>
        <p:spPr>
          <a:xfrm>
            <a:off x="846221" y="2447985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 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재귀 함수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+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저장 공간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355C55-24A7-FCAD-6856-A0CB9D32EAD8}"/>
              </a:ext>
            </a:extLst>
          </p:cNvPr>
          <p:cNvSpPr txBox="1"/>
          <p:nvPr/>
        </p:nvSpPr>
        <p:spPr>
          <a:xfrm>
            <a:off x="846221" y="3625765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Tabulation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  </a:t>
            </a:r>
            <a:r>
              <a:rPr lang="ko-KR" altLang="en-US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반복문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+ DP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테이블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318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58A2E-5D83-4563-0EB5-FD5077A27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42A7C5E1-1490-5EC2-1121-4465E4FACD3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0411E94-4E85-D672-2D4C-67A7AF2ED891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93756-51F0-2DDF-7407-E3DD78F71CA4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05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67B4F-A38A-F3D6-BB7D-8C294C35E865}"/>
              </a:ext>
            </a:extLst>
          </p:cNvPr>
          <p:cNvSpPr txBox="1"/>
          <p:nvPr/>
        </p:nvSpPr>
        <p:spPr>
          <a:xfrm>
            <a:off x="1247539" y="331593"/>
            <a:ext cx="44836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요약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12FCC79-B85A-F729-E494-8ECDCAC1B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36DB7735-8426-11BD-09DE-1D8CCEA657CA}"/>
              </a:ext>
            </a:extLst>
          </p:cNvPr>
          <p:cNvSpPr/>
          <p:nvPr/>
        </p:nvSpPr>
        <p:spPr>
          <a:xfrm>
            <a:off x="898124" y="1472646"/>
            <a:ext cx="10395751" cy="454641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Dynamic Programming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큰 문제를 작은 문제로 나누어 해결하는 알고리즘 설계 기법이다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단순 재귀와의 가장 큰 차이는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 번 계산한 결과를 저장해두고 다시 사용한다는 점이다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덕분에 같은 계산을 반복하지 않아도 되므로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실행 시간을 크게 줄일 수 있다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의 핵심 아이디어는 다음과 같다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 번 계산한 값은 다시 계산하지 말자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96128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09748-F38D-ECAF-5F08-B9326EEB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485638A6-4EAA-EEA5-FD9C-6412DB3A89C6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0CEC0B3-80C3-A6A9-F023-7DA5C74AB398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B5E7BDD-6548-2CC7-21E6-DCE1EAE315CD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689C4-4F16-8B9A-5B3D-3E3191A40BD0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05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06255-DF24-D341-71B6-66C7A7B742BC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48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326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50E00-19CD-1B1B-6813-AD53E581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11B4CF1-062A-1134-05F5-F0FF40014D7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09C88EE-48BC-52A0-B431-BFE7D60D933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EB01C9-4987-15FF-2A77-379447457293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17D68-50B8-2320-55E9-B0A00C49549E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 번 계산한 값을 저장해두고 다시 사용하는 방법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57CB8-17A7-148F-A78F-0E84712FA536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Memoization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DBF5094-31C1-4A8C-F4B7-4D5FEC825DA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5DA4CEC-6E51-D101-14FA-C2504AFE1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A85E92-18DF-C7AF-5CBA-CD442D41F8BF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Memoization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은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DP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구현하는 대표적인 방법 중 하나이다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E0F087-F1A9-7B58-8BAF-385699625A4B}"/>
              </a:ext>
            </a:extLst>
          </p:cNvPr>
          <p:cNvSpPr txBox="1"/>
          <p:nvPr/>
        </p:nvSpPr>
        <p:spPr>
          <a:xfrm>
            <a:off x="839160" y="221968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재귀 함수의 구조는 그대로 사용한다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2BB90-9AE9-8CC9-D122-61AFB749F49F}"/>
              </a:ext>
            </a:extLst>
          </p:cNvPr>
          <p:cNvSpPr txBox="1"/>
          <p:nvPr/>
        </p:nvSpPr>
        <p:spPr>
          <a:xfrm>
            <a:off x="846221" y="280857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대신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 번 계산한 결과를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리스트나 </a:t>
            </a:r>
            <a:r>
              <a:rPr lang="ko-KR" altLang="en-US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딕셔너리에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저장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AEB236-EF37-E0A9-AAE0-5E35E98D9381}"/>
              </a:ext>
            </a:extLst>
          </p:cNvPr>
          <p:cNvSpPr txBox="1"/>
          <p:nvPr/>
        </p:nvSpPr>
        <p:spPr>
          <a:xfrm>
            <a:off x="846221" y="339746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같은 값이 다시 필요할 때는 재귀 호출을 하지 않고 저장된 값을 바로 반환한다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EF319-65CF-3F00-571B-2B0F60385E4B}"/>
              </a:ext>
            </a:extLst>
          </p:cNvPr>
          <p:cNvSpPr txBox="1"/>
          <p:nvPr/>
        </p:nvSpPr>
        <p:spPr>
          <a:xfrm>
            <a:off x="846221" y="398635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따라서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Naive Recursion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보다 훨씬 빠르게 계산할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1078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69B0-E51A-1B06-7E64-2FE41DBE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011E5AD-3750-784F-7C0C-EA40383F53C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80A0247-A846-25C1-6C54-06923E08E18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254298-AE96-E2D8-B809-CEDABDD0BABD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9353D-17E5-C970-2C32-A789C3F0E649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 번 계산한 값을 저장해두고 다시 사용하는 방법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6562D-6025-6300-D687-585E2A7D9295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Memoization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핵심 아이디어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8E4AF34-C00F-2937-7AB2-191DD4EA024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59D4592-F149-0E4A-2E61-D758A24C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F81152-240D-068B-EA0E-849C6E63AED1}"/>
              </a:ext>
            </a:extLst>
          </p:cNvPr>
          <p:cNvSpPr txBox="1"/>
          <p:nvPr/>
        </p:nvSpPr>
        <p:spPr>
          <a:xfrm>
            <a:off x="846221" y="4103634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즉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컴퓨터에게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기억력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만들어주는 방식이다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21EE6FAC-F48C-4AE4-9D33-91CEDF5DF09B}"/>
              </a:ext>
            </a:extLst>
          </p:cNvPr>
          <p:cNvSpPr/>
          <p:nvPr/>
        </p:nvSpPr>
        <p:spPr>
          <a:xfrm>
            <a:off x="2218457" y="2500901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계산한 적이 있다면 → 저장된 값을 사용한다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계산한 적이 없다면 → 새로 계산하고 저장한다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2483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11FB-17CD-147C-F138-C0D2C8C90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80EB961-9938-DBE3-BAC6-18B63534D5DD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AA56176-572C-ABF7-F501-23B36A7D6037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A403F-2A5D-DAF2-5602-2BBBD4CA622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409BD-4832-53B9-DAE4-FE342FD02845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B71585-1166-C5A5-38F6-FBF977CDB3D6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Naive Recursion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54DEE34-9A58-1470-FD57-CB00C7BCD4B3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CA37591-9C8E-683F-730D-C5FDFDE2B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10F357-A834-7DEB-534F-21FAF0B8B64D}"/>
              </a:ext>
            </a:extLst>
          </p:cNvPr>
          <p:cNvSpPr txBox="1"/>
          <p:nvPr/>
        </p:nvSpPr>
        <p:spPr>
          <a:xfrm>
            <a:off x="838499" y="4626287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하지만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Memoization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사용하면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(4)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처음 계산했을 때 그 결과를 저장한다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2B0B200E-803E-7045-EA4C-6ED78840A8A5}"/>
              </a:ext>
            </a:extLst>
          </p:cNvPr>
          <p:cNvSpPr/>
          <p:nvPr/>
        </p:nvSpPr>
        <p:spPr>
          <a:xfrm>
            <a:off x="2218457" y="2337108"/>
            <a:ext cx="7755085" cy="207509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fibo(6)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├─ fibo(5)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├─ </a:t>
            </a:r>
            <a:r>
              <a:rPr lang="it-IT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fibo(4)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│  └─ fibo(3)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└─ </a:t>
            </a:r>
            <a:r>
              <a:rPr lang="it-IT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fibo(4)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E6FD11-882B-3887-AFC2-E9CEDEF1BF37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Naive Recursion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에서는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(6)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계산할 때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(4),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(3), </a:t>
            </a:r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fibo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(2)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가 여러 번 반복해서 호출된다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AD104871-B811-1967-9282-63F23BB93B76}"/>
              </a:ext>
            </a:extLst>
          </p:cNvPr>
          <p:cNvSpPr/>
          <p:nvPr/>
        </p:nvSpPr>
        <p:spPr>
          <a:xfrm>
            <a:off x="2218457" y="5240483"/>
            <a:ext cx="7755085" cy="725311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fibo(4) = 3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저장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25156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912E-600B-5466-DD93-75A727C7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7BFB692-E767-E386-6138-D50D6D37949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C4C9B70-6FD5-2020-6A79-7BEED510C60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ECB26-45C0-CE34-0EB4-4E34F40C90F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59EBC-CA59-302C-483C-BCA914316439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41027-4373-B6CF-8E4D-20DAA36EB555}"/>
              </a:ext>
            </a:extLst>
          </p:cNvPr>
          <p:cNvSpPr txBox="1"/>
          <p:nvPr/>
        </p:nvSpPr>
        <p:spPr>
          <a:xfrm>
            <a:off x="943357" y="1170429"/>
            <a:ext cx="681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1: </a:t>
            </a:r>
            <a:r>
              <a:rPr lang="ko-KR" altLang="en-US" sz="2400" dirty="0">
                <a:solidFill>
                  <a:srgbClr val="228FF4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리스트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 사용한 </a:t>
            </a:r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Memoization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F37E574E-B3EC-E391-E7D8-B5C5CA5E6B1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5A6E3BD-34E5-9E70-5ECF-CB38EBD5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62D2C4B-4A28-5E67-56B5-FDC4AE58AF8A}"/>
              </a:ext>
            </a:extLst>
          </p:cNvPr>
          <p:cNvSpPr/>
          <p:nvPr/>
        </p:nvSpPr>
        <p:spPr>
          <a:xfrm>
            <a:off x="2218457" y="1999935"/>
            <a:ext cx="7755085" cy="368763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 = [0] * 100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fibo(n):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n &lt;= 2: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memo[n] != 0: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memo[n]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memo[n] = fibo(n - 1) + fibo(n - 2)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memo[n]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DF3DECF7-50D2-E669-8792-5008A820FE3E}"/>
              </a:ext>
            </a:extLst>
          </p:cNvPr>
          <p:cNvSpPr/>
          <p:nvPr/>
        </p:nvSpPr>
        <p:spPr>
          <a:xfrm>
            <a:off x="2218457" y="5855357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print(fibo(6))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8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0899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F988-9A8F-314E-7A8D-691714B9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ED8CEB2D-73B4-3F6E-3D35-E293929DD14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9D21995-BFDB-0099-F063-4EF4B221D5EE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2D7575-00B3-AB23-38E1-E44B751861C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BDE27-3CEB-597B-2947-03B0E26E465E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A714A7-7301-E7E3-E991-38AF9B88EB33}"/>
              </a:ext>
            </a:extLst>
          </p:cNvPr>
          <p:cNvSpPr txBox="1"/>
          <p:nvPr/>
        </p:nvSpPr>
        <p:spPr>
          <a:xfrm>
            <a:off x="943357" y="1170429"/>
            <a:ext cx="681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예시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흐름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1F4858D7-7B1B-45E8-DD57-D1845A961312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5D2A941-4944-6FBA-594C-63D3B6B24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16D3A51-81D9-C859-B71E-43EB0622D70D}"/>
              </a:ext>
            </a:extLst>
          </p:cNvPr>
          <p:cNvSpPr/>
          <p:nvPr/>
        </p:nvSpPr>
        <p:spPr>
          <a:xfrm>
            <a:off x="1719308" y="2412197"/>
            <a:ext cx="8753383" cy="204525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1.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을 호출한다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2. memo[6]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에 저장된 값이 있는지 확인한다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3.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없으면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(5)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(4)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를 계산한다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4.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계산한 결과를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memo[6]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에 저장한다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5.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나중에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(6)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 다시 필요하면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memo[6]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값을 바로 사용한다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0918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29E9-B98C-13D1-255C-E194F9B1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0E70A3D-220B-0CAB-5DC2-EE495F68E21B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06FCE00-85DD-FA4A-88E4-E55F6B034F6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A80EC-7943-4320-4F0E-DF30841A397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972FB-4807-1405-D0DE-1D09B12BB5A0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BB20E1-2E2B-68F7-0530-F23D4D6C0902}"/>
              </a:ext>
            </a:extLst>
          </p:cNvPr>
          <p:cNvSpPr txBox="1"/>
          <p:nvPr/>
        </p:nvSpPr>
        <p:spPr>
          <a:xfrm>
            <a:off x="943357" y="1170429"/>
            <a:ext cx="681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예시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흐름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0FB2A53E-FC91-E607-4CD6-DCF1CE9A666E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4BDEBE0-F666-F87E-404A-9D27B038D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96EE66AE-70EC-E1AB-5241-EED559CB86C4}"/>
              </a:ext>
            </a:extLst>
          </p:cNvPr>
          <p:cNvSpPr/>
          <p:nvPr/>
        </p:nvSpPr>
        <p:spPr>
          <a:xfrm>
            <a:off x="1719308" y="2106337"/>
            <a:ext cx="8753383" cy="101680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if memo[n] != 0: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memo[n]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C72A8-4A37-CA62-6A77-DD89F7C96752}"/>
              </a:ext>
            </a:extLst>
          </p:cNvPr>
          <p:cNvSpPr txBox="1"/>
          <p:nvPr/>
        </p:nvSpPr>
        <p:spPr>
          <a:xfrm>
            <a:off x="943357" y="3334751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 부분은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이미 계산한 값이 있는지 확인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하는 코드이다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02436F65-9393-0693-D880-DA3FF690E52B}"/>
              </a:ext>
            </a:extLst>
          </p:cNvPr>
          <p:cNvSpPr/>
          <p:nvPr/>
        </p:nvSpPr>
        <p:spPr>
          <a:xfrm>
            <a:off x="1719308" y="4220253"/>
            <a:ext cx="8753383" cy="1016803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memo[n] = fibo(n - 1) + fibo(n - 2)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F7E17-B780-AB33-F252-495F8B915D08}"/>
              </a:ext>
            </a:extLst>
          </p:cNvPr>
          <p:cNvSpPr txBox="1"/>
          <p:nvPr/>
        </p:nvSpPr>
        <p:spPr>
          <a:xfrm>
            <a:off x="943357" y="5448667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 부분은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처음 계산한 값을 저장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하는 코드이다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67469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09BE2-33AC-FBCB-3B2C-4DFF039D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DD57028D-F0A1-6D29-A0D9-C8E6D9F4627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F69FFA-6141-D4A0-E514-34885581247C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344241-74E0-6AF4-87D3-BF5D1FFD7A57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64A60-2644-AB0B-8707-C0A1647A1F0E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 err="1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18A39D-3B28-1650-4E43-8EBFF4BCEAC4}"/>
              </a:ext>
            </a:extLst>
          </p:cNvPr>
          <p:cNvSpPr txBox="1"/>
          <p:nvPr/>
        </p:nvSpPr>
        <p:spPr>
          <a:xfrm>
            <a:off x="943357" y="1170429"/>
            <a:ext cx="6815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2: </a:t>
            </a:r>
            <a:r>
              <a:rPr lang="ko-KR" altLang="en-US" sz="2400" dirty="0" err="1">
                <a:solidFill>
                  <a:srgbClr val="228FF4"/>
                </a:solidFill>
                <a:highlight>
                  <a:srgbClr val="FFFF00"/>
                </a:highlight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딕셔너리</a:t>
            </a:r>
            <a:r>
              <a:rPr lang="ko-KR" altLang="en-US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를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사용한 </a:t>
            </a:r>
            <a:r>
              <a:rPr lang="en-US" altLang="ko-KR" sz="2400" dirty="0" err="1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Memoization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92D6E45-72AA-38E3-FF7C-0DEFF37872A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9C8D6E9-8B65-7336-9105-AC0E1E605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5A92BDFF-EA10-F866-3003-2F183E3D55E4}"/>
              </a:ext>
            </a:extLst>
          </p:cNvPr>
          <p:cNvSpPr/>
          <p:nvPr/>
        </p:nvSpPr>
        <p:spPr>
          <a:xfrm>
            <a:off x="2218457" y="1999935"/>
            <a:ext cx="7755085" cy="368763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 = {}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fibo(n):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n &lt;= 2: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if n in memo: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return memo[n]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memo[n] = fibo(n - 1) + fibo(n - 2)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memo[n]</a:t>
            </a:r>
          </a:p>
        </p:txBody>
      </p:sp>
      <p:sp>
        <p:nvSpPr>
          <p:cNvPr id="5" name="모서리가 둥근 직사각형 10">
            <a:extLst>
              <a:ext uri="{FF2B5EF4-FFF2-40B4-BE49-F238E27FC236}">
                <a16:creationId xmlns:a16="http://schemas.microsoft.com/office/drawing/2014/main" id="{E7007B0E-BA64-6454-F4FA-172019E85D5D}"/>
              </a:ext>
            </a:extLst>
          </p:cNvPr>
          <p:cNvSpPr/>
          <p:nvPr/>
        </p:nvSpPr>
        <p:spPr>
          <a:xfrm>
            <a:off x="2218457" y="5855357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print(fibo(6))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8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82159-104E-62D1-51FB-948C7EEB06AC}"/>
              </a:ext>
            </a:extLst>
          </p:cNvPr>
          <p:cNvSpPr txBox="1"/>
          <p:nvPr/>
        </p:nvSpPr>
        <p:spPr>
          <a:xfrm>
            <a:off x="943356" y="159982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딕셔너리는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필요한 값만 저장할 수 있어서 더 유연하게 사용할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09291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7F8A-025F-D3C6-5AE9-99A2D28D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3E072E4-C93D-D185-BA17-896D26D122D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9A7EDE-6CFC-D464-7DB5-7CE938E4E059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5F1AA7-7093-1BAD-D568-92D5200F92A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F5D6C-747C-663D-9CBC-B9B6F604E3A8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Naive Recursion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 </a:t>
            </a:r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 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비교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876E9C9-B51E-12A0-2FD7-1EB983E0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C6EDF7-DAF2-35B5-754A-1AD6C6E426DC}"/>
              </a:ext>
            </a:extLst>
          </p:cNvPr>
          <p:cNvSpPr txBox="1"/>
          <p:nvPr/>
        </p:nvSpPr>
        <p:spPr>
          <a:xfrm>
            <a:off x="839160" y="1639126"/>
            <a:ext cx="105136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Naive Recursion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구현이 간단하다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같은 계산을 여러 번 반복한다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입력값이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커지면 매우 느려진다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44417-8998-6F24-2E22-4F257F80DDDF}"/>
              </a:ext>
            </a:extLst>
          </p:cNvPr>
          <p:cNvSpPr txBox="1"/>
          <p:nvPr/>
        </p:nvSpPr>
        <p:spPr>
          <a:xfrm>
            <a:off x="839160" y="3833879"/>
            <a:ext cx="105136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계산 결과를 저장한다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같은 계산을 반복하지 않는다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입력값이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커져도 훨씬 빠르다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6485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FB299-3419-3BE3-1D65-E6EF7E4E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CD463CA-2683-4D65-3C6F-8C8431DE159A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0656DC-3C89-6FE7-6F7A-ABE683B270F3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7AFD6D-A4A1-FBD6-9969-D552C9CEB61B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34D86-40BA-1D96-9CFE-19CBE212026A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요약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93C6597-5C43-8EDC-13BB-7E709E6B6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0F569EB7-8F77-0A30-FC76-FF2F14DD936D}"/>
              </a:ext>
            </a:extLst>
          </p:cNvPr>
          <p:cNvSpPr/>
          <p:nvPr/>
        </p:nvSpPr>
        <p:spPr>
          <a:xfrm>
            <a:off x="898124" y="1472646"/>
            <a:ext cx="10395751" cy="454641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Memoization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재귀 함수의 계산 결과를 저장해두는 방법이다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한 번 계산한 값은 리스트나 </a:t>
            </a:r>
            <a:r>
              <a:rPr lang="ko-KR" altLang="en-US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딕셔너리에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저장하고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같은 값이 다시 필요할 때는 새로 계산하지 않고 저장된 값을 사용한다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즉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Memoization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재귀 함수에 기억력을 추가하는 방식이다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덕분에 중복 계산을 줄이고 실행 시간을 크게 단축할 수 있다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3782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91206-AE4F-4CAD-108C-9A740C93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8C30713E-6E0E-CC2A-335A-C7C07E5FB82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2F689E9-9E92-DF27-30AE-B9E17257743A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A6BE8-98D3-2E0F-9F5C-479E866DA592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AEFEC1-2CBE-9BC1-E1D6-364D06056BCD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06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730BE-8414-1301-2D0D-72C35CA2580F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</p:spTree>
    <p:extLst>
      <p:ext uri="{BB962C8B-B14F-4D97-AF65-F5344CB8AC3E}">
        <p14:creationId xmlns:p14="http://schemas.microsoft.com/office/powerpoint/2010/main" val="4793907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488DC-C830-88F3-6142-511AC0220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76C89028-CB5E-F304-0DC4-20A0F942670F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44B1863-17C3-CE29-E1B7-B711C24B6C4B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645E5-E46C-48C6-9C18-F85B1AB7F89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3C258-FCCF-4FC9-A366-9D9DEA964955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반복문으로 작은 문제부터 차례대로 해결하는 방법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EC229A-6B98-8E55-850B-CE7F31ED2020}"/>
              </a:ext>
            </a:extLst>
          </p:cNvPr>
          <p:cNvSpPr txBox="1"/>
          <p:nvPr/>
        </p:nvSpPr>
        <p:spPr>
          <a:xfrm>
            <a:off x="943358" y="1170429"/>
            <a:ext cx="3016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Tabulation</a:t>
            </a: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FB7C152B-57BC-AEA8-0C18-8B385D8F01D6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6B5BDB0-651E-DA2C-5887-89B1B0F0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090244-4CA6-E5BF-53CC-5D491B99D9D0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Tabulation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은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DP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구현하는 또 다른 대표적인 방법이다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CC699C-9FD4-5934-811D-F52F1AB8E270}"/>
              </a:ext>
            </a:extLst>
          </p:cNvPr>
          <p:cNvSpPr txBox="1"/>
          <p:nvPr/>
        </p:nvSpPr>
        <p:spPr>
          <a:xfrm>
            <a:off x="839160" y="221968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재귀 함수를 사용하지 않고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반복문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사용한다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A901B-E745-21E0-74CA-2AC507F17B8D}"/>
              </a:ext>
            </a:extLst>
          </p:cNvPr>
          <p:cNvSpPr txBox="1"/>
          <p:nvPr/>
        </p:nvSpPr>
        <p:spPr>
          <a:xfrm>
            <a:off x="846221" y="280857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작은 문제의 답부터 차례대로 구해서 리스트에 저장한다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6844B-AECA-F92A-398B-B26810A2FDE0}"/>
              </a:ext>
            </a:extLst>
          </p:cNvPr>
          <p:cNvSpPr txBox="1"/>
          <p:nvPr/>
        </p:nvSpPr>
        <p:spPr>
          <a:xfrm>
            <a:off x="846221" y="339746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이렇게 저장된 리스트를 보통 </a:t>
            </a:r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테이블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이라고 부른다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98B9CE-7CB3-6980-6716-B94E3C994937}"/>
              </a:ext>
            </a:extLst>
          </p:cNvPr>
          <p:cNvSpPr txBox="1"/>
          <p:nvPr/>
        </p:nvSpPr>
        <p:spPr>
          <a:xfrm>
            <a:off x="846221" y="3986359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이전에 구한 값을 이용해 다음 값을 계산한다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89555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FFEC-2A18-2B5E-BEF4-699D45724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C2FF121-4DAE-4D75-C805-777436E63EA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45199D1-29C0-525F-3F7A-0C8BF92D3112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1A7180-5824-5DD7-C2EB-4C4757503E61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A62A0-06C1-6ACD-5EAC-05473EF7EAC3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반복문으로 작은 문제부터 차례대로 해결하는 방법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0DAC7-A1FF-AF5C-A3B2-823DB133E795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Tabulation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의 핵심 아이디어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A12B58EB-E177-9AC0-6AEF-BF59E018700A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B5AF416-5E10-9777-D76C-DE13B6554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6F83BE-3A1C-E33E-10C5-3C110597B7D8}"/>
              </a:ext>
            </a:extLst>
          </p:cNvPr>
          <p:cNvSpPr txBox="1"/>
          <p:nvPr/>
        </p:nvSpPr>
        <p:spPr>
          <a:xfrm>
            <a:off x="846221" y="3668518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Memoization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 위에서 아래로 내려가는 방식이라면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,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Tabulation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은 아래에서 위로 올라가는 방식이라고 볼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56ECE7B7-F544-2D6C-DA4C-48388F6AFF9A}"/>
              </a:ext>
            </a:extLst>
          </p:cNvPr>
          <p:cNvSpPr/>
          <p:nvPr/>
        </p:nvSpPr>
        <p:spPr>
          <a:xfrm>
            <a:off x="2218457" y="2065785"/>
            <a:ext cx="7755085" cy="1130640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작은 문제부터 차례대로 답을 구한다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구한 답을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테이블에 저장한다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이전 답을 이용해 다음 답을 계산한다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A1C2F75B-83BF-607E-79C7-F4601A55127D}"/>
              </a:ext>
            </a:extLst>
          </p:cNvPr>
          <p:cNvSpPr/>
          <p:nvPr/>
        </p:nvSpPr>
        <p:spPr>
          <a:xfrm>
            <a:off x="2218457" y="4590490"/>
            <a:ext cx="7755085" cy="1822338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Memoization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큰 문제 → 작은 문제</a:t>
            </a:r>
          </a:p>
          <a:p>
            <a:endParaRPr lang="ko-KR" altLang="en-US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Tabulation: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작은 문제 → 큰 문제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66672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84C0A-94A2-609D-845D-297D3C61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8E82CDB8-E472-4AD5-B945-E1EF99C9718E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B33050-2961-6809-80D5-B8E2385D7BFA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4A428-F218-B41C-5B31-FDBB39C0652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A1B04-6524-CD22-0B5C-0B87E70A83F3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B04818-7831-F08F-52F3-12AED68A82C3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피보나치 예시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DFEAE3EA-6C9D-E1E6-3380-575E9884E8A5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721FCA7-1951-9E43-3569-EB8FC828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596D5D-B3FB-CFCC-5E1B-E57D701F4540}"/>
              </a:ext>
            </a:extLst>
          </p:cNvPr>
          <p:cNvSpPr txBox="1"/>
          <p:nvPr/>
        </p:nvSpPr>
        <p:spPr>
          <a:xfrm>
            <a:off x="838499" y="3223125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따라서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fibo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(6)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구하려면 앞의 값들을 먼저 구하면 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142A4FE0-D798-CDB1-CEC8-C9E6EA5BE610}"/>
              </a:ext>
            </a:extLst>
          </p:cNvPr>
          <p:cNvSpPr/>
          <p:nvPr/>
        </p:nvSpPr>
        <p:spPr>
          <a:xfrm>
            <a:off x="2218457" y="2171135"/>
            <a:ext cx="7755085" cy="671661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fibo(n) = fibo(n - 1) + fibo(n - 2)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EF1C9-745F-ED6E-6C53-6C6972117829}"/>
              </a:ext>
            </a:extLst>
          </p:cNvPr>
          <p:cNvSpPr txBox="1"/>
          <p:nvPr/>
        </p:nvSpPr>
        <p:spPr>
          <a:xfrm>
            <a:off x="838499" y="1633928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피보나치 수열은 다음 규칙을 가진다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251475F0-0B81-B1D8-02C5-CAB9D66B8BDB}"/>
              </a:ext>
            </a:extLst>
          </p:cNvPr>
          <p:cNvSpPr/>
          <p:nvPr/>
        </p:nvSpPr>
        <p:spPr>
          <a:xfrm>
            <a:off x="2218457" y="3740743"/>
            <a:ext cx="7755085" cy="2225052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fibo(1) = 1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fibo(2) = 1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fibo(3) = fibo(2) + fibo(1) = 2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fibo(4) = fibo(3) + fibo(2) = 3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fibo(5) = fibo(4) + fibo(3) = 5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fibo(6) = fibo(5) + fibo(4) = 8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25751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EF13-4E12-EBD6-B65B-BFE435C5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29F2A69F-8D5B-F976-B360-36A1788592C0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205A8AD-8D29-D98B-F902-90DE9AE7AEA6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F8A221-70CF-0B0E-D1CE-F95562A0267A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CEEFC-C00B-2506-4F74-BBF5A7C5FE21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E71B9-E9ED-0445-80F1-04018877E0AC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테이블 예시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ED170CE7-AA6A-2133-C8A2-21E3120CC248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B6485AF-5218-00E1-A2FC-34B9F6C5D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96513A-3AFA-5F2E-9F6D-C3B4B7D6CBA2}"/>
              </a:ext>
            </a:extLst>
          </p:cNvPr>
          <p:cNvSpPr txBox="1"/>
          <p:nvPr/>
        </p:nvSpPr>
        <p:spPr>
          <a:xfrm>
            <a:off x="831438" y="3597154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여기서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[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]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는 </a:t>
            </a:r>
            <a:r>
              <a:rPr lang="en-US" altLang="ko-KR" sz="20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i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번째 피보나치 수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의미한다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3" name="모서리가 둥근 직사각형 10">
            <a:extLst>
              <a:ext uri="{FF2B5EF4-FFF2-40B4-BE49-F238E27FC236}">
                <a16:creationId xmlns:a16="http://schemas.microsoft.com/office/drawing/2014/main" id="{0D885FB8-AD61-C1EC-2323-A30787DCA820}"/>
              </a:ext>
            </a:extLst>
          </p:cNvPr>
          <p:cNvSpPr/>
          <p:nvPr/>
        </p:nvSpPr>
        <p:spPr>
          <a:xfrm>
            <a:off x="3000652" y="4109117"/>
            <a:ext cx="5714261" cy="2225052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dp[1] = 1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dp[2] = 1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dp[3] = dp[2] + dp[1]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dp[4] = dp[3] + dp[2]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dp[5] = dp[4] + dp[3]</a:t>
            </a:r>
          </a:p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dp[6] = dp[5] + dp[4]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AB868D-D8D2-5717-CF48-08A12B60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652" y="1749602"/>
            <a:ext cx="5714261" cy="173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103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AE4B-AADF-14B5-8585-19B0AE76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F6A4170-5A1A-F08D-A1B6-6F49CDAD39F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5C4A3F-48A1-F3A4-B0B2-1265AB04154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3303D7-43AA-A188-6FD1-59EB0D2A1BE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6FE320-A76A-AED0-2398-38AFDD396A4D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5121CE-B397-FCB3-D48C-14D17683FC5E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예시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CD83205-8B5F-673A-E884-515A454FF459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4FB4807-AB59-029D-18A2-4E8192CAC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9" name="모서리가 둥근 직사각형 10">
            <a:extLst>
              <a:ext uri="{FF2B5EF4-FFF2-40B4-BE49-F238E27FC236}">
                <a16:creationId xmlns:a16="http://schemas.microsoft.com/office/drawing/2014/main" id="{1FEE14BF-BAA2-3711-4E32-8D1FDF975E62}"/>
              </a:ext>
            </a:extLst>
          </p:cNvPr>
          <p:cNvSpPr/>
          <p:nvPr/>
        </p:nvSpPr>
        <p:spPr>
          <a:xfrm>
            <a:off x="2218457" y="1999935"/>
            <a:ext cx="7755085" cy="368763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fibo(n):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pt-BR" altLang="ko-KR" sz="22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= [0] * (n + 1)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dp[1] =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dp[2] = 1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pt-BR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 i in range(3, n + 1):</a:t>
            </a:r>
          </a:p>
          <a:p>
            <a:r>
              <a:rPr lang="pt-BR" altLang="ko-KR" sz="22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dp[i] = dp[i - 1] + dp[i - 2]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dp[n]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806F0CF-2343-235A-A444-4A059B2BF3BD}"/>
              </a:ext>
            </a:extLst>
          </p:cNvPr>
          <p:cNvSpPr/>
          <p:nvPr/>
        </p:nvSpPr>
        <p:spPr>
          <a:xfrm>
            <a:off x="2218457" y="5855357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print(fibo(6))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8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6505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B5860-B427-41B5-97C9-7BA09449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F4C04D2-A304-3B5E-8D07-03F48E032A64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7406580-1307-2857-BDFC-C72354321BB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7EAC5-BD7B-33D5-C7D6-FD6B8AF8260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AB8B4-B89B-15FC-C47B-69AFE4EA1744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피보나치와 </a:t>
            </a:r>
            <a:r>
              <a:rPr lang="en-US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01D51-6B08-9BF1-2D0B-CCD33E7158D2}"/>
              </a:ext>
            </a:extLst>
          </p:cNvPr>
          <p:cNvSpPr txBox="1"/>
          <p:nvPr/>
        </p:nvSpPr>
        <p:spPr>
          <a:xfrm>
            <a:off x="943357" y="1170429"/>
            <a:ext cx="4773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코드 흐름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78FCCA5-3A11-3BF8-E87D-FAE6F8AFFDD7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C513517-2E17-D412-5701-CFDFCA657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158ABB1F-1B2F-604F-FF79-EB21FF1AABBA}"/>
              </a:ext>
            </a:extLst>
          </p:cNvPr>
          <p:cNvSpPr/>
          <p:nvPr/>
        </p:nvSpPr>
        <p:spPr>
          <a:xfrm>
            <a:off x="1719309" y="1744737"/>
            <a:ext cx="8753383" cy="52794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= [0] * (n + 1)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8D738-9960-487E-29C5-71E63099D36A}"/>
              </a:ext>
            </a:extLst>
          </p:cNvPr>
          <p:cNvSpPr txBox="1"/>
          <p:nvPr/>
        </p:nvSpPr>
        <p:spPr>
          <a:xfrm>
            <a:off x="943357" y="2368947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피보나치 값을 저장할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DP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테이블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을 만든다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12BF8626-449E-4B07-4F81-59870C0D1721}"/>
              </a:ext>
            </a:extLst>
          </p:cNvPr>
          <p:cNvSpPr/>
          <p:nvPr/>
        </p:nvSpPr>
        <p:spPr>
          <a:xfrm>
            <a:off x="1719309" y="2986499"/>
            <a:ext cx="8753383" cy="829808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dp[1] = 1</a:t>
            </a:r>
          </a:p>
          <a:p>
            <a:r>
              <a:rPr lang="nl-NL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dp[2] = 1</a:t>
            </a:r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C8377-8124-0B01-5086-F92AAE45080E}"/>
              </a:ext>
            </a:extLst>
          </p:cNvPr>
          <p:cNvSpPr txBox="1"/>
          <p:nvPr/>
        </p:nvSpPr>
        <p:spPr>
          <a:xfrm>
            <a:off x="943357" y="3957767"/>
            <a:ext cx="10513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Base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 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Case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먼저 저장한다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 값이 있어야 다음 값을 계산할 수 있다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모서리가 둥근 직사각형 10">
            <a:extLst>
              <a:ext uri="{FF2B5EF4-FFF2-40B4-BE49-F238E27FC236}">
                <a16:creationId xmlns:a16="http://schemas.microsoft.com/office/drawing/2014/main" id="{AF659948-D0A0-5B21-96F8-3338A21D5A8A}"/>
              </a:ext>
            </a:extLst>
          </p:cNvPr>
          <p:cNvSpPr/>
          <p:nvPr/>
        </p:nvSpPr>
        <p:spPr>
          <a:xfrm>
            <a:off x="1719309" y="4879739"/>
            <a:ext cx="8753383" cy="829808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n-NO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 i in range(3, n + 1):</a:t>
            </a:r>
          </a:p>
          <a:p>
            <a:r>
              <a:rPr lang="nn-NO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dp[i] = dp[i - 1] + dp[i - 2]</a:t>
            </a:r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23BE74-1155-529D-42D9-F07DDE93683D}"/>
              </a:ext>
            </a:extLst>
          </p:cNvPr>
          <p:cNvSpPr txBox="1"/>
          <p:nvPr/>
        </p:nvSpPr>
        <p:spPr>
          <a:xfrm>
            <a:off x="890940" y="5829031"/>
            <a:ext cx="105136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이전에 구한 두 값을 이용해 현재 값을 계산한다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862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A49F-9E33-6BC9-43AC-69259981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63680509-2BA1-21C9-E0A2-CFE597D4D25C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51A9248-CEEA-A6F9-E588-B8497AA630FD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11FB85-9E49-F69D-4B91-6D3837F2C4F0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826D5-3DAC-4D5B-EE2A-870D29E78D73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Memoization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과 </a:t>
            </a:r>
            <a:r>
              <a:rPr lang="it-IT" altLang="ko-KR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Tabulation </a:t>
            </a:r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비교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C8CA4A6-1A4B-76FC-AC68-8DF486FE2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E835E1-41E7-038A-FD6E-1B807F0056B0}"/>
              </a:ext>
            </a:extLst>
          </p:cNvPr>
          <p:cNvSpPr txBox="1"/>
          <p:nvPr/>
        </p:nvSpPr>
        <p:spPr>
          <a:xfrm>
            <a:off x="839160" y="1639126"/>
            <a:ext cx="1051367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</a:t>
            </a:r>
            <a:r>
              <a:rPr lang="en-US" altLang="ko-KR" sz="2400" dirty="0" err="1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emoization</a:t>
            </a:r>
            <a:endParaRPr lang="en-US" altLang="ko-KR" sz="24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재귀 함수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를 사용한다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필요한 값이 생기면 계산한다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큰 문제에서 작은 문제로 내려간다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</a:p>
          <a:p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- </a:t>
            </a:r>
            <a:r>
              <a:rPr lang="en-US" altLang="ko-KR" sz="2000" dirty="0">
                <a:solidFill>
                  <a:srgbClr val="0070C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Top-Down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방식</a:t>
            </a:r>
            <a:r>
              <a:rPr lang="ko-KR" altLang="en-US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이라고 부른다</a:t>
            </a:r>
            <a:r>
              <a:rPr lang="en-US" altLang="ko-KR" sz="2000" dirty="0">
                <a:latin typeface="Pretendard Light" panose="020B0600000101010101" charset="-127"/>
                <a:ea typeface="Pretendard Light" panose="020B0600000101010101" charset="-127"/>
                <a:cs typeface="Pretendard Light" panose="020B0600000101010101" charset="-127"/>
              </a:rPr>
              <a:t>.</a:t>
            </a:r>
            <a:endParaRPr lang="en-US" altLang="ko-KR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ADB24-AF26-871F-CB7A-BA542163AD25}"/>
              </a:ext>
            </a:extLst>
          </p:cNvPr>
          <p:cNvSpPr txBox="1"/>
          <p:nvPr/>
        </p:nvSpPr>
        <p:spPr>
          <a:xfrm>
            <a:off x="839160" y="3833879"/>
            <a:ext cx="1051367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</a:t>
            </a:r>
            <a:r>
              <a:rPr lang="en-US" altLang="ko-KR" sz="2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abulation</a:t>
            </a:r>
          </a:p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반복문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사용한다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b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작은 값부터 미리 차례대로 계산한다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b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작은 문제에서 큰 문제로 올라간다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b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 </a:t>
            </a:r>
            <a:r>
              <a:rPr lang="en-US" altLang="ko-KR" sz="2000" dirty="0">
                <a:solidFill>
                  <a:srgbClr val="0070C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Bottom-Up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방식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이라고 부른다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3837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B4BB-534E-4026-C6DF-F066E827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F68C4FD8-5DED-9109-AD2E-B7410ABE4F96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9EFBAB-7E9B-A756-0C26-4060747AF29E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4A62F3-55AA-8C23-C84B-07B7DD6B1A8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A2DDB7-3360-D33E-2194-C1D048A398A7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요약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6F2D50D-18AA-6277-A29F-62D21B45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966406F1-BF7C-A5CD-F57E-458F1F0C48ED}"/>
              </a:ext>
            </a:extLst>
          </p:cNvPr>
          <p:cNvSpPr/>
          <p:nvPr/>
        </p:nvSpPr>
        <p:spPr>
          <a:xfrm>
            <a:off x="898124" y="1472646"/>
            <a:ext cx="10395751" cy="454641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Tabulation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반복문을 사용해 작은 문제부터 차례대로 해결하는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방식이다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계산한 결과는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테이블에 저장한다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피보나치 수열에서는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[1]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과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[2]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를 먼저 저장한 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이전 두 값을 이용해 다음 값을 계산한다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 =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- 1] +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- 2]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이처럼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Tabulation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은 작은 문제에서 큰 문제로 올라가는 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Bottom-Up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방식이다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44353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AF00A-5914-5BEB-F780-CF227B1E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96F57D25-6CC5-E70B-5582-0D43FD9802DB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D3A045-75D4-CD96-5218-9D954451670A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rgbClr val="9DD1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A662F6-E78C-87AF-0905-2F6163A01A86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E4FBD-170D-5C74-DD45-0A6C83C4671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07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97AE7-6772-964D-AAFC-DA10DBC7A14E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36027314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A2BDCB78-0B46-01A8-C73A-23F32CC06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27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D8C40-9D8F-C6A9-FE66-645B1165A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C823C82-C8C4-154B-9B42-80010313B0C1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147AED-7B5C-F82E-6F4D-A4FEB236CA74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850C80-CF70-137C-BBB1-24B21FEEAE48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D1A7A-9D00-E74F-F9AA-15376C7FDACC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계단 오르기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DCD04B-9C2D-50AC-BA8B-B45117DC69A9}"/>
              </a:ext>
            </a:extLst>
          </p:cNvPr>
          <p:cNvSpPr txBox="1"/>
          <p:nvPr/>
        </p:nvSpPr>
        <p:spPr>
          <a:xfrm>
            <a:off x="943357" y="1170429"/>
            <a:ext cx="569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실습 문제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계단 오르기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C84788D8-4BAB-D2F3-F246-30FC8FB6A544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0224387-2EA7-A16E-FC35-D0556823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4" name="모서리가 둥근 직사각형 10">
            <a:extLst>
              <a:ext uri="{FF2B5EF4-FFF2-40B4-BE49-F238E27FC236}">
                <a16:creationId xmlns:a16="http://schemas.microsoft.com/office/drawing/2014/main" id="{F8A7A841-E0B2-8E13-067D-A1BA52FE1B3B}"/>
              </a:ext>
            </a:extLst>
          </p:cNvPr>
          <p:cNvSpPr/>
          <p:nvPr/>
        </p:nvSpPr>
        <p:spPr>
          <a:xfrm>
            <a:off x="2218457" y="1846180"/>
            <a:ext cx="7755085" cy="368763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stair(n):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 = [0] * (n + 1)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dp[1] =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dp[2] = 2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for i in range(3, n + 1):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dp[i] = dp[i - 1] + dp[i - 2]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dp[n]</a:t>
            </a: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F535358F-0555-3915-B090-8DD21E875818}"/>
              </a:ext>
            </a:extLst>
          </p:cNvPr>
          <p:cNvSpPr/>
          <p:nvPr/>
        </p:nvSpPr>
        <p:spPr>
          <a:xfrm>
            <a:off x="2218457" y="5701602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print(stair(5))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8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6846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C7251-34E6-BCCD-4DD9-8238FF17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73A052-7321-22E7-85C7-A89FFF316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632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EA9C-D89F-1876-223F-19088F64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06D99F39-A9FD-C720-C59E-7FF2A05F73E5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3C48EE-1BF9-44B3-467D-631515BFC220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C1492-1D7F-FC86-F97C-60BD654E314F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0C39F-00F0-7734-A27E-03BF90B82FBD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거스름돈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B5F19-36EC-069B-55B4-86711EDC475E}"/>
              </a:ext>
            </a:extLst>
          </p:cNvPr>
          <p:cNvSpPr txBox="1"/>
          <p:nvPr/>
        </p:nvSpPr>
        <p:spPr>
          <a:xfrm>
            <a:off x="943357" y="1170429"/>
            <a:ext cx="569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실습 문제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거스름돈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507F1417-90D7-1728-D722-03E9055E7CFC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889A954-E0FC-5C39-7187-AA0C7239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4" name="모서리가 둥근 직사각형 10">
            <a:extLst>
              <a:ext uri="{FF2B5EF4-FFF2-40B4-BE49-F238E27FC236}">
                <a16:creationId xmlns:a16="http://schemas.microsoft.com/office/drawing/2014/main" id="{78E9F4BA-5BB9-4AF9-361A-1331D9BD92C8}"/>
              </a:ext>
            </a:extLst>
          </p:cNvPr>
          <p:cNvSpPr/>
          <p:nvPr/>
        </p:nvSpPr>
        <p:spPr>
          <a:xfrm>
            <a:off x="2218457" y="1632093"/>
            <a:ext cx="7755085" cy="4055477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coin_change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(n):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coins = [1, 2, 5]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[9999] * (n + 1)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[0] = 0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for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in range(1, n + 1):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for coin in coins: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    if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&gt;= coin:</a:t>
            </a: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       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 = min(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],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- coin] + 1)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</a:t>
            </a:r>
            <a:r>
              <a:rPr lang="en-US" altLang="ko-KR" sz="22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[n]</a:t>
            </a: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646F1D42-9F8E-E7A3-E0E0-7254C0EC2269}"/>
              </a:ext>
            </a:extLst>
          </p:cNvPr>
          <p:cNvSpPr/>
          <p:nvPr/>
        </p:nvSpPr>
        <p:spPr>
          <a:xfrm>
            <a:off x="2218457" y="5809516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print(coin_change(6))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2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67795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FDF2-62E3-D87D-C2F4-2A5360DF0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E5BC448-BB74-A63E-674F-F960C87F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B00E0-A86D-CDF7-FB8A-98276F2C1195}"/>
              </a:ext>
            </a:extLst>
          </p:cNvPr>
          <p:cNvSpPr txBox="1"/>
          <p:nvPr/>
        </p:nvSpPr>
        <p:spPr>
          <a:xfrm>
            <a:off x="652509" y="1624615"/>
            <a:ext cx="652509" cy="307777"/>
          </a:xfrm>
          <a:prstGeom prst="rect">
            <a:avLst/>
          </a:prstGeom>
          <a:solidFill>
            <a:srgbClr val="FEFBF2"/>
          </a:solidFill>
        </p:spPr>
        <p:txBody>
          <a:bodyPr wrap="square" rtlCol="0">
            <a:spAutoFit/>
          </a:bodyPr>
          <a:lstStyle/>
          <a:p>
            <a:r>
              <a:rPr lang="en-US" altLang="ko-KR" sz="1400" i="1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 </a:t>
            </a:r>
            <a:r>
              <a:rPr lang="ko-KR" altLang="en-US" sz="14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번째</a:t>
            </a:r>
          </a:p>
        </p:txBody>
      </p:sp>
    </p:spTree>
    <p:extLst>
      <p:ext uri="{BB962C8B-B14F-4D97-AF65-F5344CB8AC3E}">
        <p14:creationId xmlns:p14="http://schemas.microsoft.com/office/powerpoint/2010/main" val="10571781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558D8-A343-14D1-1A74-A4CB85DF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C1BB56CB-E051-E563-0F1E-C0312F2ACDE2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23A0BDC-97DC-DA6D-A5B2-C16E4827DC8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089262-874D-D64E-508D-9177FA0ECDDC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03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B3313-2593-6287-473F-0A411B2E8328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피보나치 최적화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C1B8B-BBCA-8548-2B3E-E508101A2539}"/>
              </a:ext>
            </a:extLst>
          </p:cNvPr>
          <p:cNvSpPr txBox="1"/>
          <p:nvPr/>
        </p:nvSpPr>
        <p:spPr>
          <a:xfrm>
            <a:off x="943357" y="1170429"/>
            <a:ext cx="569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실습 문제 </a:t>
            </a:r>
            <a:r>
              <a:rPr lang="en-US" altLang="ko-KR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3. </a:t>
            </a:r>
            <a:r>
              <a:rPr lang="ko-KR" altLang="en-US" sz="2400" dirty="0">
                <a:solidFill>
                  <a:srgbClr val="228FF4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피보나치 최적화</a:t>
            </a:r>
            <a:endParaRPr lang="en-US" altLang="ko-KR" sz="2400" dirty="0">
              <a:solidFill>
                <a:srgbClr val="228FF4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9" name="다이아몬드 18">
            <a:extLst>
              <a:ext uri="{FF2B5EF4-FFF2-40B4-BE49-F238E27FC236}">
                <a16:creationId xmlns:a16="http://schemas.microsoft.com/office/drawing/2014/main" id="{6C7E9E45-603E-9BE4-5914-C83F8F60B171}"/>
              </a:ext>
            </a:extLst>
          </p:cNvPr>
          <p:cNvSpPr/>
          <p:nvPr/>
        </p:nvSpPr>
        <p:spPr>
          <a:xfrm>
            <a:off x="639634" y="1249400"/>
            <a:ext cx="303724" cy="303724"/>
          </a:xfrm>
          <a:prstGeom prst="diamond">
            <a:avLst/>
          </a:prstGeom>
          <a:solidFill>
            <a:srgbClr val="1F80D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0EC13BC-CD32-4D47-A286-FDC2FF24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14" name="모서리가 둥근 직사각형 10">
            <a:extLst>
              <a:ext uri="{FF2B5EF4-FFF2-40B4-BE49-F238E27FC236}">
                <a16:creationId xmlns:a16="http://schemas.microsoft.com/office/drawing/2014/main" id="{1719C588-5251-D281-1267-D8E3732F48ED}"/>
              </a:ext>
            </a:extLst>
          </p:cNvPr>
          <p:cNvSpPr/>
          <p:nvPr/>
        </p:nvSpPr>
        <p:spPr>
          <a:xfrm>
            <a:off x="2218457" y="1846180"/>
            <a:ext cx="7755085" cy="3687636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def fibo_dp(n):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 = [0] * (n + 1)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dp[1] = 1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dp[2] = 1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for i in range(3, n + 1):</a:t>
            </a: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    dp[i] = dp[i - 1] + dp[i - 2]</a:t>
            </a:r>
          </a:p>
          <a:p>
            <a:endParaRPr lang="pt-BR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return dp[n]</a:t>
            </a:r>
          </a:p>
        </p:txBody>
      </p:sp>
      <p:sp>
        <p:nvSpPr>
          <p:cNvPr id="15" name="모서리가 둥근 직사각형 10">
            <a:extLst>
              <a:ext uri="{FF2B5EF4-FFF2-40B4-BE49-F238E27FC236}">
                <a16:creationId xmlns:a16="http://schemas.microsoft.com/office/drawing/2014/main" id="{9E58DE33-9142-214A-8D75-348527A73BFF}"/>
              </a:ext>
            </a:extLst>
          </p:cNvPr>
          <p:cNvSpPr/>
          <p:nvPr/>
        </p:nvSpPr>
        <p:spPr>
          <a:xfrm>
            <a:off x="2218457" y="5701602"/>
            <a:ext cx="7755085" cy="620772"/>
          </a:xfrm>
          <a:prstGeom prst="roundRect">
            <a:avLst>
              <a:gd name="adj" fmla="val 15464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print(fibo_dp(6))</a:t>
            </a:r>
            <a:r>
              <a:rPr lang="it-IT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</a:t>
            </a:r>
            <a:r>
              <a:rPr lang="it-IT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8</a:t>
            </a:r>
            <a:endParaRPr lang="en-US" altLang="ko-KR" sz="2200" dirty="0">
              <a:solidFill>
                <a:srgbClr val="4A8B7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1462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32CA8-DFDA-AF8D-B155-83CC2A69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수동 입력 5">
            <a:extLst>
              <a:ext uri="{FF2B5EF4-FFF2-40B4-BE49-F238E27FC236}">
                <a16:creationId xmlns:a16="http://schemas.microsoft.com/office/drawing/2014/main" id="{5799446C-2BD9-89FC-DD3E-BB7A950AD6D9}"/>
              </a:ext>
            </a:extLst>
          </p:cNvPr>
          <p:cNvSpPr/>
          <p:nvPr/>
        </p:nvSpPr>
        <p:spPr>
          <a:xfrm rot="5400000" flipV="1">
            <a:off x="5631544" y="-5631544"/>
            <a:ext cx="928914" cy="12192002"/>
          </a:xfrm>
          <a:prstGeom prst="rect">
            <a:avLst/>
          </a:prstGeom>
          <a:solidFill>
            <a:srgbClr val="74BF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5C538D3-CE64-8C30-F89B-1EFC18170B65}"/>
              </a:ext>
            </a:extLst>
          </p:cNvPr>
          <p:cNvSpPr/>
          <p:nvPr/>
        </p:nvSpPr>
        <p:spPr>
          <a:xfrm>
            <a:off x="246743" y="214086"/>
            <a:ext cx="11698515" cy="6429829"/>
          </a:xfrm>
          <a:prstGeom prst="roundRect">
            <a:avLst>
              <a:gd name="adj" fmla="val 1617"/>
            </a:avLst>
          </a:prstGeom>
          <a:gradFill>
            <a:gsLst>
              <a:gs pos="10000">
                <a:srgbClr val="9DD1FB"/>
              </a:gs>
              <a:gs pos="12000">
                <a:schemeClr val="bg1"/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  <a:effectLst>
            <a:outerShdw blurRad="254000" dist="38100" dir="2700000" algn="tl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 latinLnBrk="0">
              <a:lnSpc>
                <a:spcPct val="150000"/>
              </a:lnSpc>
              <a:defRPr/>
            </a:pPr>
            <a:endParaRPr lang="en-US" altLang="ko-KR" sz="400" kern="0" dirty="0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38A87-633D-84B0-0CF8-365CF398A6E9}"/>
              </a:ext>
            </a:extLst>
          </p:cNvPr>
          <p:cNvSpPr txBox="1"/>
          <p:nvPr/>
        </p:nvSpPr>
        <p:spPr>
          <a:xfrm>
            <a:off x="367362" y="297097"/>
            <a:ext cx="92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SemiBold" panose="02000703000000020004" pitchFamily="50" charset="-127"/>
              </a:rPr>
              <a:t>04</a:t>
            </a:r>
            <a:endParaRPr lang="ko-KR" altLang="en-US" sz="36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D2D0C-7EC2-0DA9-D6CB-4C5C1AE0B5EA}"/>
              </a:ext>
            </a:extLst>
          </p:cNvPr>
          <p:cNvSpPr txBox="1"/>
          <p:nvPr/>
        </p:nvSpPr>
        <p:spPr>
          <a:xfrm>
            <a:off x="1247539" y="331593"/>
            <a:ext cx="8340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요약</a:t>
            </a:r>
            <a:endParaRPr lang="en-US" altLang="ko-KR" sz="2800" dirty="0">
              <a:solidFill>
                <a:schemeClr val="bg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029B450-1992-9027-81FA-15F25262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62" y="6334169"/>
            <a:ext cx="1299530" cy="192238"/>
          </a:xfrm>
          <a:prstGeom prst="rect">
            <a:avLst/>
          </a:prstGeom>
        </p:spPr>
      </p:pic>
      <p:sp>
        <p:nvSpPr>
          <p:cNvPr id="4" name="모서리가 둥근 직사각형 10">
            <a:extLst>
              <a:ext uri="{FF2B5EF4-FFF2-40B4-BE49-F238E27FC236}">
                <a16:creationId xmlns:a16="http://schemas.microsoft.com/office/drawing/2014/main" id="{C3E73A1B-8232-5B42-EE57-93BB14FCF310}"/>
              </a:ext>
            </a:extLst>
          </p:cNvPr>
          <p:cNvSpPr/>
          <p:nvPr/>
        </p:nvSpPr>
        <p:spPr>
          <a:xfrm>
            <a:off x="898124" y="1472646"/>
            <a:ext cx="10395751" cy="4546414"/>
          </a:xfrm>
          <a:prstGeom prst="roundRect">
            <a:avLst>
              <a:gd name="adj" fmla="val 2593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 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문제를 풀 때는 먼저 다음 세 가지를 확인한다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1. </a:t>
            </a:r>
            <a:r>
              <a:rPr lang="ko-KR" altLang="en-US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큰 문제를 작은 문제로 나눌 수 있는가</a:t>
            </a:r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?</a:t>
            </a:r>
          </a:p>
          <a:p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2. </a:t>
            </a:r>
            <a:r>
              <a:rPr lang="ko-KR" altLang="en-US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같은 작은 문제가 반복해서 등장하는가</a:t>
            </a:r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?</a:t>
            </a:r>
          </a:p>
          <a:p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3. </a:t>
            </a:r>
            <a:r>
              <a:rPr lang="ko-KR" altLang="en-US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이전에 구한 답을 저장해 현재 답을 구할 수 있는가</a:t>
            </a:r>
            <a:r>
              <a:rPr lang="en-US" altLang="ko-KR" sz="2200" dirty="0">
                <a:solidFill>
                  <a:srgbClr val="4A8B7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?</a:t>
            </a:r>
          </a:p>
          <a:p>
            <a:endParaRPr lang="en-US" altLang="ko-KR" sz="2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DP</a:t>
            </a:r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는 한 번 계산한 결과를 저장하고 다시 사용함으로써</a:t>
            </a:r>
          </a:p>
          <a:p>
            <a:r>
              <a:rPr lang="ko-KR" altLang="en-US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중복 계산을 줄이고 문제를 효율적으로 해결한다</a:t>
            </a:r>
            <a:r>
              <a:rPr lang="en-US" altLang="ko-KR" sz="22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</a:t>
            </a:r>
            <a:endParaRPr lang="en-US" altLang="ko-KR" sz="2200" dirty="0">
              <a:solidFill>
                <a:srgbClr val="FF0000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33648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4E94F-FFE1-23E1-DD40-CC6C0DC8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E9D23-B12E-D3ED-5765-25754E5D3F00}"/>
              </a:ext>
            </a:extLst>
          </p:cNvPr>
          <p:cNvSpPr/>
          <p:nvPr/>
        </p:nvSpPr>
        <p:spPr>
          <a:xfrm>
            <a:off x="-2380" y="0"/>
            <a:ext cx="12194380" cy="997223"/>
          </a:xfrm>
          <a:prstGeom prst="rect">
            <a:avLst/>
          </a:prstGeom>
          <a:pattFill prst="pct5">
            <a:fgClr>
              <a:srgbClr val="228FF4"/>
            </a:fgClr>
            <a:bgClr>
              <a:srgbClr val="228FF4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4" latinLnBrk="0">
              <a:defRPr/>
            </a:pPr>
            <a:endParaRPr lang="en-US" altLang="ko-KR" sz="800" kern="0" dirty="0">
              <a:solidFill>
                <a:prstClr val="white"/>
              </a:solidFill>
            </a:endParaRPr>
          </a:p>
        </p:txBody>
      </p:sp>
      <p:graphicFrame>
        <p:nvGraphicFramePr>
          <p:cNvPr id="47" name="표 47">
            <a:extLst>
              <a:ext uri="{FF2B5EF4-FFF2-40B4-BE49-F238E27FC236}">
                <a16:creationId xmlns:a16="http://schemas.microsoft.com/office/drawing/2014/main" id="{AAD6097F-65D0-7E57-DC65-9535DA0F777C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993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">
                  <a:extLst>
                    <a:ext uri="{9D8B030D-6E8A-4147-A177-3AD203B41FA5}">
                      <a16:colId xmlns:a16="http://schemas.microsoft.com/office/drawing/2014/main" val="104371893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976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4444111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137256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818583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48098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67253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102056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1749689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5125246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658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90730784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8910483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589587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57412808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522151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1347117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3037311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693968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2094442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072079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2597949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5878844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73465109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9552183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10185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46996196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5105607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694177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3623155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2635064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842351367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72090917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91172609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0396748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53715765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69048412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8330677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0759531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2390807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3233270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0308616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29689405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20414074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847523506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95322400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414421902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886777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18115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48053045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7072595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3173097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885049328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85077900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90437833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37935041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674165185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1054348924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742965769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3417673289"/>
                    </a:ext>
                  </a:extLst>
                </a:gridCol>
              </a:tblGrid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111298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96473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573720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0719676"/>
                  </a:ext>
                </a:extLst>
              </a:tr>
              <a:tr h="198746"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66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 marL="25962" marR="25962" marT="12981" marB="12981">
                    <a:lnL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9B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141"/>
                  </a:ext>
                </a:extLst>
              </a:tr>
            </a:tbl>
          </a:graphicData>
        </a:graphic>
      </p:graphicFrame>
      <p:grpSp>
        <p:nvGrpSpPr>
          <p:cNvPr id="66" name="그룹 65">
            <a:extLst>
              <a:ext uri="{FF2B5EF4-FFF2-40B4-BE49-F238E27FC236}">
                <a16:creationId xmlns:a16="http://schemas.microsoft.com/office/drawing/2014/main" id="{DF480675-6526-BC42-187F-13F73AE890C0}"/>
              </a:ext>
            </a:extLst>
          </p:cNvPr>
          <p:cNvGrpSpPr/>
          <p:nvPr/>
        </p:nvGrpSpPr>
        <p:grpSpPr>
          <a:xfrm>
            <a:off x="-2381" y="226018"/>
            <a:ext cx="1875632" cy="773586"/>
            <a:chOff x="357853" y="4425696"/>
            <a:chExt cx="5168283" cy="2131608"/>
          </a:xfrm>
        </p:grpSpPr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49D5A5E7-BEAF-E022-2119-36779715657B}"/>
                </a:ext>
              </a:extLst>
            </p:cNvPr>
            <p:cNvSpPr/>
            <p:nvPr/>
          </p:nvSpPr>
          <p:spPr>
            <a:xfrm>
              <a:off x="357853" y="5124170"/>
              <a:ext cx="2262092" cy="1417320"/>
            </a:xfrm>
            <a:custGeom>
              <a:avLst/>
              <a:gdLst>
                <a:gd name="connsiteX0" fmla="*/ 0 w 2240280"/>
                <a:gd name="connsiteY0" fmla="*/ 1399032 h 1417320"/>
                <a:gd name="connsiteX1" fmla="*/ 9144 w 2240280"/>
                <a:gd name="connsiteY1" fmla="*/ 694944 h 1417320"/>
                <a:gd name="connsiteX2" fmla="*/ 731520 w 2240280"/>
                <a:gd name="connsiteY2" fmla="*/ 0 h 1417320"/>
                <a:gd name="connsiteX3" fmla="*/ 2240280 w 2240280"/>
                <a:gd name="connsiteY3" fmla="*/ 1417320 h 1417320"/>
                <a:gd name="connsiteX4" fmla="*/ 0 w 2240280"/>
                <a:gd name="connsiteY4" fmla="*/ 1399032 h 1417320"/>
                <a:gd name="connsiteX0" fmla="*/ 2181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1812 w 2262092"/>
                <a:gd name="connsiteY4" fmla="*/ 1399032 h 1417320"/>
                <a:gd name="connsiteX0" fmla="*/ 2762 w 2262092"/>
                <a:gd name="connsiteY0" fmla="*/ 1399032 h 1417320"/>
                <a:gd name="connsiteX1" fmla="*/ 0 w 2262092"/>
                <a:gd name="connsiteY1" fmla="*/ 694944 h 1417320"/>
                <a:gd name="connsiteX2" fmla="*/ 753332 w 2262092"/>
                <a:gd name="connsiteY2" fmla="*/ 0 h 1417320"/>
                <a:gd name="connsiteX3" fmla="*/ 2262092 w 2262092"/>
                <a:gd name="connsiteY3" fmla="*/ 1417320 h 1417320"/>
                <a:gd name="connsiteX4" fmla="*/ 2762 w 2262092"/>
                <a:gd name="connsiteY4" fmla="*/ 1399032 h 141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2092" h="1417320">
                  <a:moveTo>
                    <a:pt x="2762" y="1399032"/>
                  </a:moveTo>
                  <a:cubicBezTo>
                    <a:pt x="1841" y="1164336"/>
                    <a:pt x="921" y="929640"/>
                    <a:pt x="0" y="694944"/>
                  </a:cubicBezTo>
                  <a:lnTo>
                    <a:pt x="753332" y="0"/>
                  </a:lnTo>
                  <a:lnTo>
                    <a:pt x="2262092" y="1417320"/>
                  </a:lnTo>
                  <a:lnTo>
                    <a:pt x="2762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E0381F82-8813-4511-6E08-577AA9ADBC50}"/>
                </a:ext>
              </a:extLst>
            </p:cNvPr>
            <p:cNvSpPr/>
            <p:nvPr/>
          </p:nvSpPr>
          <p:spPr>
            <a:xfrm>
              <a:off x="1097283" y="4425696"/>
              <a:ext cx="4428853" cy="2115425"/>
            </a:xfrm>
            <a:custGeom>
              <a:avLst/>
              <a:gdLst>
                <a:gd name="connsiteX0" fmla="*/ 0 w 3739896"/>
                <a:gd name="connsiteY0" fmla="*/ 2112264 h 2112264"/>
                <a:gd name="connsiteX1" fmla="*/ 749808 w 3739896"/>
                <a:gd name="connsiteY1" fmla="*/ 1417320 h 2112264"/>
                <a:gd name="connsiteX2" fmla="*/ 1508760 w 3739896"/>
                <a:gd name="connsiteY2" fmla="*/ 722376 h 2112264"/>
                <a:gd name="connsiteX3" fmla="*/ 2258568 w 3739896"/>
                <a:gd name="connsiteY3" fmla="*/ 0 h 2112264"/>
                <a:gd name="connsiteX4" fmla="*/ 3017520 w 3739896"/>
                <a:gd name="connsiteY4" fmla="*/ 722376 h 2112264"/>
                <a:gd name="connsiteX5" fmla="*/ 3739896 w 3739896"/>
                <a:gd name="connsiteY5" fmla="*/ 1426464 h 2112264"/>
                <a:gd name="connsiteX6" fmla="*/ 3739896 w 3739896"/>
                <a:gd name="connsiteY6" fmla="*/ 2103120 h 2112264"/>
                <a:gd name="connsiteX7" fmla="*/ 0 w 3739896"/>
                <a:gd name="connsiteY7" fmla="*/ 2112264 h 2112264"/>
                <a:gd name="connsiteX0" fmla="*/ 0 w 4428854"/>
                <a:gd name="connsiteY0" fmla="*/ 2112264 h 2115425"/>
                <a:gd name="connsiteX1" fmla="*/ 749808 w 4428854"/>
                <a:gd name="connsiteY1" fmla="*/ 1417320 h 2115425"/>
                <a:gd name="connsiteX2" fmla="*/ 1508760 w 4428854"/>
                <a:gd name="connsiteY2" fmla="*/ 722376 h 2115425"/>
                <a:gd name="connsiteX3" fmla="*/ 2258568 w 4428854"/>
                <a:gd name="connsiteY3" fmla="*/ 0 h 2115425"/>
                <a:gd name="connsiteX4" fmla="*/ 3017520 w 4428854"/>
                <a:gd name="connsiteY4" fmla="*/ 722376 h 2115425"/>
                <a:gd name="connsiteX5" fmla="*/ 4428854 w 4428854"/>
                <a:gd name="connsiteY5" fmla="*/ 2115425 h 2115425"/>
                <a:gd name="connsiteX6" fmla="*/ 3739896 w 4428854"/>
                <a:gd name="connsiteY6" fmla="*/ 2103120 h 2115425"/>
                <a:gd name="connsiteX7" fmla="*/ 0 w 4428854"/>
                <a:gd name="connsiteY7" fmla="*/ 2112264 h 211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854" h="2115425">
                  <a:moveTo>
                    <a:pt x="0" y="2112264"/>
                  </a:moveTo>
                  <a:lnTo>
                    <a:pt x="749808" y="1417320"/>
                  </a:lnTo>
                  <a:lnTo>
                    <a:pt x="1508760" y="722376"/>
                  </a:lnTo>
                  <a:lnTo>
                    <a:pt x="2258568" y="0"/>
                  </a:lnTo>
                  <a:lnTo>
                    <a:pt x="3017520" y="722376"/>
                  </a:lnTo>
                  <a:lnTo>
                    <a:pt x="4428854" y="2115425"/>
                  </a:lnTo>
                  <a:lnTo>
                    <a:pt x="3739896" y="2103120"/>
                  </a:lnTo>
                  <a:lnTo>
                    <a:pt x="0" y="2112264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3565EA2D-5E0B-7346-33C1-01EBAB5DA8CC}"/>
                </a:ext>
              </a:extLst>
            </p:cNvPr>
            <p:cNvSpPr/>
            <p:nvPr/>
          </p:nvSpPr>
          <p:spPr>
            <a:xfrm>
              <a:off x="363760" y="5153977"/>
              <a:ext cx="2997231" cy="138998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  <a:gd name="connsiteX0" fmla="*/ 0 w 2990088"/>
                <a:gd name="connsiteY0" fmla="*/ 1365695 h 1411415"/>
                <a:gd name="connsiteX1" fmla="*/ 1503617 w 2990088"/>
                <a:gd name="connsiteY1" fmla="*/ 0 h 1411415"/>
                <a:gd name="connsiteX2" fmla="*/ 2990088 w 2990088"/>
                <a:gd name="connsiteY2" fmla="*/ 1411415 h 1411415"/>
                <a:gd name="connsiteX3" fmla="*/ 0 w 2990088"/>
                <a:gd name="connsiteY3" fmla="*/ 1365695 h 1411415"/>
                <a:gd name="connsiteX0" fmla="*/ 0 w 2982944"/>
                <a:gd name="connsiteY0" fmla="*/ 1389508 h 1411415"/>
                <a:gd name="connsiteX1" fmla="*/ 1496473 w 2982944"/>
                <a:gd name="connsiteY1" fmla="*/ 0 h 1411415"/>
                <a:gd name="connsiteX2" fmla="*/ 2982944 w 2982944"/>
                <a:gd name="connsiteY2" fmla="*/ 1411415 h 1411415"/>
                <a:gd name="connsiteX3" fmla="*/ 0 w 2982944"/>
                <a:gd name="connsiteY3" fmla="*/ 1389508 h 1411415"/>
                <a:gd name="connsiteX0" fmla="*/ 0 w 2997231"/>
                <a:gd name="connsiteY0" fmla="*/ 1389508 h 1389984"/>
                <a:gd name="connsiteX1" fmla="*/ 1496473 w 2997231"/>
                <a:gd name="connsiteY1" fmla="*/ 0 h 1389984"/>
                <a:gd name="connsiteX2" fmla="*/ 2997231 w 2997231"/>
                <a:gd name="connsiteY2" fmla="*/ 1389984 h 1389984"/>
                <a:gd name="connsiteX3" fmla="*/ 0 w 2997231"/>
                <a:gd name="connsiteY3" fmla="*/ 1389508 h 1389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7231" h="1389984">
                  <a:moveTo>
                    <a:pt x="0" y="1389508"/>
                  </a:moveTo>
                  <a:lnTo>
                    <a:pt x="1496473" y="0"/>
                  </a:lnTo>
                  <a:lnTo>
                    <a:pt x="2997231" y="1389984"/>
                  </a:lnTo>
                  <a:lnTo>
                    <a:pt x="0" y="1389508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7DC83789-3698-C129-0FD6-55E6AEB08F33}"/>
                </a:ext>
              </a:extLst>
            </p:cNvPr>
            <p:cNvSpPr/>
            <p:nvPr/>
          </p:nvSpPr>
          <p:spPr>
            <a:xfrm>
              <a:off x="2595124" y="5832830"/>
              <a:ext cx="1499387" cy="724474"/>
            </a:xfrm>
            <a:custGeom>
              <a:avLst/>
              <a:gdLst>
                <a:gd name="connsiteX0" fmla="*/ 0 w 2990088"/>
                <a:gd name="connsiteY0" fmla="*/ 1399032 h 1444752"/>
                <a:gd name="connsiteX1" fmla="*/ 1517904 w 2990088"/>
                <a:gd name="connsiteY1" fmla="*/ 0 h 1444752"/>
                <a:gd name="connsiteX2" fmla="*/ 2990088 w 2990088"/>
                <a:gd name="connsiteY2" fmla="*/ 1444752 h 1444752"/>
                <a:gd name="connsiteX3" fmla="*/ 0 w 2990088"/>
                <a:gd name="connsiteY3" fmla="*/ 1399032 h 144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0088" h="1444752">
                  <a:moveTo>
                    <a:pt x="0" y="1399032"/>
                  </a:moveTo>
                  <a:lnTo>
                    <a:pt x="1517904" y="0"/>
                  </a:lnTo>
                  <a:lnTo>
                    <a:pt x="2990088" y="1444752"/>
                  </a:lnTo>
                  <a:lnTo>
                    <a:pt x="0" y="1399032"/>
                  </a:lnTo>
                  <a:close/>
                </a:path>
              </a:pathLst>
            </a:custGeom>
            <a:gradFill>
              <a:gsLst>
                <a:gs pos="0">
                  <a:srgbClr val="66FFFF">
                    <a:alpha val="41000"/>
                  </a:srgbClr>
                </a:gs>
                <a:gs pos="100000">
                  <a:srgbClr val="66FFFF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BE0F45-8736-44CE-506E-0B6A541163FB}"/>
              </a:ext>
            </a:extLst>
          </p:cNvPr>
          <p:cNvGrpSpPr/>
          <p:nvPr/>
        </p:nvGrpSpPr>
        <p:grpSpPr>
          <a:xfrm>
            <a:off x="11453886" y="48068"/>
            <a:ext cx="261865" cy="837864"/>
            <a:chOff x="3175107" y="2906014"/>
            <a:chExt cx="360000" cy="1151858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ED63D5E-A2CD-4365-FD9D-A6CF40769D87}"/>
                </a:ext>
              </a:extLst>
            </p:cNvPr>
            <p:cNvSpPr/>
            <p:nvPr/>
          </p:nvSpPr>
          <p:spPr>
            <a:xfrm>
              <a:off x="3231644" y="2962551"/>
              <a:ext cx="246927" cy="246927"/>
            </a:xfrm>
            <a:prstGeom prst="ellipse">
              <a:avLst/>
            </a:prstGeom>
            <a:solidFill>
              <a:srgbClr val="66FFFF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E08C0B3-AEBF-1E20-22DB-FF630B9F4FD4}"/>
                </a:ext>
              </a:extLst>
            </p:cNvPr>
            <p:cNvSpPr/>
            <p:nvPr/>
          </p:nvSpPr>
          <p:spPr>
            <a:xfrm>
              <a:off x="3175107" y="2906014"/>
              <a:ext cx="360000" cy="360000"/>
            </a:xfrm>
            <a:prstGeom prst="ellipse">
              <a:avLst/>
            </a:prstGeom>
            <a:noFill/>
            <a:ln w="9525">
              <a:solidFill>
                <a:srgbClr val="66FFFF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DC54E68-ED40-6E89-2D64-A8992C992422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3355108" y="3266013"/>
              <a:ext cx="741" cy="791859"/>
            </a:xfrm>
            <a:prstGeom prst="line">
              <a:avLst/>
            </a:prstGeom>
            <a:ln w="19050">
              <a:gradFill>
                <a:gsLst>
                  <a:gs pos="0">
                    <a:srgbClr val="66FFFF"/>
                  </a:gs>
                  <a:gs pos="100000">
                    <a:srgbClr val="66FFFF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A33BE3B-FDA1-43D6-7A55-63DA7E0A2BBE}"/>
                </a:ext>
              </a:extLst>
            </p:cNvPr>
            <p:cNvSpPr/>
            <p:nvPr/>
          </p:nvSpPr>
          <p:spPr>
            <a:xfrm>
              <a:off x="3307843" y="3038750"/>
              <a:ext cx="94527" cy="94527"/>
            </a:xfrm>
            <a:prstGeom prst="ellipse">
              <a:avLst/>
            </a:prstGeom>
            <a:solidFill>
              <a:srgbClr val="66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3A4BB84-1DF3-289D-C464-6711E8C892E3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2CA0F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2CA0F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17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5074</TotalTime>
  <Words>3039</Words>
  <Application>Microsoft Office PowerPoint</Application>
  <PresentationFormat>와이드스크린</PresentationFormat>
  <Paragraphs>521</Paragraphs>
  <Slides>62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62</vt:i4>
      </vt:variant>
    </vt:vector>
  </HeadingPairs>
  <TitlesOfParts>
    <vt:vector size="75" baseType="lpstr">
      <vt:lpstr>Microsoft GothicNeo</vt:lpstr>
      <vt:lpstr>Pretendard Medium</vt:lpstr>
      <vt:lpstr>D2Coding ligature</vt:lpstr>
      <vt:lpstr>Pretendard SemiBold</vt:lpstr>
      <vt:lpstr>Microsoft GothicNeo Light</vt:lpstr>
      <vt:lpstr>Arial</vt:lpstr>
      <vt:lpstr>G마켓 산스 Medium</vt:lpstr>
      <vt:lpstr>Impact</vt:lpstr>
      <vt:lpstr>G마켓 산스 Bold</vt:lpstr>
      <vt:lpstr>KoPub돋움체 Bold</vt:lpstr>
      <vt:lpstr>맑은 고딕</vt:lpstr>
      <vt:lpstr>Pretendard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443</cp:revision>
  <dcterms:created xsi:type="dcterms:W3CDTF">2025-09-13T18:52:17Z</dcterms:created>
  <dcterms:modified xsi:type="dcterms:W3CDTF">2026-07-07T04:18:25Z</dcterms:modified>
  <cp:contentStatus>최종본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