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  <p:sldId id="285" r:id="rId4"/>
    <p:sldId id="286" r:id="rId5"/>
    <p:sldId id="424" r:id="rId6"/>
    <p:sldId id="444" r:id="rId7"/>
    <p:sldId id="425" r:id="rId8"/>
    <p:sldId id="447" r:id="rId9"/>
    <p:sldId id="448" r:id="rId10"/>
    <p:sldId id="445" r:id="rId11"/>
    <p:sldId id="446" r:id="rId12"/>
    <p:sldId id="449" r:id="rId13"/>
    <p:sldId id="450" r:id="rId14"/>
    <p:sldId id="451" r:id="rId15"/>
    <p:sldId id="452" r:id="rId16"/>
    <p:sldId id="453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462" r:id="rId25"/>
    <p:sldId id="363" r:id="rId26"/>
    <p:sldId id="463" r:id="rId27"/>
    <p:sldId id="464" r:id="rId28"/>
    <p:sldId id="282" r:id="rId29"/>
  </p:sldIdLst>
  <p:sldSz cx="12192000" cy="6858000"/>
  <p:notesSz cx="6858000" cy="9144000"/>
  <p:embeddedFontLst>
    <p:embeddedFont>
      <p:font typeface="D2Coding ligature" panose="020B0609020101020101" pitchFamily="49" charset="-127"/>
      <p:regular r:id="rId30"/>
      <p:bold r:id="rId31"/>
    </p:embeddedFont>
    <p:embeddedFont>
      <p:font typeface="G마켓 산스 Bold" panose="02000000000000000000" pitchFamily="50" charset="-127"/>
      <p:bold r:id="rId32"/>
    </p:embeddedFont>
    <p:embeddedFont>
      <p:font typeface="G마켓 산스 Medium" panose="02000000000000000000" pitchFamily="50" charset="-127"/>
      <p:regular r:id="rId33"/>
    </p:embeddedFont>
    <p:embeddedFont>
      <p:font typeface="Impact" panose="020B0806030902050204" pitchFamily="34" charset="0"/>
      <p:regular r:id="rId34"/>
    </p:embeddedFont>
    <p:embeddedFont>
      <p:font typeface="KoPub돋움체 Bold" panose="02020603020101020101" pitchFamily="18" charset="-127"/>
      <p:regular r:id="rId35"/>
      <p:bold r:id="rId36"/>
    </p:embeddedFont>
    <p:embeddedFont>
      <p:font typeface="Microsoft GothicNeo" panose="020B0500000101010101" pitchFamily="50" charset="-127"/>
      <p:regular r:id="rId37"/>
      <p:bold r:id="rId38"/>
    </p:embeddedFont>
    <p:embeddedFont>
      <p:font typeface="Microsoft GothicNeo Light" panose="020B0300000101010101" pitchFamily="50" charset="-127"/>
      <p:regular r:id="rId39"/>
    </p:embeddedFont>
    <p:embeddedFont>
      <p:font typeface="Pretendard Light" panose="02000403000000020004" pitchFamily="50" charset="-127"/>
      <p:regular r:id="rId40"/>
    </p:embeddedFont>
    <p:embeddedFont>
      <p:font typeface="Pretendard Medium" panose="02000603000000020004" pitchFamily="50" charset="-127"/>
      <p:regular r:id="rId41"/>
    </p:embeddedFont>
    <p:embeddedFont>
      <p:font typeface="Pretendard SemiBold" panose="02000703000000020004" pitchFamily="50" charset="-127"/>
      <p:bold r:id="rId42"/>
    </p:embeddedFont>
    <p:embeddedFont>
      <p:font typeface="맑은 고딕" panose="020B0503020000020004" pitchFamily="50" charset="-127"/>
      <p:regular r:id="rId43"/>
      <p:bold r:id="rId4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FF"/>
    <a:srgbClr val="228FF4"/>
    <a:srgbClr val="4A8B71"/>
    <a:srgbClr val="F2F3F9"/>
    <a:srgbClr val="569E85"/>
    <a:srgbClr val="E36D6B"/>
    <a:srgbClr val="EC9E9C"/>
    <a:srgbClr val="76B19C"/>
    <a:srgbClr val="ED9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C1E8A24-D2BD-4F24-BA0A-E5348FFC47D3}"/>
              </a:ext>
            </a:extLst>
          </p:cNvPr>
          <p:cNvSpPr/>
          <p:nvPr/>
        </p:nvSpPr>
        <p:spPr>
          <a:xfrm>
            <a:off x="362712" y="315468"/>
            <a:ext cx="11466576" cy="62270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0C81F2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C13CBD-0234-45E7-B8BE-3097A91501E2}"/>
              </a:ext>
            </a:extLst>
          </p:cNvPr>
          <p:cNvSpPr/>
          <p:nvPr/>
        </p:nvSpPr>
        <p:spPr>
          <a:xfrm>
            <a:off x="362712" y="315468"/>
            <a:ext cx="4483608" cy="6227064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모서리가 둥근 직사각형 43">
            <a:extLst>
              <a:ext uri="{FF2B5EF4-FFF2-40B4-BE49-F238E27FC236}">
                <a16:creationId xmlns:a16="http://schemas.microsoft.com/office/drawing/2014/main" id="{6213B534-391D-4BCF-8E6E-8A262482373C}"/>
              </a:ext>
            </a:extLst>
          </p:cNvPr>
          <p:cNvSpPr/>
          <p:nvPr/>
        </p:nvSpPr>
        <p:spPr>
          <a:xfrm>
            <a:off x="6879118" y="4789647"/>
            <a:ext cx="2917371" cy="485873"/>
          </a:xfrm>
          <a:prstGeom prst="roundRect">
            <a:avLst>
              <a:gd name="adj" fmla="val 50000"/>
            </a:avLst>
          </a:prstGeom>
          <a:pattFill prst="pct5">
            <a:fgClr>
              <a:srgbClr val="0C81F2"/>
            </a:fgClr>
            <a:bgClr>
              <a:srgbClr val="0C81F2"/>
            </a:bgClr>
          </a:pattFill>
          <a:ln w="9525">
            <a:noFill/>
            <a:prstDash val="solid"/>
          </a:ln>
          <a:effectLst>
            <a:outerShdw blurRad="304800" dist="38100" dir="2700000" algn="tl" rotWithShape="0">
              <a:srgbClr val="0C81F2">
                <a:alpha val="17000"/>
              </a:srgbClr>
            </a:outerShd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Impact" panose="020B0806030902050204" pitchFamily="34" charset="0"/>
                <a:ea typeface="G마켓 산스 Medium" panose="02000000000000000000" pitchFamily="50" charset="-127"/>
                <a:cs typeface="Microsoft GothicNeo Light" panose="020B0300000101010101" pitchFamily="50" charset="-127"/>
              </a:rPr>
              <a:t>Week 08</a:t>
            </a:r>
            <a:endParaRPr lang="ko-KR" altLang="en-US" sz="2400" dirty="0">
              <a:latin typeface="Impact" panose="020B0806030902050204" pitchFamily="34" charset="0"/>
              <a:ea typeface="G마켓 산스 Medium" panose="02000000000000000000" pitchFamily="50" charset="-127"/>
              <a:cs typeface="Microsoft GothicNeo Light" panose="020B0300000101010101" pitchFamily="50" charset="-127"/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BC2E65EA-009D-40B0-BD2D-9B6AE5E03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7951"/>
              </p:ext>
            </p:extLst>
          </p:nvPr>
        </p:nvGraphicFramePr>
        <p:xfrm>
          <a:off x="362711" y="331343"/>
          <a:ext cx="4483608" cy="619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68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</a:tblGrid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49254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0699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425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09023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71BA663E-45B6-4C2C-B2E9-DB732813B517}"/>
              </a:ext>
            </a:extLst>
          </p:cNvPr>
          <p:cNvGrpSpPr/>
          <p:nvPr/>
        </p:nvGrpSpPr>
        <p:grpSpPr>
          <a:xfrm>
            <a:off x="3175107" y="2906014"/>
            <a:ext cx="360000" cy="1519682"/>
            <a:chOff x="3175107" y="2906014"/>
            <a:chExt cx="360000" cy="151968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3E5BC57-257D-4034-B6AA-386AF2A3C57E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E27B153-D673-4A80-886F-3C031E7B2146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8BDBD16-0C86-4297-B1BF-2A0C2974B2E1}"/>
                </a:ext>
              </a:extLst>
            </p:cNvPr>
            <p:cNvCxnSpPr>
              <a:cxnSpLocks/>
              <a:stCxn id="41" idx="4"/>
              <a:endCxn id="63" idx="3"/>
            </p:cNvCxnSpPr>
            <p:nvPr/>
          </p:nvCxnSpPr>
          <p:spPr>
            <a:xfrm>
              <a:off x="3355107" y="3266014"/>
              <a:ext cx="741" cy="1159682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3CAF1CA6-CF89-4471-B143-123BEDD7AF54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4A8C0CC-52B3-47F9-B161-A1F5A96F225A}"/>
              </a:ext>
            </a:extLst>
          </p:cNvPr>
          <p:cNvGrpSpPr/>
          <p:nvPr/>
        </p:nvGrpSpPr>
        <p:grpSpPr>
          <a:xfrm>
            <a:off x="357853" y="4425696"/>
            <a:ext cx="4479323" cy="2131608"/>
            <a:chOff x="357853" y="4425696"/>
            <a:chExt cx="447932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D8E533F7-B42D-41B8-BB34-3271918104F7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042BF142-3614-427C-8A69-D2ECC855FB30}"/>
                </a:ext>
              </a:extLst>
            </p:cNvPr>
            <p:cNvSpPr/>
            <p:nvPr/>
          </p:nvSpPr>
          <p:spPr>
            <a:xfrm>
              <a:off x="1097280" y="4425696"/>
              <a:ext cx="3739896" cy="2112264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9896" h="2112264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3739896" y="1426464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0F16DAA9-0382-4FF1-BF15-8B7862189CE7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D323E324-A78F-46D5-918F-50D84ED6C641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08C90F95-48B7-4B07-9B5C-47278389F460}"/>
              </a:ext>
            </a:extLst>
          </p:cNvPr>
          <p:cNvSpPr/>
          <p:nvPr/>
        </p:nvSpPr>
        <p:spPr>
          <a:xfrm>
            <a:off x="3307842" y="4408239"/>
            <a:ext cx="94527" cy="94527"/>
          </a:xfrm>
          <a:prstGeom prst="ellipse">
            <a:avLst/>
          </a:prstGeom>
          <a:solidFill>
            <a:srgbClr val="66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7D9E3-CFB0-B4D3-392E-EB0BB59875EF}"/>
              </a:ext>
            </a:extLst>
          </p:cNvPr>
          <p:cNvSpPr txBox="1"/>
          <p:nvPr/>
        </p:nvSpPr>
        <p:spPr>
          <a:xfrm>
            <a:off x="5286104" y="1284424"/>
            <a:ext cx="6103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54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5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중급</a:t>
            </a:r>
            <a:r>
              <a:rPr lang="ko-KR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D5073-5AFE-3DAE-DF88-DF3DFA677969}"/>
              </a:ext>
            </a:extLst>
          </p:cNvPr>
          <p:cNvSpPr txBox="1"/>
          <p:nvPr/>
        </p:nvSpPr>
        <p:spPr>
          <a:xfrm>
            <a:off x="5286104" y="3428999"/>
            <a:ext cx="61033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</a:t>
            </a:r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MY PAUL SCHOOL </a:t>
            </a:r>
          </a:p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PYTHON 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INTERMEDIATE</a:t>
            </a:r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C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LASS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algn="ctr"/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CHOI JAE SEONG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52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7038635" y="1705319"/>
            <a:ext cx="6858686" cy="344804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14"/>
              <a:gd name="connsiteY0" fmla="*/ 27000 h 35000"/>
              <a:gd name="connsiteX1" fmla="*/ 10014 w 10014"/>
              <a:gd name="connsiteY1" fmla="*/ 0 h 35000"/>
              <a:gd name="connsiteX2" fmla="*/ 10000 w 10014"/>
              <a:gd name="connsiteY2" fmla="*/ 35000 h 35000"/>
              <a:gd name="connsiteX3" fmla="*/ 0 w 10014"/>
              <a:gd name="connsiteY3" fmla="*/ 35000 h 35000"/>
              <a:gd name="connsiteX4" fmla="*/ 0 w 10014"/>
              <a:gd name="connsiteY4" fmla="*/ 27000 h 35000"/>
              <a:gd name="connsiteX0" fmla="*/ 0 w 10001"/>
              <a:gd name="connsiteY0" fmla="*/ 27395 h 35395"/>
              <a:gd name="connsiteX1" fmla="*/ 10000 w 10001"/>
              <a:gd name="connsiteY1" fmla="*/ 0 h 35395"/>
              <a:gd name="connsiteX2" fmla="*/ 10000 w 10001"/>
              <a:gd name="connsiteY2" fmla="*/ 35395 h 35395"/>
              <a:gd name="connsiteX3" fmla="*/ 0 w 10001"/>
              <a:gd name="connsiteY3" fmla="*/ 35395 h 35395"/>
              <a:gd name="connsiteX4" fmla="*/ 0 w 10001"/>
              <a:gd name="connsiteY4" fmla="*/ 27395 h 3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" h="35395">
                <a:moveTo>
                  <a:pt x="0" y="27395"/>
                </a:moveTo>
                <a:lnTo>
                  <a:pt x="10000" y="0"/>
                </a:lnTo>
                <a:cubicBezTo>
                  <a:pt x="9995" y="11667"/>
                  <a:pt x="10005" y="23728"/>
                  <a:pt x="10000" y="35395"/>
                </a:cubicBezTo>
                <a:lnTo>
                  <a:pt x="0" y="35395"/>
                </a:lnTo>
                <a:lnTo>
                  <a:pt x="0" y="27395"/>
                </a:lnTo>
                <a:close/>
              </a:path>
            </a:pathLst>
          </a:cu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1219200" y="442912"/>
            <a:ext cx="9753600" cy="5972175"/>
          </a:xfrm>
          <a:prstGeom prst="roundRect">
            <a:avLst>
              <a:gd name="adj" fmla="val 4705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2000">
                <a:schemeClr val="bg1"/>
              </a:gs>
              <a:gs pos="84000">
                <a:srgbClr val="9DD1FB"/>
              </a:gs>
            </a:gsLst>
            <a:lin ang="126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endParaRPr lang="en-US" altLang="ko-KR" sz="4400" b="1" i="1" kern="0" dirty="0">
              <a:solidFill>
                <a:srgbClr val="44546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79AF3E-8830-AE22-A9F8-F1675930F293}"/>
              </a:ext>
            </a:extLst>
          </p:cNvPr>
          <p:cNvSpPr txBox="1"/>
          <p:nvPr/>
        </p:nvSpPr>
        <p:spPr>
          <a:xfrm>
            <a:off x="1519469" y="1820131"/>
            <a:ext cx="8672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</a:t>
            </a:r>
            <a:r>
              <a:rPr lang="ko-KR" altLang="en-US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Visualization</a:t>
            </a:r>
            <a:endParaRPr lang="it-IT" altLang="ko-KR" sz="48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B557DE-FD49-3860-3838-69387BA332BA}"/>
              </a:ext>
            </a:extLst>
          </p:cNvPr>
          <p:cNvSpPr txBox="1"/>
          <p:nvPr/>
        </p:nvSpPr>
        <p:spPr>
          <a:xfrm>
            <a:off x="1519470" y="1112245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Chapter 08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ED954E-9B8B-BFDA-FAB2-B3FAE5DFD440}"/>
              </a:ext>
            </a:extLst>
          </p:cNvPr>
          <p:cNvSpPr txBox="1"/>
          <p:nvPr/>
        </p:nvSpPr>
        <p:spPr>
          <a:xfrm>
            <a:off x="1519471" y="5437978"/>
            <a:ext cx="7466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강의교안에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사용된 일부 그림의 저작권은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김종훈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김동건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과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한빛아카데미㈜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8DA91F-DDCB-AD08-3526-2F1A064B66B8}"/>
              </a:ext>
            </a:extLst>
          </p:cNvPr>
          <p:cNvSpPr txBox="1"/>
          <p:nvPr/>
        </p:nvSpPr>
        <p:spPr>
          <a:xfrm>
            <a:off x="1519470" y="5770121"/>
            <a:ext cx="7992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자료에는 인터넷에서 다운받아 사용한 그림이나 수식들이 일부 있으니 학습 외 다른 용도로 사용하거나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외부로 유출을 금해주시기 바랍니다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D08FD-B56C-7EF2-C92A-85CB6F9491CE}"/>
              </a:ext>
            </a:extLst>
          </p:cNvPr>
          <p:cNvSpPr txBox="1"/>
          <p:nvPr/>
        </p:nvSpPr>
        <p:spPr>
          <a:xfrm>
            <a:off x="1519468" y="2651128"/>
            <a:ext cx="317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p.334 -</a:t>
            </a:r>
          </a:p>
        </p:txBody>
      </p:sp>
    </p:spTree>
    <p:extLst>
      <p:ext uri="{BB962C8B-B14F-4D97-AF65-F5344CB8AC3E}">
        <p14:creationId xmlns:p14="http://schemas.microsoft.com/office/powerpoint/2010/main" val="131876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BAE31-2D86-E093-DB02-6DDA040B8148}"/>
              </a:ext>
            </a:extLst>
          </p:cNvPr>
          <p:cNvSpPr txBox="1"/>
          <p:nvPr/>
        </p:nvSpPr>
        <p:spPr>
          <a:xfrm>
            <a:off x="782624" y="1289798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428A6-7E52-039D-B855-D2F802FCD221}"/>
              </a:ext>
            </a:extLst>
          </p:cNvPr>
          <p:cNvSpPr txBox="1"/>
          <p:nvPr/>
        </p:nvSpPr>
        <p:spPr>
          <a:xfrm>
            <a:off x="1759952" y="210472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그래프 그리기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EB637-AE02-0604-3333-825B85A047F4}"/>
              </a:ext>
            </a:extLst>
          </p:cNvPr>
          <p:cNvSpPr txBox="1"/>
          <p:nvPr/>
        </p:nvSpPr>
        <p:spPr>
          <a:xfrm>
            <a:off x="873574" y="210472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8.1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BD61D-5685-D1D2-08CE-FD1B45FE6BB2}"/>
              </a:ext>
            </a:extLst>
          </p:cNvPr>
          <p:cNvSpPr txBox="1"/>
          <p:nvPr/>
        </p:nvSpPr>
        <p:spPr>
          <a:xfrm>
            <a:off x="1759952" y="291957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이미지 다루기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BAEC9-7590-023E-98F0-EC6F6A803E37}"/>
              </a:ext>
            </a:extLst>
          </p:cNvPr>
          <p:cNvSpPr txBox="1"/>
          <p:nvPr/>
        </p:nvSpPr>
        <p:spPr>
          <a:xfrm>
            <a:off x="873574" y="291957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8.2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FA8ACC2-C2A2-1F10-B166-A1E51BC1E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775" y="4480610"/>
            <a:ext cx="2069867" cy="178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8967-33E3-2CFC-52E3-C8A02F1A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ECDD8F4-2DFE-B3CE-58FD-E5061DD8DF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045462-7318-E981-7AE1-9CEF54262349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917A2C-1CCA-091D-443A-C45921ADD6D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E4818-5B25-1145-7DDA-9C3BBC9A32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006D-8390-3593-1A71-13EAFF530A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그래프 그리기</a:t>
            </a:r>
            <a:endParaRPr lang="it-IT" altLang="ko-KR" sz="4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3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2056-B611-F7E9-ECCC-F0D996EA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B2276D6-1FBB-D342-8124-8E8A38DB496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042323D-74A9-8350-81ED-0BAAEBB3F3E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A6A3C7-6AF8-DD53-47B4-41A2ECADBC9E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EE2EF-3BD4-0DD6-B843-CAE247989950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matplotlib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E925C-7EE4-272C-7A89-75FEE892DFE9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pyplot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import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FC2A4B8-08C5-426D-0A77-90EC599078B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B1BF65F-2AC7-35B7-0066-BC268300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A90DA3B9-7CB8-9B08-6C8F-826E54A17AA7}"/>
              </a:ext>
            </a:extLst>
          </p:cNvPr>
          <p:cNvSpPr/>
          <p:nvPr/>
        </p:nvSpPr>
        <p:spPr>
          <a:xfrm>
            <a:off x="1038688" y="2117431"/>
            <a:ext cx="10244830" cy="8333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C76F89E4-F0A6-D11E-9ED9-3A55B32FF8FE}"/>
              </a:ext>
            </a:extLst>
          </p:cNvPr>
          <p:cNvSpPr/>
          <p:nvPr/>
        </p:nvSpPr>
        <p:spPr>
          <a:xfrm>
            <a:off x="1038688" y="3311371"/>
            <a:ext cx="10244830" cy="2139518"/>
          </a:xfrm>
          <a:prstGeom prst="roundRect">
            <a:avLst>
              <a:gd name="adj" fmla="val 275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year = </a:t>
            </a:r>
            <a:r>
              <a:rPr lang="en-US" altLang="ko-KR" sz="20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2014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2015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2016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2017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2018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2019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2020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2021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2022</a:t>
            </a:r>
            <a:r>
              <a:rPr lang="en-US" altLang="ko-KR" sz="20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</a:t>
            </a:r>
          </a:p>
          <a:p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gdp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0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3079.9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3250.1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3398.8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3574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3678.2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3721.8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3744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4003.6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en-US" altLang="ko-KR" sz="20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4165.5</a:t>
            </a:r>
            <a:r>
              <a:rPr lang="en-US" altLang="ko-KR" sz="20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</a:t>
            </a:r>
          </a:p>
          <a:p>
            <a:endParaRPr lang="en-US" altLang="ko-KR" sz="20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0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plot</a:t>
            </a:r>
            <a:r>
              <a:rPr lang="en-US" altLang="ko-KR" sz="20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year, </a:t>
            </a:r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gdp</a:t>
            </a:r>
            <a:r>
              <a:rPr lang="en-US" altLang="ko-KR" sz="20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</a:t>
            </a:r>
            <a:r>
              <a:rPr lang="en-US" altLang="ko-KR" sz="20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0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그래프 입력</a:t>
            </a:r>
            <a:endParaRPr lang="en-US" altLang="ko-KR" sz="2000" dirty="0">
              <a:solidFill>
                <a:srgbClr val="008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0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0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show</a:t>
            </a:r>
            <a:r>
              <a:rPr lang="en-US" altLang="ko-KR" sz="20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  <a:r>
              <a:rPr lang="en-US" altLang="ko-KR" sz="20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   </a:t>
            </a:r>
            <a:r>
              <a:rPr lang="en-US" altLang="ko-KR" sz="20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0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그래프 출력</a:t>
            </a:r>
            <a:r>
              <a:rPr lang="en-US" altLang="ko-KR" sz="20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0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보여주기</a:t>
            </a:r>
            <a:r>
              <a:rPr lang="en-US" altLang="ko-KR" sz="20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144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D9A9-1488-44ED-7C54-2576EACC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7E4529BD-B8F1-4432-25C2-870FB423941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ECFF49C-5E06-5BEF-59D8-D24C5C003B0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70C04B-593B-AB61-AC29-763E83011245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3E625-0DEF-143C-9310-9E8EAADC23F3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matplotlib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93B0C0-D798-6391-97D7-7DEAC7AC6458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pyplot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import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99E95798-6BDB-CE3C-F517-0E6E96DA1BFD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196EFA3-279A-1F76-F5E1-E7CCA5891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EFDC4BE-2159-86A1-9F9C-101EDC604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016219"/>
            <a:ext cx="53340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741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94EC8-5512-C29D-DD7F-8E301250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ADCF2BC-0A3C-4548-F5C0-B1A44CCC7745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A6B3E0-B47B-55EF-9792-26DBCFC9AE0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BA1D1-0558-3DEC-C0C4-BC2634284AC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0AE07-8A14-E2A8-A691-152E2AE5F604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2BEC8A-2607-1722-C4CF-7E54F67FACE4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plot(), show()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1B51A79-8D28-83F6-BA12-32C08F5AD2FF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2E0369-2D8F-4B2C-C0A9-8C9077590E30}"/>
              </a:ext>
            </a:extLst>
          </p:cNvPr>
          <p:cNvSpPr txBox="1"/>
          <p:nvPr/>
        </p:nvSpPr>
        <p:spPr>
          <a:xfrm>
            <a:off x="838500" y="1633928"/>
            <a:ext cx="7375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plot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주어진 데이터들에 대해 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 그래프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그리는 함수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show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그래프를 화면에 출력해서 보여주는 함수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3393666-3FBE-75E1-59A1-D51CFF0D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32A41F3C-ECA9-BC04-086C-B1B7382036B2}"/>
              </a:ext>
            </a:extLst>
          </p:cNvPr>
          <p:cNvSpPr/>
          <p:nvPr/>
        </p:nvSpPr>
        <p:spPr>
          <a:xfrm>
            <a:off x="1038688" y="2341369"/>
            <a:ext cx="10244830" cy="138802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plot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2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x</a:t>
            </a:r>
            <a:r>
              <a:rPr lang="ko-KR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축 데이터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200" dirty="0">
                <a:solidFill>
                  <a:srgbClr val="00B05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</a:t>
            </a:r>
            <a:r>
              <a:rPr lang="ko-KR" altLang="en-US" sz="2200" dirty="0">
                <a:solidFill>
                  <a:srgbClr val="00B05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축 데이터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기타옵션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생략가능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show</a:t>
            </a:r>
            <a:r>
              <a:rPr lang="en-US" altLang="ko-KR" sz="2200" dirty="0">
                <a:solidFill>
                  <a:srgbClr val="0000FF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  <a:endParaRPr lang="en-US" altLang="ko-KR" sz="2200" dirty="0">
              <a:solidFill>
                <a:srgbClr val="0000FF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60AE050-F71B-87EA-B3ED-D07E713BF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654" y="3764637"/>
            <a:ext cx="3914987" cy="284403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BE221D-612B-763A-0046-6838F32618D9}"/>
              </a:ext>
            </a:extLst>
          </p:cNvPr>
          <p:cNvSpPr/>
          <p:nvPr/>
        </p:nvSpPr>
        <p:spPr>
          <a:xfrm>
            <a:off x="4128117" y="6455469"/>
            <a:ext cx="3560524" cy="153207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4CE6BD-3019-2C7D-02A3-373A544475F2}"/>
              </a:ext>
            </a:extLst>
          </p:cNvPr>
          <p:cNvSpPr/>
          <p:nvPr/>
        </p:nvSpPr>
        <p:spPr>
          <a:xfrm>
            <a:off x="3852909" y="3791271"/>
            <a:ext cx="230820" cy="2615420"/>
          </a:xfrm>
          <a:prstGeom prst="rect">
            <a:avLst/>
          </a:prstGeom>
          <a:solidFill>
            <a:srgbClr val="00B05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86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F9E4-44B8-427B-8007-E42E9CC9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825E1495-F21E-7C0C-7675-20F39950B4B2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C7BFE15-D12A-83D2-9B08-45338C836613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DA46F-018B-6779-17ED-83562B2E1B3A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5A53A-577B-F039-E701-7B7C6BADEA53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E1B5A8-3E8D-35A4-AF72-E1BF15D5B27F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 그래프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4C4E4CC-F375-7DC9-13F6-D34A1371720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9E649D6-6D0E-85EB-1282-42FD4BAE9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BB3BE015-A886-10DA-976B-1F2865BFD488}"/>
              </a:ext>
            </a:extLst>
          </p:cNvPr>
          <p:cNvSpPr/>
          <p:nvPr/>
        </p:nvSpPr>
        <p:spPr>
          <a:xfrm>
            <a:off x="1038688" y="2117431"/>
            <a:ext cx="10244830" cy="3607042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x = 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np.linspace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(0, 6, 7)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 = x**2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(x, y)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plt.show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02463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4E21-CCAF-CF0B-429E-64732E61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7919906-53A7-82DC-F03F-DEB5535C93A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68AC9C9-B4B6-A31D-EEAB-5BB44892FCC3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41F94-1210-04D5-5071-48F8B228DEB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640F3-6ABD-A21E-C676-8F53A1662FCC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806EF2-F410-BD39-4E66-871B36008E45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 그래프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A91489D4-29A2-B50C-690E-BE7BBB3163F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9D5F7D4-CEAA-F477-86DF-E7E2EC4D4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FD7B89B-B742-B46A-ECBC-39924F831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09962" y="2016219"/>
            <a:ext cx="5172075" cy="393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3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9E6DF-E906-6C9B-4E9F-09229C2E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6B5C38A-5C67-EB1F-B4D2-849D8F7E691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F966547-1A28-B041-8018-DA52B7FA2801}"/>
              </a:ext>
            </a:extLst>
          </p:cNvPr>
          <p:cNvSpPr/>
          <p:nvPr/>
        </p:nvSpPr>
        <p:spPr>
          <a:xfrm>
            <a:off x="246742" y="214085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A6727-8E85-146D-465F-DEE65D69ABA2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507A0-CE8D-D9A9-E612-47ADBD0B7B09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A34046-38D6-2E9C-8EAC-3D5267660551}"/>
              </a:ext>
            </a:extLst>
          </p:cNvPr>
          <p:cNvSpPr txBox="1"/>
          <p:nvPr/>
        </p:nvSpPr>
        <p:spPr>
          <a:xfrm>
            <a:off x="943357" y="1170429"/>
            <a:ext cx="639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점 찍기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그래프 색깔 설정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5740F622-DC22-041F-1AD2-3B2A06BC8DB0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F8B2266-A130-D166-D336-1C08854C6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3F634F3B-1517-DA68-16F0-0C404E07CDBB}"/>
              </a:ext>
            </a:extLst>
          </p:cNvPr>
          <p:cNvSpPr/>
          <p:nvPr/>
        </p:nvSpPr>
        <p:spPr>
          <a:xfrm>
            <a:off x="1038688" y="2117431"/>
            <a:ext cx="10244830" cy="3607042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x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np.linspace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(0, 6, 7)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 = x**2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(x, y, 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marker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='o'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color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='green'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plt.show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4853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2BE0-AB4A-B090-5308-B4FB99A0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C3BBF1F-2FD8-C5E5-30E6-154B4D12374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82D37C1-275C-1AD1-AB31-735DD40E8DB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432FD2-48E9-E0F5-9411-5F77F907D252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A1D5A-714B-6F61-0698-F586C5B3DE1D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6D46BD-D630-2378-4A3C-EF5D3AEA163E}"/>
              </a:ext>
            </a:extLst>
          </p:cNvPr>
          <p:cNvSpPr txBox="1"/>
          <p:nvPr/>
        </p:nvSpPr>
        <p:spPr>
          <a:xfrm>
            <a:off x="943358" y="1170429"/>
            <a:ext cx="6255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점 찍기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그래프 색깔 설정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4A280084-FC51-0332-5641-93FBD3B38E9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CD3035B-90FE-6C48-5FE6-112DBA5C1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61E0FFC-E1E8-9D13-1DA3-412A9B061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09962" y="2016219"/>
            <a:ext cx="5172075" cy="393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975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A306D-0762-CF23-0DD7-F95C8690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1FA35C4-D87B-ADA0-CFCE-3118CBB5FB5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4E18AA7-8FD8-4A01-B2D3-DDDD6E7B8C31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0DCD2-2C20-B46A-EBDD-364EF3AD457C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3C670-87E6-678A-1AAF-C89238CD0567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0A0EF5-DEB0-900F-7B0C-359CBB963567}"/>
              </a:ext>
            </a:extLst>
          </p:cNvPr>
          <p:cNvSpPr txBox="1"/>
          <p:nvPr/>
        </p:nvSpPr>
        <p:spPr>
          <a:xfrm>
            <a:off x="943358" y="1170429"/>
            <a:ext cx="535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창의 크기 설정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제목 설정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D41CB319-BC59-7121-E898-184CA0A9CCD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814393F-19E3-9E02-8430-22DA980A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8AEDC131-19C9-7D0C-AFD0-6A15132F4200}"/>
              </a:ext>
            </a:extLst>
          </p:cNvPr>
          <p:cNvSpPr/>
          <p:nvPr/>
        </p:nvSpPr>
        <p:spPr>
          <a:xfrm>
            <a:off x="1038688" y="1712067"/>
            <a:ext cx="10244830" cy="4503907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x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np.linspace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(0, 6, 7)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 = x**2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figure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figsize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=(4, 3))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창의 크기 설정</a:t>
            </a:r>
            <a:endParaRPr lang="en-US" altLang="ko-KR" sz="2400" dirty="0">
              <a:solidFill>
                <a:srgbClr val="008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title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("x^2 Graph")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가장 최근에 만들어진 창</a:t>
            </a:r>
            <a:r>
              <a:rPr lang="en-US" altLang="ko-KR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(Figure </a:t>
            </a:r>
            <a:r>
              <a:rPr lang="ko-KR" altLang="en-US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객체</a:t>
            </a:r>
            <a:r>
              <a:rPr lang="en-US" altLang="ko-KR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  <a:r>
              <a:rPr lang="ko-KR" altLang="en-US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의 제목을 설정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(x, y, marker='o', color='green')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plt.show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69511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12DC-04DA-E4DF-71BA-4186E78B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E28ED923-54DF-D8EF-3605-B89C86D31FDF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7C6FD0E-0467-4FD6-6084-DB1357512C0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A1D6F8-C7B4-33F2-38C2-1DD0B8CA2288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8951E-51F8-AA68-987F-DB7766D6FCB2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E1AED1-E6D9-BB56-8837-92AB4001B8B1}"/>
              </a:ext>
            </a:extLst>
          </p:cNvPr>
          <p:cNvSpPr txBox="1"/>
          <p:nvPr/>
        </p:nvSpPr>
        <p:spPr>
          <a:xfrm>
            <a:off x="943357" y="1170429"/>
            <a:ext cx="5875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창의 크기 설정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제목 설정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A9655F8-4489-1DC4-3662-EC93F40CBF9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728293A-E07F-3A69-7E45-E0A32EA24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439A9F6-223D-CE3E-631F-AAA45D423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31732" y="2016219"/>
            <a:ext cx="4728535" cy="393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235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45E3-54A7-CD2F-79E5-8E3F630C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6A01063-116A-7E90-8569-6C52BDF5EBB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9D1D196-4557-D7D3-3566-3820AE065353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6499F-A89F-9725-A636-FFCE6D49B41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C8F55-028B-F511-082D-3071DEE713CA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5260E0-DE17-87AC-FB19-7FB4E7BA6864}"/>
              </a:ext>
            </a:extLst>
          </p:cNvPr>
          <p:cNvSpPr txBox="1"/>
          <p:nvPr/>
        </p:nvSpPr>
        <p:spPr>
          <a:xfrm>
            <a:off x="943358" y="1170429"/>
            <a:ext cx="8550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여러 개의 그래프 동시에 나타내기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7EB09D34-4A05-83CB-A091-2575D0BCF073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EFC056C-827A-C12E-44DC-AFAB938D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7C1391E9-101E-E01D-A079-874183431D76}"/>
              </a:ext>
            </a:extLst>
          </p:cNvPr>
          <p:cNvSpPr/>
          <p:nvPr/>
        </p:nvSpPr>
        <p:spPr>
          <a:xfrm>
            <a:off x="1038688" y="1712067"/>
            <a:ext cx="10244830" cy="4503907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numpy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np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x =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np.linspace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(0, 6, 7)</a:t>
            </a:r>
          </a:p>
          <a:p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y1 = x**2</a:t>
            </a:r>
          </a:p>
          <a:p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y2 = x**3+10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(x, 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y1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marker='o', color='g')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(x, 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y2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marker='o', color='orange')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plt.show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01437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1C1F-F51F-0896-6973-A2F6CCDF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7D7E5CC-709F-C7BE-6910-CFDBD284A89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8DCD754-0E74-1839-EF5A-A68D5AC17277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F6B890-F13C-D81C-DFC0-F7C08BB8E6D7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47D8B-3C89-0799-F55A-E5F9CCADEBF2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3B0EAE-6B17-FBC2-F222-D6211EE4E954}"/>
              </a:ext>
            </a:extLst>
          </p:cNvPr>
          <p:cNvSpPr txBox="1"/>
          <p:nvPr/>
        </p:nvSpPr>
        <p:spPr>
          <a:xfrm>
            <a:off x="943357" y="1170429"/>
            <a:ext cx="8268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여러 개의 그래프 동시에 나타내기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FEDA809-23D9-0211-3B99-68C9EFCC9E60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2F701C4-CAC4-683E-B165-D7C04BD9D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55FA039-F499-6696-2AA1-F60363530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2171092"/>
            <a:ext cx="52578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898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A6FA-22F6-066F-9142-44CF0DCD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435B742-4083-DB37-E6CA-063EE2A0F182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D96CE27-7876-9074-4864-01D2BEB38B0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75AAC7-FF95-DE69-36E6-F44A0FBF90D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2CE42-A06B-A243-7682-BCD6BBAA2F6B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B4E966-6B8C-2A1D-E90F-40414A994C2F}"/>
              </a:ext>
            </a:extLst>
          </p:cNvPr>
          <p:cNvSpPr txBox="1"/>
          <p:nvPr/>
        </p:nvSpPr>
        <p:spPr>
          <a:xfrm>
            <a:off x="943358" y="1170429"/>
            <a:ext cx="8550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범례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(label, legend)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추가하기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4CE39D2-01EB-E81C-E076-A56579548BB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2D606D5-0F8B-1C74-B877-C166EF027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542DA4A7-0377-95DF-0DE3-0BEA4F7CBC33}"/>
              </a:ext>
            </a:extLst>
          </p:cNvPr>
          <p:cNvSpPr/>
          <p:nvPr/>
        </p:nvSpPr>
        <p:spPr>
          <a:xfrm>
            <a:off x="1038688" y="2354094"/>
            <a:ext cx="10244830" cy="2616740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(x, y1, 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label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='$x^2$'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marker='o', color='g')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(x, y2, 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label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='$x^3+10$'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marker='o', color='orange')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legend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plt.show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52930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BF37-635A-6CFB-D67A-8FC488FE3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7F2FDEA2-7B60-2CDC-70A8-0BEF1DF98E6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FA9D231-1E6A-37A2-BD03-B31AEED3568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1F7C44-9DB5-7764-807F-6B71DFDCE505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152DC-6794-950D-47A3-BCF6D4F512C9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FF35EB-C9E6-3DF8-D528-E8D89ACB3D1D}"/>
              </a:ext>
            </a:extLst>
          </p:cNvPr>
          <p:cNvSpPr txBox="1"/>
          <p:nvPr/>
        </p:nvSpPr>
        <p:spPr>
          <a:xfrm>
            <a:off x="943357" y="1170429"/>
            <a:ext cx="8268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범례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(label, legend)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추가하기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5BD7DCD-6EFC-66DE-8392-1EA07B72C35D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C648479-E162-1212-932A-520EB99B7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6F0C122-1B3A-7378-3B30-ABE493CD8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67100" y="2171092"/>
            <a:ext cx="52578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82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7FC2-D4FB-39F4-DAB7-EE0059E5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DEAC58B4-C124-EFB9-86C1-890D70B81174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A0F344D-82A4-6ED8-149C-798E662FC71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F2C27-1819-10FF-9327-90C1387A0405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CDDD7-4817-7D50-7DA8-1F663571EDCF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막대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8923BC-B69D-4F66-1D2B-F05F6DCEFE9D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bar(), show()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54F5061-740D-8968-1133-E6E950194D1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718E77-026C-841C-0FA3-CEFE72D9852B}"/>
              </a:ext>
            </a:extLst>
          </p:cNvPr>
          <p:cNvSpPr txBox="1"/>
          <p:nvPr/>
        </p:nvSpPr>
        <p:spPr>
          <a:xfrm>
            <a:off x="838500" y="1633928"/>
            <a:ext cx="7375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bar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주어진 데이터들에 대해 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막대 그래프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그리는 함수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show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그래프를 화면에 출력해서 보여주는 함수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FB70B72-71CD-51AC-85C6-669964D0C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A3B95CBB-2C53-B37F-95E7-A911B30B767D}"/>
              </a:ext>
            </a:extLst>
          </p:cNvPr>
          <p:cNvSpPr/>
          <p:nvPr/>
        </p:nvSpPr>
        <p:spPr>
          <a:xfrm>
            <a:off x="1038688" y="2341369"/>
            <a:ext cx="10244830" cy="138802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bar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2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x</a:t>
            </a:r>
            <a:r>
              <a:rPr lang="ko-KR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축 데이터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200" dirty="0">
                <a:solidFill>
                  <a:srgbClr val="00B05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</a:t>
            </a:r>
            <a:r>
              <a:rPr lang="ko-KR" altLang="en-US" sz="2200" dirty="0">
                <a:solidFill>
                  <a:srgbClr val="00B05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축 데이터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기타옵션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생략가능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show</a:t>
            </a:r>
            <a:r>
              <a:rPr lang="en-US" altLang="ko-KR" sz="2200" dirty="0">
                <a:solidFill>
                  <a:srgbClr val="0000FF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  <a:endParaRPr lang="en-US" altLang="ko-KR" sz="2200" dirty="0">
              <a:solidFill>
                <a:srgbClr val="0000FF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C9BBA52-057A-EA0F-5F88-C4307CB7A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3339" y="3764637"/>
            <a:ext cx="3801233" cy="284403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C78A95-096B-BB9D-3693-909952B0FC1A}"/>
              </a:ext>
            </a:extLst>
          </p:cNvPr>
          <p:cNvSpPr/>
          <p:nvPr/>
        </p:nvSpPr>
        <p:spPr>
          <a:xfrm>
            <a:off x="7802013" y="6426285"/>
            <a:ext cx="3560524" cy="153207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4AC26B-6E3E-D744-E59F-ACE3F9D185FD}"/>
              </a:ext>
            </a:extLst>
          </p:cNvPr>
          <p:cNvSpPr/>
          <p:nvPr/>
        </p:nvSpPr>
        <p:spPr>
          <a:xfrm>
            <a:off x="7585173" y="3791271"/>
            <a:ext cx="230820" cy="2615420"/>
          </a:xfrm>
          <a:prstGeom prst="rect">
            <a:avLst/>
          </a:prstGeom>
          <a:solidFill>
            <a:srgbClr val="00B05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75B9EF-8529-8F9D-DADD-C6290A277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88" y="3936931"/>
            <a:ext cx="36099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99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80141-8F5B-01B5-AC2F-BA7F405D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D1C41957-4D8C-A8C8-C5F9-E55D431BA95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6E95D9E-3C01-C3DE-1B53-E54BEFFF37D9}"/>
              </a:ext>
            </a:extLst>
          </p:cNvPr>
          <p:cNvSpPr/>
          <p:nvPr/>
        </p:nvSpPr>
        <p:spPr>
          <a:xfrm>
            <a:off x="246742" y="214085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76D48A-F1E7-64F8-7188-DD308343C8F6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04CE3-8567-4AC0-4F5C-0E41AFF2EF5F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막대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EAF577-9513-AF22-2E32-2DDE26300756}"/>
              </a:ext>
            </a:extLst>
          </p:cNvPr>
          <p:cNvSpPr txBox="1"/>
          <p:nvPr/>
        </p:nvSpPr>
        <p:spPr>
          <a:xfrm>
            <a:off x="943357" y="1170429"/>
            <a:ext cx="639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축 이름 설정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B9BE9BB4-475B-1A6B-188E-163AD7A87C66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8110EBB-B044-F39B-9784-743E7BB3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17767A74-119F-2054-5CA6-228B75B2AA5C}"/>
              </a:ext>
            </a:extLst>
          </p:cNvPr>
          <p:cNvSpPr/>
          <p:nvPr/>
        </p:nvSpPr>
        <p:spPr>
          <a:xfrm>
            <a:off x="1017127" y="2422618"/>
            <a:ext cx="10244830" cy="3607042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season = ['spring', 'summer', 'autumn', 'winter']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precipitation = [330.5, 612.8, 256.4, 13.3]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bar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(season, precipitation)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ylabel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("mm") </a:t>
            </a:r>
            <a:r>
              <a:rPr lang="en-US" altLang="ko-KR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y</a:t>
            </a:r>
            <a:r>
              <a:rPr lang="ko-KR" altLang="en-US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축 이름을 </a:t>
            </a:r>
            <a:r>
              <a:rPr lang="en-US" altLang="ko-KR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mm</a:t>
            </a:r>
            <a:r>
              <a:rPr lang="ko-KR" altLang="en-US" sz="2400" dirty="0">
                <a:solidFill>
                  <a:srgbClr val="008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으로 설정</a:t>
            </a:r>
            <a:endParaRPr lang="en-US" altLang="ko-KR" sz="2400" dirty="0">
              <a:solidFill>
                <a:srgbClr val="008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plt.show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BD2A2-1F98-297D-06C0-156DE86BF13B}"/>
              </a:ext>
            </a:extLst>
          </p:cNvPr>
          <p:cNvSpPr txBox="1"/>
          <p:nvPr/>
        </p:nvSpPr>
        <p:spPr>
          <a:xfrm>
            <a:off x="838500" y="1633928"/>
            <a:ext cx="7375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 err="1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xlabel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x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축 이름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설정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 err="1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ylabel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y</a:t>
            </a:r>
            <a:r>
              <a:rPr lang="ko-KR" altLang="en-US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축 이름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설정</a:t>
            </a:r>
          </a:p>
        </p:txBody>
      </p:sp>
    </p:spTree>
    <p:extLst>
      <p:ext uri="{BB962C8B-B14F-4D97-AF65-F5344CB8AC3E}">
        <p14:creationId xmlns:p14="http://schemas.microsoft.com/office/powerpoint/2010/main" val="194819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3EC8-C53A-4378-7662-A80B9CCB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EAAED55-4483-9F92-093B-DDD8C19954A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502592F-E11A-58DE-6875-AF40DAC34143}"/>
              </a:ext>
            </a:extLst>
          </p:cNvPr>
          <p:cNvSpPr/>
          <p:nvPr/>
        </p:nvSpPr>
        <p:spPr>
          <a:xfrm>
            <a:off x="246742" y="214085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B6FA5-14CF-8DB9-DB82-0B47B7D8EBC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60E83-CB1B-2FD9-0CDA-7D1A1B6E86AC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막대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765440-AF8D-79F9-FB5D-3054B11641B0}"/>
              </a:ext>
            </a:extLst>
          </p:cNvPr>
          <p:cNvSpPr txBox="1"/>
          <p:nvPr/>
        </p:nvSpPr>
        <p:spPr>
          <a:xfrm>
            <a:off x="943357" y="1170429"/>
            <a:ext cx="639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축 이름 설정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1A7D417-933A-539C-59A8-2ADD2FD884C1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8B3218F-8C0A-ED0D-1877-44CEB178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1262D2E-D56B-8CEE-1901-269C62779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67100" y="2236541"/>
            <a:ext cx="5257800" cy="3802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992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1DEDA-CE9C-BDD4-F2F7-06DBD575F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7C5FE367-490B-C2DD-4956-6F5BEF1BF1C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91570A7-9A7F-3549-41F4-3785853DA3AE}"/>
              </a:ext>
            </a:extLst>
          </p:cNvPr>
          <p:cNvSpPr/>
          <p:nvPr/>
        </p:nvSpPr>
        <p:spPr>
          <a:xfrm>
            <a:off x="246742" y="214085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6FFA46-E0AB-17A2-0AD3-441CEE7151B4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D8D8C-D311-9F17-ACAB-7A3990041B3D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막대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E70A5D-EB41-7EED-07C8-26003E17926D}"/>
              </a:ext>
            </a:extLst>
          </p:cNvPr>
          <p:cNvSpPr txBox="1"/>
          <p:nvPr/>
        </p:nvSpPr>
        <p:spPr>
          <a:xfrm>
            <a:off x="943357" y="1170429"/>
            <a:ext cx="639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딕셔너리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형태의 데이터로 그래프 그리기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A004BF09-D6AE-90BB-5C7F-A30C5D08F82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2B39FE2-E83E-0370-E44A-3D69C18B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DC24EDF2-0F52-7FB2-D9DA-5ADC5EEE0BB5}"/>
              </a:ext>
            </a:extLst>
          </p:cNvPr>
          <p:cNvSpPr/>
          <p:nvPr/>
        </p:nvSpPr>
        <p:spPr>
          <a:xfrm>
            <a:off x="1017127" y="2422618"/>
            <a:ext cx="10244830" cy="3607042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as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preci_dict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{'spring': 330.5, 'summer': 612.8, 'autumn': 256.4, 'winter': 13.3}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plt.bar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preci_dict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.keys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(),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preci_dict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.values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())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plt.show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57CE2-3B65-1260-C2DD-8F1A9614A2AE}"/>
              </a:ext>
            </a:extLst>
          </p:cNvPr>
          <p:cNvSpPr txBox="1"/>
          <p:nvPr/>
        </p:nvSpPr>
        <p:spPr>
          <a:xfrm>
            <a:off x="838500" y="1633928"/>
            <a:ext cx="7375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.keys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key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데이터만 가져옴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.values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value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데이터만 가져옴</a:t>
            </a:r>
          </a:p>
        </p:txBody>
      </p:sp>
    </p:spTree>
    <p:extLst>
      <p:ext uri="{BB962C8B-B14F-4D97-AF65-F5344CB8AC3E}">
        <p14:creationId xmlns:p14="http://schemas.microsoft.com/office/powerpoint/2010/main" val="235300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9FD5-A0D3-19AF-708F-4CD8646B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5D6FB76-09FA-C2B4-0A2F-A2833C80E6A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856C80-2858-0A25-47F7-8CB3B558B158}"/>
              </a:ext>
            </a:extLst>
          </p:cNvPr>
          <p:cNvSpPr/>
          <p:nvPr/>
        </p:nvSpPr>
        <p:spPr>
          <a:xfrm>
            <a:off x="246742" y="214085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0E13E0-9780-5611-BC38-D854DEC2698E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56C36-A0B4-0AD8-2B98-D1D46255D8C0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막대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2E7AC-E0BF-ED98-59C8-ADBEF797EF53}"/>
              </a:ext>
            </a:extLst>
          </p:cNvPr>
          <p:cNvSpPr txBox="1"/>
          <p:nvPr/>
        </p:nvSpPr>
        <p:spPr>
          <a:xfrm>
            <a:off x="943357" y="1170429"/>
            <a:ext cx="639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딕셔너리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형태의 데이터로 그래프 그리기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6FFF188-6E2B-08F0-AD64-D6B45CDAB4D1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FAB217E-318E-5B70-534C-BEECBE325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CBD5212-E5FA-9CB0-CEC9-1F0E0F26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099" y="2171091"/>
            <a:ext cx="52578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106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6F7A6-5D45-7F9E-CDF8-2E145F90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8697337-2D58-F985-3C94-C43B60BFAFF7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FCE3D3D-FCF3-98B2-DB9F-872291128E3E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F3C5AC-ACE0-6BA5-EA81-AE2C45870DA5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A681F-7D94-5AEB-3A1C-07F0266032EB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산점도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(Scatter plot)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3BC391-2B00-103D-231A-4464A74767CA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scatter(), show()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F6CBBA63-14F1-784B-C232-FE57C1FA83FF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2C34A-4938-DE92-149E-6AA0C595C0F4}"/>
              </a:ext>
            </a:extLst>
          </p:cNvPr>
          <p:cNvSpPr txBox="1"/>
          <p:nvPr/>
        </p:nvSpPr>
        <p:spPr>
          <a:xfrm>
            <a:off x="838500" y="1633928"/>
            <a:ext cx="7375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scatter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주어진 데이터들에 대해 </a:t>
            </a:r>
            <a:r>
              <a:rPr lang="ko-KR" altLang="en-US" sz="2000" dirty="0" err="1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산점도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그리는 함수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show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그래프를 화면에 출력해서 보여주는 함수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006A108-BE1A-3C65-0D52-9F39A753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9D329D8D-048E-6860-DCAB-BADB74ACFEE0}"/>
              </a:ext>
            </a:extLst>
          </p:cNvPr>
          <p:cNvSpPr/>
          <p:nvPr/>
        </p:nvSpPr>
        <p:spPr>
          <a:xfrm>
            <a:off x="1038688" y="2341369"/>
            <a:ext cx="10244830" cy="138802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scatter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2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x</a:t>
            </a:r>
            <a:r>
              <a:rPr lang="ko-KR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축 데이터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200" dirty="0">
                <a:solidFill>
                  <a:srgbClr val="00B05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y</a:t>
            </a:r>
            <a:r>
              <a:rPr lang="ko-KR" altLang="en-US" sz="2200" dirty="0">
                <a:solidFill>
                  <a:srgbClr val="00B05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축 데이터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기타옵션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생략가능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show</a:t>
            </a:r>
            <a:r>
              <a:rPr lang="en-US" altLang="ko-KR" sz="2200" dirty="0">
                <a:solidFill>
                  <a:srgbClr val="0000FF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  <a:endParaRPr lang="en-US" altLang="ko-KR" sz="2200" dirty="0">
              <a:solidFill>
                <a:srgbClr val="0000FF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37CC18B-DBD1-BFC4-BBFA-3254396E5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3339" y="3785067"/>
            <a:ext cx="3801233" cy="280317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42DF0E-8D5F-EFB1-FEBF-A7160737A21D}"/>
              </a:ext>
            </a:extLst>
          </p:cNvPr>
          <p:cNvSpPr/>
          <p:nvPr/>
        </p:nvSpPr>
        <p:spPr>
          <a:xfrm>
            <a:off x="8093413" y="6263211"/>
            <a:ext cx="3079356" cy="172665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ED56C5-4109-B98B-EAE5-379C9B17D425}"/>
              </a:ext>
            </a:extLst>
          </p:cNvPr>
          <p:cNvSpPr/>
          <p:nvPr/>
        </p:nvSpPr>
        <p:spPr>
          <a:xfrm>
            <a:off x="7733489" y="3791271"/>
            <a:ext cx="340468" cy="2425999"/>
          </a:xfrm>
          <a:prstGeom prst="rect">
            <a:avLst/>
          </a:prstGeom>
          <a:solidFill>
            <a:srgbClr val="00B05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6D6CF5D-C590-ABA3-940C-7517F50B0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88" y="3791271"/>
            <a:ext cx="53530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91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4053B-67E3-3D56-E155-64E9B1636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72C1E26C-3E5B-6A27-4B72-47ED8BB1F9D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63B50A-AF77-D6A0-C28D-F7CC9C852B0F}"/>
              </a:ext>
            </a:extLst>
          </p:cNvPr>
          <p:cNvSpPr/>
          <p:nvPr/>
        </p:nvSpPr>
        <p:spPr>
          <a:xfrm>
            <a:off x="246742" y="214085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CC6CC-BBDA-1FCF-8718-A22730A84043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7DC81-C6F3-20E6-B87B-F8D83620413E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산점도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(Scatter plot)</a:t>
            </a:r>
            <a:endParaRPr lang="ko-KR" altLang="en-US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2BBD34-C5D1-F658-3015-E820B5C4B21C}"/>
              </a:ext>
            </a:extLst>
          </p:cNvPr>
          <p:cNvSpPr txBox="1"/>
          <p:nvPr/>
        </p:nvSpPr>
        <p:spPr>
          <a:xfrm>
            <a:off x="943357" y="1170429"/>
            <a:ext cx="6391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scatter()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30FC8E6-E59E-6D3E-EA07-B2498FE3591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96CB148-4E53-DB7E-6507-B7694F52D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F412808-3828-A629-691B-AE8689A14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67099" y="2199350"/>
            <a:ext cx="5257800" cy="387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139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A56C-EAFA-C05F-3989-E9365B98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78EAE992-AE50-9806-F47A-38B24A1D833B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CEDF74-08AF-2251-5D9E-7BBE5BE53F8E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5A8E55-CDA0-9674-074B-95FBD178A12F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84A41-2648-6653-4FBC-FF7DF684AEF7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B2F7D-1689-9C36-891F-A1E13F8E4D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이미지 다루기</a:t>
            </a:r>
          </a:p>
        </p:txBody>
      </p:sp>
    </p:spTree>
    <p:extLst>
      <p:ext uri="{BB962C8B-B14F-4D97-AF65-F5344CB8AC3E}">
        <p14:creationId xmlns:p14="http://schemas.microsoft.com/office/powerpoint/2010/main" val="2407160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56A9-E697-3CB8-4173-982F01B93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552F5F3-335D-3B89-2936-D061ED02A105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64825E-C8A0-3A22-9E92-A91857921B57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ADF51-E5E5-4AEB-8B5C-33EECD4C671B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CC97A-DE78-1E91-F08B-0490774610FB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이미지 다루기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51F76-A0F0-C46D-B6B9-266BB4AA9054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imread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imshow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C49BE72-2531-1D23-255D-D09F87CA7DB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343EA1C-5F1D-6451-35DF-B1EE88A5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A96324C8-C539-58F3-993F-5562BCD0F2A0}"/>
              </a:ext>
            </a:extLst>
          </p:cNvPr>
          <p:cNvSpPr/>
          <p:nvPr/>
        </p:nvSpPr>
        <p:spPr>
          <a:xfrm>
            <a:off x="1038688" y="2341369"/>
            <a:ext cx="10244830" cy="21748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cat=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imread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 이름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imshow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ko-KR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변수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</a:t>
            </a:r>
            <a:r>
              <a:rPr lang="en-US" altLang="ko-KR" sz="2200" b="1" dirty="0" err="1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show</a:t>
            </a:r>
            <a:r>
              <a:rPr lang="en-US" altLang="ko-KR" sz="2200" dirty="0">
                <a:solidFill>
                  <a:srgbClr val="0000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C836-A423-65DB-1012-FF3D078A59B3}"/>
              </a:ext>
            </a:extLst>
          </p:cNvPr>
          <p:cNvSpPr txBox="1"/>
          <p:nvPr/>
        </p:nvSpPr>
        <p:spPr>
          <a:xfrm>
            <a:off x="838500" y="1633928"/>
            <a:ext cx="7375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 err="1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imread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이미지를 읽어오는 함수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 err="1"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imshow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():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이미지를 화면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(Figure)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그리는 함수</a:t>
            </a:r>
          </a:p>
        </p:txBody>
      </p:sp>
    </p:spTree>
    <p:extLst>
      <p:ext uri="{BB962C8B-B14F-4D97-AF65-F5344CB8AC3E}">
        <p14:creationId xmlns:p14="http://schemas.microsoft.com/office/powerpoint/2010/main" val="1775880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FA9D7-E4F1-465A-58A5-5F00492D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4ECCAF44-0B6B-95C9-CE46-B225C79F191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DFD563-A58D-3498-6939-7F0A3A09C12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2481B4-1CDA-5EB7-F37D-D891A359C75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6EB8C1-7BA8-5281-A63A-160D0A9CC5F2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이미지 다루기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BD57E3-090D-CBF9-2F2D-6992F5B144E7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imread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imshow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EC3AD5F-B288-A129-8213-76E31D919534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8AD3703-50F0-9E6E-67F4-AD5D422C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E8DBBEC8-AC60-7D6E-DE10-169C86A555C9}"/>
              </a:ext>
            </a:extLst>
          </p:cNvPr>
          <p:cNvSpPr/>
          <p:nvPr/>
        </p:nvSpPr>
        <p:spPr>
          <a:xfrm>
            <a:off x="1017127" y="1702177"/>
            <a:ext cx="10244830" cy="217481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import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matplotlib.pyplot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as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</a:t>
            </a:r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cat=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plt.imread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('/content/cat_01.jpg')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plt.imshow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(cat)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plt.show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()</a:t>
            </a:r>
            <a:endParaRPr lang="en-US" altLang="ko-KR" sz="2200" dirty="0">
              <a:solidFill>
                <a:srgbClr val="0000FF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31C526-6F8F-3E75-AC19-5B0514784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769" y="4035505"/>
            <a:ext cx="3358758" cy="239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50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E94F-FFE1-23E1-DD40-CC6C0DC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F6E9D23-B12E-D3ED-5765-25754E5D3F00}"/>
              </a:ext>
            </a:extLst>
          </p:cNvPr>
          <p:cNvSpPr/>
          <p:nvPr/>
        </p:nvSpPr>
        <p:spPr>
          <a:xfrm>
            <a:off x="-2380" y="0"/>
            <a:ext cx="12194380" cy="997223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4" latinLnBrk="0">
              <a:defRPr/>
            </a:pPr>
            <a:endParaRPr lang="en-US" altLang="ko-KR" sz="800" kern="0" dirty="0">
              <a:solidFill>
                <a:prstClr val="white"/>
              </a:solidFill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AAD6097F-65D0-7E57-DC65-9535DA0F777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99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67253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102056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1749689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5125246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658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0730784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8910483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589587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7412808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522151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1347117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3037311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693968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20944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072079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259794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58788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3465109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9552183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10185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46996196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5105607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94177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623155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635064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84235136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2090917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7260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0396748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5371576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6904841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8330677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0759531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2390807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323327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0308616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2968940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041407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75235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5322400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442190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886777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811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805304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072595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7309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85049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50779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9043783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7935041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7416518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5434892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4296576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7673289"/>
                    </a:ext>
                  </a:extLst>
                </a:gridCol>
              </a:tblGrid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DF480675-6526-BC42-187F-13F73AE890C0}"/>
              </a:ext>
            </a:extLst>
          </p:cNvPr>
          <p:cNvGrpSpPr/>
          <p:nvPr/>
        </p:nvGrpSpPr>
        <p:grpSpPr>
          <a:xfrm>
            <a:off x="-2381" y="226018"/>
            <a:ext cx="1875632" cy="773586"/>
            <a:chOff x="357853" y="4425696"/>
            <a:chExt cx="516828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49D5A5E7-BEAF-E022-2119-36779715657B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E0381F82-8813-4511-6E08-577AA9ADBC50}"/>
                </a:ext>
              </a:extLst>
            </p:cNvPr>
            <p:cNvSpPr/>
            <p:nvPr/>
          </p:nvSpPr>
          <p:spPr>
            <a:xfrm>
              <a:off x="1097283" y="4425696"/>
              <a:ext cx="4428853" cy="2115425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  <a:gd name="connsiteX0" fmla="*/ 0 w 4428854"/>
                <a:gd name="connsiteY0" fmla="*/ 2112264 h 2115425"/>
                <a:gd name="connsiteX1" fmla="*/ 749808 w 4428854"/>
                <a:gd name="connsiteY1" fmla="*/ 1417320 h 2115425"/>
                <a:gd name="connsiteX2" fmla="*/ 1508760 w 4428854"/>
                <a:gd name="connsiteY2" fmla="*/ 722376 h 2115425"/>
                <a:gd name="connsiteX3" fmla="*/ 2258568 w 4428854"/>
                <a:gd name="connsiteY3" fmla="*/ 0 h 2115425"/>
                <a:gd name="connsiteX4" fmla="*/ 3017520 w 4428854"/>
                <a:gd name="connsiteY4" fmla="*/ 722376 h 2115425"/>
                <a:gd name="connsiteX5" fmla="*/ 4428854 w 4428854"/>
                <a:gd name="connsiteY5" fmla="*/ 2115425 h 2115425"/>
                <a:gd name="connsiteX6" fmla="*/ 3739896 w 4428854"/>
                <a:gd name="connsiteY6" fmla="*/ 2103120 h 2115425"/>
                <a:gd name="connsiteX7" fmla="*/ 0 w 4428854"/>
                <a:gd name="connsiteY7" fmla="*/ 2112264 h 211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854" h="2115425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4428854" y="2115425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3565EA2D-5E0B-7346-33C1-01EBAB5DA8CC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7DC83789-3698-C129-0FD6-55E6AEB08F33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BE0F45-8736-44CE-506E-0B6A541163FB}"/>
              </a:ext>
            </a:extLst>
          </p:cNvPr>
          <p:cNvGrpSpPr/>
          <p:nvPr/>
        </p:nvGrpSpPr>
        <p:grpSpPr>
          <a:xfrm>
            <a:off x="11453886" y="48068"/>
            <a:ext cx="261865" cy="837864"/>
            <a:chOff x="3175107" y="2906014"/>
            <a:chExt cx="360000" cy="115185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ED63D5E-A2CD-4365-FD9D-A6CF40769D87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E08C0B3-AEBF-1E20-22DB-FF630B9F4FD4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C54E68-ED40-6E89-2D64-A8992C992422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3355108" y="3266013"/>
              <a:ext cx="741" cy="791859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A33BE3B-FDA1-43D6-7A55-63DA7E0A2BBE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A4BB84-1DF3-289D-C464-6711E8C892E3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2CA0F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2CA0F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17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3859</TotalTime>
  <Words>888</Words>
  <Application>Microsoft Office PowerPoint</Application>
  <PresentationFormat>와이드스크린</PresentationFormat>
  <Paragraphs>186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41" baseType="lpstr">
      <vt:lpstr>맑은 고딕</vt:lpstr>
      <vt:lpstr>D2Coding ligature</vt:lpstr>
      <vt:lpstr>Pretendard Light</vt:lpstr>
      <vt:lpstr>Microsoft GothicNeo Light</vt:lpstr>
      <vt:lpstr>G마켓 산스 Medium</vt:lpstr>
      <vt:lpstr>G마켓 산스 Bold</vt:lpstr>
      <vt:lpstr>Pretendard Medium</vt:lpstr>
      <vt:lpstr>KoPub돋움체 Bold</vt:lpstr>
      <vt:lpstr>Microsoft GothicNeo</vt:lpstr>
      <vt:lpstr>Impact</vt:lpstr>
      <vt:lpstr>Arial</vt:lpstr>
      <vt:lpstr>Pretendard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368</cp:revision>
  <dcterms:created xsi:type="dcterms:W3CDTF">2025-09-13T18:52:17Z</dcterms:created>
  <dcterms:modified xsi:type="dcterms:W3CDTF">2026-06-04T17:59:14Z</dcterms:modified>
  <cp:contentStatus/>
</cp:coreProperties>
</file>