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2"/>
    <p:sldId id="398" r:id="rId3"/>
    <p:sldId id="400" r:id="rId4"/>
    <p:sldId id="384" r:id="rId5"/>
    <p:sldId id="402" r:id="rId6"/>
    <p:sldId id="404" r:id="rId7"/>
    <p:sldId id="401" r:id="rId8"/>
    <p:sldId id="403" r:id="rId9"/>
    <p:sldId id="405" r:id="rId10"/>
    <p:sldId id="407" r:id="rId11"/>
    <p:sldId id="408" r:id="rId12"/>
    <p:sldId id="282" r:id="rId13"/>
  </p:sldIdLst>
  <p:sldSz cx="12192000" cy="6858000"/>
  <p:notesSz cx="6858000" cy="9144000"/>
  <p:embeddedFontLs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D2Coding ligature" panose="020B0609020101020101" pitchFamily="49" charset="-127"/>
      <p:regular r:id="rId18"/>
      <p:bold r:id="rId19"/>
    </p:embeddedFont>
    <p:embeddedFont>
      <p:font typeface="G마켓 산스 Bold" panose="02000000000000000000" pitchFamily="50" charset="-127"/>
      <p:bold r:id="rId20"/>
    </p:embeddedFont>
    <p:embeddedFont>
      <p:font typeface="Impact" panose="020B0806030902050204" pitchFamily="34" charset="0"/>
      <p:regular r:id="rId21"/>
    </p:embeddedFont>
    <p:embeddedFont>
      <p:font typeface="KoPub돋움체 Bold" panose="02020603020101020101" pitchFamily="18" charset="-127"/>
      <p:regular r:id="rId22"/>
    </p:embeddedFont>
    <p:embeddedFont>
      <p:font typeface="Microsoft GothicNeo Light" panose="020B0300000101010101" pitchFamily="50" charset="-127"/>
      <p:regular r:id="rId23"/>
    </p:embeddedFont>
    <p:embeddedFont>
      <p:font typeface="Pretendard Light" panose="02000403000000020004" pitchFamily="50" charset="-127"/>
      <p:regular r:id="rId24"/>
    </p:embeddedFont>
    <p:embeddedFont>
      <p:font typeface="Pretendard Medium" panose="02000603000000020004" pitchFamily="50" charset="-127"/>
      <p:regular r:id="rId25"/>
    </p:embeddedFont>
    <p:embeddedFont>
      <p:font typeface="Pretendard SemiBold" panose="02000703000000020004" pitchFamily="50" charset="-127"/>
      <p:bold r:id="rId26"/>
    </p:embeddedFont>
    <p:embeddedFont>
      <p:font typeface="맑은 고딕" panose="020B0503020000020004" pitchFamily="50" charset="-127"/>
      <p:regular r:id="rId27"/>
      <p:bold r:id="rId28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69E85"/>
    <a:srgbClr val="228FF4"/>
    <a:srgbClr val="F2F3F9"/>
    <a:srgbClr val="1F80DB"/>
    <a:srgbClr val="E36D6B"/>
    <a:srgbClr val="EC9E9C"/>
    <a:srgbClr val="76B19C"/>
    <a:srgbClr val="ED9E7B"/>
    <a:srgbClr val="E87F57"/>
    <a:srgbClr val="FCE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31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6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D0AC0A-3F9B-A5C6-4AA7-D3EA06A3BD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01B64D7-17C7-C027-E1F0-F23878B63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A57C69-CE13-C496-042D-C09C96DD3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1ACF98-A77B-8563-BF07-1251A339B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78E394-EC20-D7DF-CB13-79AF34CF0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1910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A9D1EE-C634-334A-111B-1D4C9CF3F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B97BC2-BBAD-5A9B-23C7-284959BB7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7B95C6-D82A-0A11-8C26-16F98539F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7CF1F5-6413-8CEE-2C23-63880BD7F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E56FC5-0090-10D4-E5C1-FD002B809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8281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E669F7-FC97-09DA-BD26-F56A6EC60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090338-6B1B-12B7-B8E5-932A980B3F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837905-7ACD-AA5B-2720-75CE4DE5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626939-0C9B-3141-5D82-F922E22EA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AD57EC-C4BA-405F-994E-8AC6F5B99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0432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4E2CC6-C595-EA3F-C857-4FF836742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DEF67D-D038-AF59-D347-09C7142C51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A6A7F2A-593C-F9EB-4B2B-A70C6280BA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05FA8F1-A859-83B9-5F09-030F71964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D8D790D-AE25-7719-1E49-823F532DC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1EC827C-2EDF-C840-D6D0-0F7C1CFE7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5244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61AC93-0AD6-F646-5426-452B96776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E11A330-BB83-6BBF-84E1-A28CD01CA4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2F1948B-AF0D-F591-CFF4-F73944A668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1470157-92E3-5E4C-E496-BC9E685619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C53E642-1980-19B8-695B-8D3A763753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B64E97D-2970-54CA-5944-F8B8DE5F2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70F51F9-8809-A812-45FC-84A9AB325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A860958-651A-6B5E-7445-C3E44800D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856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B5EB78-8243-32CA-7937-DE772ACE0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833BE2F-8E2A-7E2A-37D7-8B2F97D8E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CB0856A-270C-B49A-4407-A07164D9C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419DE32-988F-77A8-1D25-F6487BABC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2919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4D603F0-DDFB-05A3-8613-D69CC1B54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51F0BDD-FC90-EE66-7F47-BEF16D140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BEB414-4376-6CAF-130F-C70CD2914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7570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BCD63F-F5D7-B2BF-69D1-C43B585AB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79AE9A-67B4-95A2-16F9-180D193415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5DD0CF-4107-B3BB-779D-BE9076E3AA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B403C2A-7C8B-7AB0-5F7D-C60AA68BF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59DA15-9183-EAC1-519A-3BBFBE78D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C5D02B9-EDB8-756D-96D1-60D30074D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5868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3E9ABE-00B6-5B92-3E55-BE044D4DD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3624094-FFC7-58C5-B90A-C346075D2C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1D70469-D3C9-395E-AD5A-3B9512CACB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DF11984-C859-9F50-15CF-E37B6C379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AFE6658-0967-E1C0-BD32-7833B0F4B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7378AC6-F823-9A05-979F-38B009F28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0184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B09AE6-9AAC-A775-3901-151E12C1B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69941B8-B470-6E47-A9EA-DA25090D1A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6A3A29-CE6D-EA40-5715-045071626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C58B68-F305-D40D-5FB6-8F6D37192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EB9324-A76A-C943-1246-EB203AF90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2320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4EF01C8-D6CE-D6B7-EF6C-5598B4E149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8C20FB8-D89B-964B-E0B6-5136D1CD03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DBF778-8E02-A5F9-213D-7FFD1F021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52C205-354B-C719-44E9-BEF759FE0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58701B-3837-CC35-6783-CBF766C75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1726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2B4B94A-D523-D442-0C44-5817E3FC4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4EDCBF0-644F-A983-9149-6814CD1416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FE08A4-3F70-7E0B-56E8-7B82BB311B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EA6FA3-4F79-40B5-9796-76ED3E0BCEE0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249A7D-06CC-2087-8F59-52A6A5FEB1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1DD466-A588-B80D-D3B2-E72281A656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1377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1C1E8A24-D2BD-4F24-BA0A-E5348FFC47D3}"/>
              </a:ext>
            </a:extLst>
          </p:cNvPr>
          <p:cNvSpPr/>
          <p:nvPr/>
        </p:nvSpPr>
        <p:spPr>
          <a:xfrm>
            <a:off x="362712" y="315468"/>
            <a:ext cx="11466576" cy="622706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sx="102000" sy="102000" algn="ctr" rotWithShape="0">
              <a:srgbClr val="0C81F2">
                <a:alpha val="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FC13CBD-0234-45E7-B8BE-3097A91501E2}"/>
              </a:ext>
            </a:extLst>
          </p:cNvPr>
          <p:cNvSpPr/>
          <p:nvPr/>
        </p:nvSpPr>
        <p:spPr>
          <a:xfrm>
            <a:off x="362712" y="315468"/>
            <a:ext cx="4483608" cy="6227064"/>
          </a:xfrm>
          <a:prstGeom prst="rect">
            <a:avLst/>
          </a:prstGeom>
          <a:pattFill prst="pct5">
            <a:fgClr>
              <a:srgbClr val="228FF4"/>
            </a:fgClr>
            <a:bgClr>
              <a:srgbClr val="228FF4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latinLnBrk="0">
              <a:defRPr/>
            </a:pPr>
            <a:endParaRPr lang="en-US" altLang="ko-KR" sz="2800" i="1" kern="0" dirty="0">
              <a:solidFill>
                <a:prstClr val="white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 latinLnBrk="0">
              <a:defRPr/>
            </a:pPr>
            <a:endParaRPr lang="en-US" altLang="ko-KR" sz="2800" i="1" kern="0" dirty="0">
              <a:solidFill>
                <a:prstClr val="white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 latinLnBrk="0">
              <a:defRPr/>
            </a:pPr>
            <a:endParaRPr lang="en-US" altLang="ko-KR" sz="2800" i="1" kern="0" dirty="0">
              <a:solidFill>
                <a:prstClr val="white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6" name="모서리가 둥근 직사각형 43">
            <a:extLst>
              <a:ext uri="{FF2B5EF4-FFF2-40B4-BE49-F238E27FC236}">
                <a16:creationId xmlns:a16="http://schemas.microsoft.com/office/drawing/2014/main" id="{6213B534-391D-4BCF-8E6E-8A262482373C}"/>
              </a:ext>
            </a:extLst>
          </p:cNvPr>
          <p:cNvSpPr/>
          <p:nvPr/>
        </p:nvSpPr>
        <p:spPr>
          <a:xfrm>
            <a:off x="6879118" y="4789647"/>
            <a:ext cx="2917371" cy="485873"/>
          </a:xfrm>
          <a:prstGeom prst="roundRect">
            <a:avLst>
              <a:gd name="adj" fmla="val 50000"/>
            </a:avLst>
          </a:prstGeom>
          <a:pattFill prst="pct5">
            <a:fgClr>
              <a:srgbClr val="0C81F2"/>
            </a:fgClr>
            <a:bgClr>
              <a:srgbClr val="0C81F2"/>
            </a:bgClr>
          </a:pattFill>
          <a:ln w="9525">
            <a:noFill/>
            <a:prstDash val="solid"/>
          </a:ln>
          <a:effectLst>
            <a:outerShdw blurRad="304800" dist="38100" dir="2700000" algn="tl" rotWithShape="0">
              <a:srgbClr val="0C81F2">
                <a:alpha val="17000"/>
              </a:srgbClr>
            </a:outerShdw>
          </a:effectLst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Impact" panose="020B0806030902050204" pitchFamily="34" charset="0"/>
                <a:ea typeface="G마켓 산스 Medium" panose="02000000000000000000" pitchFamily="50" charset="-127"/>
                <a:cs typeface="Microsoft GothicNeo Light" panose="020B0300000101010101" pitchFamily="50" charset="-127"/>
              </a:rPr>
              <a:t>Week 07</a:t>
            </a:r>
            <a:endParaRPr lang="ko-KR" altLang="en-US" sz="2400" dirty="0">
              <a:latin typeface="Impact" panose="020B0806030902050204" pitchFamily="34" charset="0"/>
              <a:ea typeface="G마켓 산스 Medium" panose="02000000000000000000" pitchFamily="50" charset="-127"/>
              <a:cs typeface="Microsoft GothicNeo Light" panose="020B0300000101010101" pitchFamily="50" charset="-127"/>
            </a:endParaRPr>
          </a:p>
        </p:txBody>
      </p:sp>
      <p:graphicFrame>
        <p:nvGraphicFramePr>
          <p:cNvPr id="47" name="표 47">
            <a:extLst>
              <a:ext uri="{FF2B5EF4-FFF2-40B4-BE49-F238E27FC236}">
                <a16:creationId xmlns:a16="http://schemas.microsoft.com/office/drawing/2014/main" id="{BC2E65EA-009D-40B0-BD2D-9B6AE5E031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607951"/>
              </p:ext>
            </p:extLst>
          </p:nvPr>
        </p:nvGraphicFramePr>
        <p:xfrm>
          <a:off x="362711" y="331343"/>
          <a:ext cx="4483608" cy="6195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7268">
                  <a:extLst>
                    <a:ext uri="{9D8B030D-6E8A-4147-A177-3AD203B41FA5}">
                      <a16:colId xmlns:a16="http://schemas.microsoft.com/office/drawing/2014/main" val="1043718934"/>
                    </a:ext>
                  </a:extLst>
                </a:gridCol>
                <a:gridCol w="747268">
                  <a:extLst>
                    <a:ext uri="{9D8B030D-6E8A-4147-A177-3AD203B41FA5}">
                      <a16:colId xmlns:a16="http://schemas.microsoft.com/office/drawing/2014/main" val="83197653"/>
                    </a:ext>
                  </a:extLst>
                </a:gridCol>
                <a:gridCol w="747268">
                  <a:extLst>
                    <a:ext uri="{9D8B030D-6E8A-4147-A177-3AD203B41FA5}">
                      <a16:colId xmlns:a16="http://schemas.microsoft.com/office/drawing/2014/main" val="1244441110"/>
                    </a:ext>
                  </a:extLst>
                </a:gridCol>
                <a:gridCol w="747268">
                  <a:extLst>
                    <a:ext uri="{9D8B030D-6E8A-4147-A177-3AD203B41FA5}">
                      <a16:colId xmlns:a16="http://schemas.microsoft.com/office/drawing/2014/main" val="3513725656"/>
                    </a:ext>
                  </a:extLst>
                </a:gridCol>
                <a:gridCol w="747268">
                  <a:extLst>
                    <a:ext uri="{9D8B030D-6E8A-4147-A177-3AD203B41FA5}">
                      <a16:colId xmlns:a16="http://schemas.microsoft.com/office/drawing/2014/main" val="2848185835"/>
                    </a:ext>
                  </a:extLst>
                </a:gridCol>
                <a:gridCol w="747268">
                  <a:extLst>
                    <a:ext uri="{9D8B030D-6E8A-4147-A177-3AD203B41FA5}">
                      <a16:colId xmlns:a16="http://schemas.microsoft.com/office/drawing/2014/main" val="294809846"/>
                    </a:ext>
                  </a:extLst>
                </a:gridCol>
              </a:tblGrid>
              <a:tr h="68836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111298"/>
                  </a:ext>
                </a:extLst>
              </a:tr>
              <a:tr h="68836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196473"/>
                  </a:ext>
                </a:extLst>
              </a:tr>
              <a:tr h="68836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4573720"/>
                  </a:ext>
                </a:extLst>
              </a:tr>
              <a:tr h="68836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0719676"/>
                  </a:ext>
                </a:extLst>
              </a:tr>
              <a:tr h="68836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8601141"/>
                  </a:ext>
                </a:extLst>
              </a:tr>
              <a:tr h="68836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5349254"/>
                  </a:ext>
                </a:extLst>
              </a:tr>
              <a:tr h="68836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250699"/>
                  </a:ext>
                </a:extLst>
              </a:tr>
              <a:tr h="68836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4842576"/>
                  </a:ext>
                </a:extLst>
              </a:tr>
              <a:tr h="68836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1709023"/>
                  </a:ext>
                </a:extLst>
              </a:tr>
            </a:tbl>
          </a:graphicData>
        </a:graphic>
      </p:graphicFrame>
      <p:grpSp>
        <p:nvGrpSpPr>
          <p:cNvPr id="61" name="그룹 60">
            <a:extLst>
              <a:ext uri="{FF2B5EF4-FFF2-40B4-BE49-F238E27FC236}">
                <a16:creationId xmlns:a16="http://schemas.microsoft.com/office/drawing/2014/main" id="{71BA663E-45B6-4C2C-B2E9-DB732813B517}"/>
              </a:ext>
            </a:extLst>
          </p:cNvPr>
          <p:cNvGrpSpPr/>
          <p:nvPr/>
        </p:nvGrpSpPr>
        <p:grpSpPr>
          <a:xfrm>
            <a:off x="3175107" y="2906014"/>
            <a:ext cx="360000" cy="1519682"/>
            <a:chOff x="3175107" y="2906014"/>
            <a:chExt cx="360000" cy="1519682"/>
          </a:xfrm>
        </p:grpSpPr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13E5BC57-257D-4034-B6AA-386AF2A3C57E}"/>
                </a:ext>
              </a:extLst>
            </p:cNvPr>
            <p:cNvSpPr/>
            <p:nvPr/>
          </p:nvSpPr>
          <p:spPr>
            <a:xfrm>
              <a:off x="3231644" y="2962551"/>
              <a:ext cx="246927" cy="246927"/>
            </a:xfrm>
            <a:prstGeom prst="ellipse">
              <a:avLst/>
            </a:prstGeom>
            <a:solidFill>
              <a:srgbClr val="66FFFF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DE27B153-D673-4A80-886F-3C031E7B2146}"/>
                </a:ext>
              </a:extLst>
            </p:cNvPr>
            <p:cNvSpPr/>
            <p:nvPr/>
          </p:nvSpPr>
          <p:spPr>
            <a:xfrm>
              <a:off x="3175107" y="2906014"/>
              <a:ext cx="360000" cy="360000"/>
            </a:xfrm>
            <a:prstGeom prst="ellipse">
              <a:avLst/>
            </a:prstGeom>
            <a:noFill/>
            <a:ln w="9525">
              <a:solidFill>
                <a:srgbClr val="66FFFF">
                  <a:alpha val="7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B8BDBD16-0C86-4297-B1BF-2A0C2974B2E1}"/>
                </a:ext>
              </a:extLst>
            </p:cNvPr>
            <p:cNvCxnSpPr>
              <a:cxnSpLocks/>
              <a:stCxn id="41" idx="4"/>
              <a:endCxn id="63" idx="3"/>
            </p:cNvCxnSpPr>
            <p:nvPr/>
          </p:nvCxnSpPr>
          <p:spPr>
            <a:xfrm>
              <a:off x="3355107" y="3266014"/>
              <a:ext cx="741" cy="1159682"/>
            </a:xfrm>
            <a:prstGeom prst="line">
              <a:avLst/>
            </a:prstGeom>
            <a:ln w="19050">
              <a:gradFill>
                <a:gsLst>
                  <a:gs pos="0">
                    <a:srgbClr val="66FFFF"/>
                  </a:gs>
                  <a:gs pos="100000">
                    <a:srgbClr val="66FFFF">
                      <a:alpha val="0"/>
                    </a:srgb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3CAF1CA6-CF89-4471-B143-123BEDD7AF54}"/>
                </a:ext>
              </a:extLst>
            </p:cNvPr>
            <p:cNvSpPr/>
            <p:nvPr/>
          </p:nvSpPr>
          <p:spPr>
            <a:xfrm>
              <a:off x="3307843" y="3038750"/>
              <a:ext cx="94527" cy="94527"/>
            </a:xfrm>
            <a:prstGeom prst="ellipse">
              <a:avLst/>
            </a:prstGeom>
            <a:solidFill>
              <a:srgbClr val="66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E4A8C0CC-52B3-47F9-B161-A1F5A96F225A}"/>
              </a:ext>
            </a:extLst>
          </p:cNvPr>
          <p:cNvGrpSpPr/>
          <p:nvPr/>
        </p:nvGrpSpPr>
        <p:grpSpPr>
          <a:xfrm>
            <a:off x="357853" y="4425696"/>
            <a:ext cx="4479323" cy="2131608"/>
            <a:chOff x="357853" y="4425696"/>
            <a:chExt cx="4479323" cy="2131608"/>
          </a:xfrm>
        </p:grpSpPr>
        <p:sp>
          <p:nvSpPr>
            <p:cNvPr id="62" name="자유형: 도형 61">
              <a:extLst>
                <a:ext uri="{FF2B5EF4-FFF2-40B4-BE49-F238E27FC236}">
                  <a16:creationId xmlns:a16="http://schemas.microsoft.com/office/drawing/2014/main" id="{D8E533F7-B42D-41B8-BB34-3271918104F7}"/>
                </a:ext>
              </a:extLst>
            </p:cNvPr>
            <p:cNvSpPr/>
            <p:nvPr/>
          </p:nvSpPr>
          <p:spPr>
            <a:xfrm>
              <a:off x="357853" y="5124170"/>
              <a:ext cx="2262092" cy="1417320"/>
            </a:xfrm>
            <a:custGeom>
              <a:avLst/>
              <a:gdLst>
                <a:gd name="connsiteX0" fmla="*/ 0 w 2240280"/>
                <a:gd name="connsiteY0" fmla="*/ 1399032 h 1417320"/>
                <a:gd name="connsiteX1" fmla="*/ 9144 w 2240280"/>
                <a:gd name="connsiteY1" fmla="*/ 694944 h 1417320"/>
                <a:gd name="connsiteX2" fmla="*/ 731520 w 2240280"/>
                <a:gd name="connsiteY2" fmla="*/ 0 h 1417320"/>
                <a:gd name="connsiteX3" fmla="*/ 2240280 w 2240280"/>
                <a:gd name="connsiteY3" fmla="*/ 1417320 h 1417320"/>
                <a:gd name="connsiteX4" fmla="*/ 0 w 2240280"/>
                <a:gd name="connsiteY4" fmla="*/ 1399032 h 1417320"/>
                <a:gd name="connsiteX0" fmla="*/ 21812 w 2262092"/>
                <a:gd name="connsiteY0" fmla="*/ 1399032 h 1417320"/>
                <a:gd name="connsiteX1" fmla="*/ 0 w 2262092"/>
                <a:gd name="connsiteY1" fmla="*/ 694944 h 1417320"/>
                <a:gd name="connsiteX2" fmla="*/ 753332 w 2262092"/>
                <a:gd name="connsiteY2" fmla="*/ 0 h 1417320"/>
                <a:gd name="connsiteX3" fmla="*/ 2262092 w 2262092"/>
                <a:gd name="connsiteY3" fmla="*/ 1417320 h 1417320"/>
                <a:gd name="connsiteX4" fmla="*/ 21812 w 2262092"/>
                <a:gd name="connsiteY4" fmla="*/ 1399032 h 1417320"/>
                <a:gd name="connsiteX0" fmla="*/ 2762 w 2262092"/>
                <a:gd name="connsiteY0" fmla="*/ 1399032 h 1417320"/>
                <a:gd name="connsiteX1" fmla="*/ 0 w 2262092"/>
                <a:gd name="connsiteY1" fmla="*/ 694944 h 1417320"/>
                <a:gd name="connsiteX2" fmla="*/ 753332 w 2262092"/>
                <a:gd name="connsiteY2" fmla="*/ 0 h 1417320"/>
                <a:gd name="connsiteX3" fmla="*/ 2262092 w 2262092"/>
                <a:gd name="connsiteY3" fmla="*/ 1417320 h 1417320"/>
                <a:gd name="connsiteX4" fmla="*/ 2762 w 2262092"/>
                <a:gd name="connsiteY4" fmla="*/ 1399032 h 141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62092" h="1417320">
                  <a:moveTo>
                    <a:pt x="2762" y="1399032"/>
                  </a:moveTo>
                  <a:cubicBezTo>
                    <a:pt x="1841" y="1164336"/>
                    <a:pt x="921" y="929640"/>
                    <a:pt x="0" y="694944"/>
                  </a:cubicBezTo>
                  <a:lnTo>
                    <a:pt x="753332" y="0"/>
                  </a:lnTo>
                  <a:lnTo>
                    <a:pt x="2262092" y="1417320"/>
                  </a:lnTo>
                  <a:lnTo>
                    <a:pt x="2762" y="1399032"/>
                  </a:lnTo>
                  <a:close/>
                </a:path>
              </a:pathLst>
            </a:custGeom>
            <a:gradFill>
              <a:gsLst>
                <a:gs pos="0">
                  <a:srgbClr val="66FFFF">
                    <a:alpha val="41000"/>
                  </a:srgbClr>
                </a:gs>
                <a:gs pos="100000">
                  <a:srgbClr val="66FFFF">
                    <a:alpha val="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63" name="자유형: 도형 62">
              <a:extLst>
                <a:ext uri="{FF2B5EF4-FFF2-40B4-BE49-F238E27FC236}">
                  <a16:creationId xmlns:a16="http://schemas.microsoft.com/office/drawing/2014/main" id="{042BF142-3614-427C-8A69-D2ECC855FB30}"/>
                </a:ext>
              </a:extLst>
            </p:cNvPr>
            <p:cNvSpPr/>
            <p:nvPr/>
          </p:nvSpPr>
          <p:spPr>
            <a:xfrm>
              <a:off x="1097280" y="4425696"/>
              <a:ext cx="3739896" cy="2112264"/>
            </a:xfrm>
            <a:custGeom>
              <a:avLst/>
              <a:gdLst>
                <a:gd name="connsiteX0" fmla="*/ 0 w 3739896"/>
                <a:gd name="connsiteY0" fmla="*/ 2112264 h 2112264"/>
                <a:gd name="connsiteX1" fmla="*/ 749808 w 3739896"/>
                <a:gd name="connsiteY1" fmla="*/ 1417320 h 2112264"/>
                <a:gd name="connsiteX2" fmla="*/ 1508760 w 3739896"/>
                <a:gd name="connsiteY2" fmla="*/ 722376 h 2112264"/>
                <a:gd name="connsiteX3" fmla="*/ 2258568 w 3739896"/>
                <a:gd name="connsiteY3" fmla="*/ 0 h 2112264"/>
                <a:gd name="connsiteX4" fmla="*/ 3017520 w 3739896"/>
                <a:gd name="connsiteY4" fmla="*/ 722376 h 2112264"/>
                <a:gd name="connsiteX5" fmla="*/ 3739896 w 3739896"/>
                <a:gd name="connsiteY5" fmla="*/ 1426464 h 2112264"/>
                <a:gd name="connsiteX6" fmla="*/ 3739896 w 3739896"/>
                <a:gd name="connsiteY6" fmla="*/ 2103120 h 2112264"/>
                <a:gd name="connsiteX7" fmla="*/ 0 w 3739896"/>
                <a:gd name="connsiteY7" fmla="*/ 2112264 h 2112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739896" h="2112264">
                  <a:moveTo>
                    <a:pt x="0" y="2112264"/>
                  </a:moveTo>
                  <a:lnTo>
                    <a:pt x="749808" y="1417320"/>
                  </a:lnTo>
                  <a:lnTo>
                    <a:pt x="1508760" y="722376"/>
                  </a:lnTo>
                  <a:lnTo>
                    <a:pt x="2258568" y="0"/>
                  </a:lnTo>
                  <a:lnTo>
                    <a:pt x="3017520" y="722376"/>
                  </a:lnTo>
                  <a:lnTo>
                    <a:pt x="3739896" y="1426464"/>
                  </a:lnTo>
                  <a:lnTo>
                    <a:pt x="3739896" y="2103120"/>
                  </a:lnTo>
                  <a:lnTo>
                    <a:pt x="0" y="2112264"/>
                  </a:lnTo>
                  <a:close/>
                </a:path>
              </a:pathLst>
            </a:custGeom>
            <a:gradFill>
              <a:gsLst>
                <a:gs pos="0">
                  <a:srgbClr val="66FFFF">
                    <a:alpha val="41000"/>
                  </a:srgbClr>
                </a:gs>
                <a:gs pos="100000">
                  <a:srgbClr val="66FFFF">
                    <a:alpha val="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64" name="자유형: 도형 63">
              <a:extLst>
                <a:ext uri="{FF2B5EF4-FFF2-40B4-BE49-F238E27FC236}">
                  <a16:creationId xmlns:a16="http://schemas.microsoft.com/office/drawing/2014/main" id="{0F16DAA9-0382-4FF1-BF15-8B7862189CE7}"/>
                </a:ext>
              </a:extLst>
            </p:cNvPr>
            <p:cNvSpPr/>
            <p:nvPr/>
          </p:nvSpPr>
          <p:spPr>
            <a:xfrm>
              <a:off x="363760" y="5153977"/>
              <a:ext cx="2997231" cy="1389984"/>
            </a:xfrm>
            <a:custGeom>
              <a:avLst/>
              <a:gdLst>
                <a:gd name="connsiteX0" fmla="*/ 0 w 2990088"/>
                <a:gd name="connsiteY0" fmla="*/ 1399032 h 1444752"/>
                <a:gd name="connsiteX1" fmla="*/ 1517904 w 2990088"/>
                <a:gd name="connsiteY1" fmla="*/ 0 h 1444752"/>
                <a:gd name="connsiteX2" fmla="*/ 2990088 w 2990088"/>
                <a:gd name="connsiteY2" fmla="*/ 1444752 h 1444752"/>
                <a:gd name="connsiteX3" fmla="*/ 0 w 2990088"/>
                <a:gd name="connsiteY3" fmla="*/ 1399032 h 1444752"/>
                <a:gd name="connsiteX0" fmla="*/ 0 w 2990088"/>
                <a:gd name="connsiteY0" fmla="*/ 1365695 h 1411415"/>
                <a:gd name="connsiteX1" fmla="*/ 1503617 w 2990088"/>
                <a:gd name="connsiteY1" fmla="*/ 0 h 1411415"/>
                <a:gd name="connsiteX2" fmla="*/ 2990088 w 2990088"/>
                <a:gd name="connsiteY2" fmla="*/ 1411415 h 1411415"/>
                <a:gd name="connsiteX3" fmla="*/ 0 w 2990088"/>
                <a:gd name="connsiteY3" fmla="*/ 1365695 h 1411415"/>
                <a:gd name="connsiteX0" fmla="*/ 0 w 2982944"/>
                <a:gd name="connsiteY0" fmla="*/ 1389508 h 1411415"/>
                <a:gd name="connsiteX1" fmla="*/ 1496473 w 2982944"/>
                <a:gd name="connsiteY1" fmla="*/ 0 h 1411415"/>
                <a:gd name="connsiteX2" fmla="*/ 2982944 w 2982944"/>
                <a:gd name="connsiteY2" fmla="*/ 1411415 h 1411415"/>
                <a:gd name="connsiteX3" fmla="*/ 0 w 2982944"/>
                <a:gd name="connsiteY3" fmla="*/ 1389508 h 1411415"/>
                <a:gd name="connsiteX0" fmla="*/ 0 w 2997231"/>
                <a:gd name="connsiteY0" fmla="*/ 1389508 h 1389984"/>
                <a:gd name="connsiteX1" fmla="*/ 1496473 w 2997231"/>
                <a:gd name="connsiteY1" fmla="*/ 0 h 1389984"/>
                <a:gd name="connsiteX2" fmla="*/ 2997231 w 2997231"/>
                <a:gd name="connsiteY2" fmla="*/ 1389984 h 1389984"/>
                <a:gd name="connsiteX3" fmla="*/ 0 w 2997231"/>
                <a:gd name="connsiteY3" fmla="*/ 1389508 h 1389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97231" h="1389984">
                  <a:moveTo>
                    <a:pt x="0" y="1389508"/>
                  </a:moveTo>
                  <a:lnTo>
                    <a:pt x="1496473" y="0"/>
                  </a:lnTo>
                  <a:lnTo>
                    <a:pt x="2997231" y="1389984"/>
                  </a:lnTo>
                  <a:lnTo>
                    <a:pt x="0" y="1389508"/>
                  </a:lnTo>
                  <a:close/>
                </a:path>
              </a:pathLst>
            </a:custGeom>
            <a:gradFill>
              <a:gsLst>
                <a:gs pos="0">
                  <a:srgbClr val="66FFFF">
                    <a:alpha val="41000"/>
                  </a:srgbClr>
                </a:gs>
                <a:gs pos="100000">
                  <a:srgbClr val="66FFFF">
                    <a:alpha val="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65" name="자유형: 도형 64">
              <a:extLst>
                <a:ext uri="{FF2B5EF4-FFF2-40B4-BE49-F238E27FC236}">
                  <a16:creationId xmlns:a16="http://schemas.microsoft.com/office/drawing/2014/main" id="{D323E324-A78F-46D5-918F-50D84ED6C641}"/>
                </a:ext>
              </a:extLst>
            </p:cNvPr>
            <p:cNvSpPr/>
            <p:nvPr/>
          </p:nvSpPr>
          <p:spPr>
            <a:xfrm>
              <a:off x="2595124" y="5832830"/>
              <a:ext cx="1499387" cy="724474"/>
            </a:xfrm>
            <a:custGeom>
              <a:avLst/>
              <a:gdLst>
                <a:gd name="connsiteX0" fmla="*/ 0 w 2990088"/>
                <a:gd name="connsiteY0" fmla="*/ 1399032 h 1444752"/>
                <a:gd name="connsiteX1" fmla="*/ 1517904 w 2990088"/>
                <a:gd name="connsiteY1" fmla="*/ 0 h 1444752"/>
                <a:gd name="connsiteX2" fmla="*/ 2990088 w 2990088"/>
                <a:gd name="connsiteY2" fmla="*/ 1444752 h 1444752"/>
                <a:gd name="connsiteX3" fmla="*/ 0 w 2990088"/>
                <a:gd name="connsiteY3" fmla="*/ 1399032 h 1444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90088" h="1444752">
                  <a:moveTo>
                    <a:pt x="0" y="1399032"/>
                  </a:moveTo>
                  <a:lnTo>
                    <a:pt x="1517904" y="0"/>
                  </a:lnTo>
                  <a:lnTo>
                    <a:pt x="2990088" y="1444752"/>
                  </a:lnTo>
                  <a:lnTo>
                    <a:pt x="0" y="1399032"/>
                  </a:lnTo>
                  <a:close/>
                </a:path>
              </a:pathLst>
            </a:custGeom>
            <a:gradFill>
              <a:gsLst>
                <a:gs pos="0">
                  <a:srgbClr val="66FFFF">
                    <a:alpha val="41000"/>
                  </a:srgbClr>
                </a:gs>
                <a:gs pos="100000">
                  <a:srgbClr val="66FFFF">
                    <a:alpha val="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</p:grpSp>
      <p:sp>
        <p:nvSpPr>
          <p:cNvPr id="69" name="타원 68">
            <a:extLst>
              <a:ext uri="{FF2B5EF4-FFF2-40B4-BE49-F238E27FC236}">
                <a16:creationId xmlns:a16="http://schemas.microsoft.com/office/drawing/2014/main" id="{08C90F95-48B7-4B07-9B5C-47278389F460}"/>
              </a:ext>
            </a:extLst>
          </p:cNvPr>
          <p:cNvSpPr/>
          <p:nvPr/>
        </p:nvSpPr>
        <p:spPr>
          <a:xfrm>
            <a:off x="3307842" y="4408239"/>
            <a:ext cx="94527" cy="94527"/>
          </a:xfrm>
          <a:prstGeom prst="ellipse">
            <a:avLst/>
          </a:prstGeom>
          <a:solidFill>
            <a:srgbClr val="66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solidFill>
                <a:prstClr val="white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37D9E3-CFB0-B4D3-392E-EB0BB59875EF}"/>
              </a:ext>
            </a:extLst>
          </p:cNvPr>
          <p:cNvSpPr txBox="1"/>
          <p:nvPr/>
        </p:nvSpPr>
        <p:spPr>
          <a:xfrm>
            <a:off x="5286104" y="1284424"/>
            <a:ext cx="610339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5400" dirty="0"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파이썬</a:t>
            </a:r>
            <a:endParaRPr lang="en-US" altLang="ko-KR" sz="5400" dirty="0"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/>
            <a:r>
              <a:rPr lang="ko-KR" altLang="en-US" sz="540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중급</a:t>
            </a:r>
            <a:r>
              <a:rPr lang="ko-KR" altLang="en-US" sz="5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과정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CD5073-5AFE-3DAE-DF88-DF3DFA677969}"/>
              </a:ext>
            </a:extLst>
          </p:cNvPr>
          <p:cNvSpPr txBox="1"/>
          <p:nvPr/>
        </p:nvSpPr>
        <p:spPr>
          <a:xfrm>
            <a:off x="5286104" y="3428999"/>
            <a:ext cx="610339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2026 MY PAUL SCHOOL </a:t>
            </a:r>
          </a:p>
          <a:p>
            <a:pPr algn="ctr"/>
            <a:r>
              <a:rPr lang="en-US" altLang="ko-KR" sz="18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PYTHON </a:t>
            </a:r>
            <a:r>
              <a:rPr lang="en-US" altLang="ko-KR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INTERMEDIATE</a:t>
            </a:r>
            <a:r>
              <a:rPr lang="en-US" altLang="ko-KR" sz="18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 C</a:t>
            </a:r>
            <a:r>
              <a:rPr lang="en-US" altLang="ko-KR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LASS</a:t>
            </a:r>
            <a:endParaRPr lang="en-US" altLang="ko-KR" sz="1800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  <a:p>
            <a:pPr algn="ctr"/>
            <a:r>
              <a:rPr lang="en-US" altLang="ko-KR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CHOI JAE SEONG</a:t>
            </a:r>
            <a:endParaRPr lang="en-US" altLang="ko-KR" sz="1800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40526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C71D9-5D5B-1D70-3612-604BA9D32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각 삼각형 24">
            <a:extLst>
              <a:ext uri="{FF2B5EF4-FFF2-40B4-BE49-F238E27FC236}">
                <a16:creationId xmlns:a16="http://schemas.microsoft.com/office/drawing/2014/main" id="{217DC374-27E3-D978-D509-A4E1B5FA0C80}"/>
              </a:ext>
            </a:extLst>
          </p:cNvPr>
          <p:cNvSpPr/>
          <p:nvPr/>
        </p:nvSpPr>
        <p:spPr>
          <a:xfrm>
            <a:off x="-1" y="6077527"/>
            <a:ext cx="760522" cy="780473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F438A32-A4AB-2204-407F-582E90B35324}"/>
              </a:ext>
            </a:extLst>
          </p:cNvPr>
          <p:cNvSpPr/>
          <p:nvPr/>
        </p:nvSpPr>
        <p:spPr>
          <a:xfrm>
            <a:off x="391357" y="210845"/>
            <a:ext cx="11409286" cy="6436310"/>
          </a:xfrm>
          <a:prstGeom prst="roundRect">
            <a:avLst>
              <a:gd name="adj" fmla="val 10046"/>
            </a:avLst>
          </a:prstGeom>
          <a:solidFill>
            <a:srgbClr val="9DD1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0462866-598C-CEC2-5E3C-67D499D5FF3E}"/>
              </a:ext>
            </a:extLst>
          </p:cNvPr>
          <p:cNvSpPr/>
          <p:nvPr/>
        </p:nvSpPr>
        <p:spPr>
          <a:xfrm>
            <a:off x="537839" y="326254"/>
            <a:ext cx="11116322" cy="6205491"/>
          </a:xfrm>
          <a:prstGeom prst="roundRect">
            <a:avLst>
              <a:gd name="adj" fmla="val 91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EF8E63-C84A-6D4F-D11B-0CECCCD55676}"/>
              </a:ext>
            </a:extLst>
          </p:cNvPr>
          <p:cNvSpPr txBox="1"/>
          <p:nvPr/>
        </p:nvSpPr>
        <p:spPr>
          <a:xfrm>
            <a:off x="4001565" y="2305614"/>
            <a:ext cx="41888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solidFill>
                  <a:schemeClr val="accent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00</a:t>
            </a:r>
            <a:endParaRPr lang="ko-KR" altLang="en-US" sz="4000" dirty="0">
              <a:solidFill>
                <a:schemeClr val="accent2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EF0BF2-2762-D27D-88B8-AF4A9D318FCC}"/>
              </a:ext>
            </a:extLst>
          </p:cNvPr>
          <p:cNvSpPr txBox="1"/>
          <p:nvPr/>
        </p:nvSpPr>
        <p:spPr>
          <a:xfrm>
            <a:off x="2607771" y="3013500"/>
            <a:ext cx="69764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8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코딩 실습</a:t>
            </a:r>
          </a:p>
        </p:txBody>
      </p:sp>
    </p:spTree>
    <p:extLst>
      <p:ext uri="{BB962C8B-B14F-4D97-AF65-F5344CB8AC3E}">
        <p14:creationId xmlns:p14="http://schemas.microsoft.com/office/powerpoint/2010/main" val="1121640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CF051-8A73-6655-D73A-B093DE68C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16AE8F37-7387-8104-E92F-51730C99550C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62470C0-3211-6D8A-9770-CFEEEB5A7C61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A5795E-6308-E803-BEAC-DD3CEC9A48FC}"/>
              </a:ext>
            </a:extLst>
          </p:cNvPr>
          <p:cNvSpPr txBox="1"/>
          <p:nvPr/>
        </p:nvSpPr>
        <p:spPr>
          <a:xfrm>
            <a:off x="1247539" y="331593"/>
            <a:ext cx="4483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실습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6EEDBB-D6F1-FFC6-0BE2-EDEBEA382887}"/>
              </a:ext>
            </a:extLst>
          </p:cNvPr>
          <p:cNvSpPr txBox="1"/>
          <p:nvPr/>
        </p:nvSpPr>
        <p:spPr>
          <a:xfrm>
            <a:off x="943358" y="1170429"/>
            <a:ext cx="6380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Problem 7.1. </a:t>
            </a:r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쇼핑 리스트 관리 및 합계 계산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B5B8ACB4-01EF-6B01-89C5-E0A574B26D6D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7FD257E9-FE5B-5DB1-0BFE-46ECDB0226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B51610C-90D1-27A4-0DC6-1E81F88CE864}"/>
              </a:ext>
            </a:extLst>
          </p:cNvPr>
          <p:cNvSpPr txBox="1"/>
          <p:nvPr/>
        </p:nvSpPr>
        <p:spPr>
          <a:xfrm>
            <a:off x="838500" y="1633928"/>
            <a:ext cx="89535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과일의 가격이 </a:t>
            </a:r>
            <a:r>
              <a:rPr lang="it-IT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shopping_list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에 주어져 있다</a:t>
            </a:r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24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0" name="모서리가 둥근 직사각형 10">
            <a:extLst>
              <a:ext uri="{FF2B5EF4-FFF2-40B4-BE49-F238E27FC236}">
                <a16:creationId xmlns:a16="http://schemas.microsoft.com/office/drawing/2014/main" id="{F7821101-A362-E743-35C5-C9FA3D802BF4}"/>
              </a:ext>
            </a:extLst>
          </p:cNvPr>
          <p:cNvSpPr/>
          <p:nvPr/>
        </p:nvSpPr>
        <p:spPr>
          <a:xfrm>
            <a:off x="1720158" y="2295655"/>
            <a:ext cx="8753383" cy="1477355"/>
          </a:xfrm>
          <a:prstGeom prst="roundRect">
            <a:avLst>
              <a:gd name="adj" fmla="val 7827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 err="1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shopping_list</a:t>
            </a:r>
            <a:r>
              <a:rPr lang="en-US" altLang="ko-KR" sz="2400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 = {'</a:t>
            </a:r>
            <a:r>
              <a:rPr lang="ko-KR" altLang="en-US" sz="2400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사과</a:t>
            </a:r>
            <a:r>
              <a:rPr lang="en-US" altLang="ko-KR" sz="2400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': 1200, '</a:t>
            </a:r>
            <a:r>
              <a:rPr lang="ko-KR" altLang="en-US" sz="2400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바나나</a:t>
            </a:r>
            <a:r>
              <a:rPr lang="en-US" altLang="ko-KR" sz="2400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': 2500, '</a:t>
            </a:r>
            <a:r>
              <a:rPr lang="ko-KR" altLang="en-US" sz="2400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귤</a:t>
            </a:r>
            <a:r>
              <a:rPr lang="en-US" altLang="ko-KR" sz="2400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': 800, '</a:t>
            </a:r>
            <a:r>
              <a:rPr lang="ko-KR" altLang="en-US" sz="2400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수박</a:t>
            </a:r>
            <a:r>
              <a:rPr lang="en-US" altLang="ko-KR" sz="2400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': 15000}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AE7100-3910-5EB6-9E1A-82B9640F0609}"/>
              </a:ext>
            </a:extLst>
          </p:cNvPr>
          <p:cNvSpPr txBox="1"/>
          <p:nvPr/>
        </p:nvSpPr>
        <p:spPr>
          <a:xfrm>
            <a:off x="838500" y="3984048"/>
            <a:ext cx="109244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400" dirty="0">
                <a:highlight>
                  <a:srgbClr val="FFFF00"/>
                </a:highlight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모든 과일 가격의 총합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을 계산하여 출력하는 </a:t>
            </a:r>
            <a:r>
              <a:rPr lang="en-US" altLang="ko-KR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calculate_total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()</a:t>
            </a:r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함수를 만들어보자</a:t>
            </a:r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24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" name="모서리가 둥근 직사각형 10">
            <a:extLst>
              <a:ext uri="{FF2B5EF4-FFF2-40B4-BE49-F238E27FC236}">
                <a16:creationId xmlns:a16="http://schemas.microsoft.com/office/drawing/2014/main" id="{6DFFE107-113B-A401-7309-A09681ED469E}"/>
              </a:ext>
            </a:extLst>
          </p:cNvPr>
          <p:cNvSpPr/>
          <p:nvPr/>
        </p:nvSpPr>
        <p:spPr>
          <a:xfrm>
            <a:off x="1720158" y="4656751"/>
            <a:ext cx="8753383" cy="1366274"/>
          </a:xfrm>
          <a:prstGeom prst="roundRect">
            <a:avLst>
              <a:gd name="adj" fmla="val 7827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b="1" dirty="0" err="1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calculate_total</a:t>
            </a:r>
            <a:r>
              <a:rPr lang="en-US" altLang="ko-KR" sz="2400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(</a:t>
            </a:r>
            <a:r>
              <a:rPr lang="en-US" altLang="ko-KR" sz="2400" dirty="0" err="1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shopping_list</a:t>
            </a:r>
            <a:r>
              <a:rPr lang="en-US" altLang="ko-KR" sz="2400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)</a:t>
            </a:r>
          </a:p>
          <a:p>
            <a:endParaRPr lang="en-US" altLang="ko-KR" sz="2400" dirty="0">
              <a:solidFill>
                <a:schemeClr val="tx1"/>
              </a:solidFill>
              <a:latin typeface="Consolas" pitchFamily="49" charset="0"/>
              <a:ea typeface="함초롬돋움" pitchFamily="50" charset="-127"/>
              <a:cs typeface="함초롬돋움" pitchFamily="50" charset="-127"/>
            </a:endParaRPr>
          </a:p>
          <a:p>
            <a:r>
              <a:rPr lang="en-US" altLang="ko-KR" sz="2400" dirty="0">
                <a:solidFill>
                  <a:schemeClr val="accent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19500</a:t>
            </a:r>
          </a:p>
        </p:txBody>
      </p:sp>
    </p:spTree>
    <p:extLst>
      <p:ext uri="{BB962C8B-B14F-4D97-AF65-F5344CB8AC3E}">
        <p14:creationId xmlns:p14="http://schemas.microsoft.com/office/powerpoint/2010/main" val="3728797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71674-F53B-5666-5110-58B36A611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22B6003E-807D-217F-DFA6-102107BC9869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F3EDE26-C4CD-5BA0-BE57-107677F4E106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D65D6F-FFE2-731E-D443-8C6966174717}"/>
              </a:ext>
            </a:extLst>
          </p:cNvPr>
          <p:cNvSpPr txBox="1"/>
          <p:nvPr/>
        </p:nvSpPr>
        <p:spPr>
          <a:xfrm>
            <a:off x="1247539" y="331593"/>
            <a:ext cx="4483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실습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518F5B-10E4-0E0A-2F5E-AA02CAD42FD2}"/>
              </a:ext>
            </a:extLst>
          </p:cNvPr>
          <p:cNvSpPr txBox="1"/>
          <p:nvPr/>
        </p:nvSpPr>
        <p:spPr>
          <a:xfrm>
            <a:off x="943358" y="1170429"/>
            <a:ext cx="6380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Problem 7.2. </a:t>
            </a:r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카페 메뉴 가격 계산기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EC9204A4-198D-69A3-23DF-11AF594B46FD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A8943214-E758-E727-28A2-B3CEFE9E0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41CB021-0359-6E4A-BB27-BA45BBF1B195}"/>
              </a:ext>
            </a:extLst>
          </p:cNvPr>
          <p:cNvSpPr txBox="1"/>
          <p:nvPr/>
        </p:nvSpPr>
        <p:spPr>
          <a:xfrm>
            <a:off x="838499" y="1633928"/>
            <a:ext cx="105870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작은 카페의 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메뉴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와 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가격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정보를 </a:t>
            </a:r>
            <a:r>
              <a:rPr lang="ko-KR" altLang="en-US" sz="24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딕셔너리로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가지고 있다</a:t>
            </a:r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 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손님이 주문한 메뉴 리스트를 </a:t>
            </a:r>
            <a:r>
              <a:rPr lang="ko-KR" altLang="en-US" sz="24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입력받아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2400" dirty="0">
                <a:highlight>
                  <a:srgbClr val="FFFF00"/>
                </a:highlight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총 주문 금액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을 계산하고</a:t>
            </a:r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2400" dirty="0">
                <a:highlight>
                  <a:srgbClr val="FFFF00"/>
                </a:highlight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특정 금액 이상 구매 시 할인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을 적용하는 함수를 만들어보자</a:t>
            </a:r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24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69B263-2E7D-15F2-8764-C8AA1CAB518F}"/>
              </a:ext>
            </a:extLst>
          </p:cNvPr>
          <p:cNvSpPr txBox="1"/>
          <p:nvPr/>
        </p:nvSpPr>
        <p:spPr>
          <a:xfrm>
            <a:off x="838499" y="2939044"/>
            <a:ext cx="109244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함수</a:t>
            </a:r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it-IT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calculate_order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()</a:t>
            </a:r>
            <a:endParaRPr lang="ko-KR" altLang="en-US" sz="24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" name="모서리가 둥근 직사각형 10">
            <a:extLst>
              <a:ext uri="{FF2B5EF4-FFF2-40B4-BE49-F238E27FC236}">
                <a16:creationId xmlns:a16="http://schemas.microsoft.com/office/drawing/2014/main" id="{37105B1E-D51F-8A3E-48AE-3076AD0D8574}"/>
              </a:ext>
            </a:extLst>
          </p:cNvPr>
          <p:cNvSpPr/>
          <p:nvPr/>
        </p:nvSpPr>
        <p:spPr>
          <a:xfrm>
            <a:off x="1719308" y="4161250"/>
            <a:ext cx="8753383" cy="1366274"/>
          </a:xfrm>
          <a:prstGeom prst="roundRect">
            <a:avLst>
              <a:gd name="adj" fmla="val 7827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menu = {'</a:t>
            </a:r>
            <a:r>
              <a:rPr lang="ko-KR" altLang="en-US" sz="2400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커피</a:t>
            </a:r>
            <a:r>
              <a:rPr lang="en-US" altLang="ko-KR" sz="2400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': 3000, '</a:t>
            </a:r>
            <a:r>
              <a:rPr lang="ko-KR" altLang="en-US" sz="2400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라떼</a:t>
            </a:r>
            <a:r>
              <a:rPr lang="en-US" altLang="ko-KR" sz="2400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': 4000, '</a:t>
            </a:r>
            <a:r>
              <a:rPr lang="ko-KR" altLang="en-US" sz="2400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케이크</a:t>
            </a:r>
            <a:r>
              <a:rPr lang="en-US" altLang="ko-KR" sz="2400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': 5000}</a:t>
            </a:r>
          </a:p>
          <a:p>
            <a:r>
              <a:rPr lang="en-US" altLang="ko-KR" sz="2400" dirty="0" err="1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customer_order</a:t>
            </a:r>
            <a:r>
              <a:rPr lang="en-US" altLang="ko-KR" sz="2400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 = ['</a:t>
            </a:r>
            <a:r>
              <a:rPr lang="ko-KR" altLang="en-US" sz="2400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커피</a:t>
            </a:r>
            <a:r>
              <a:rPr lang="en-US" altLang="ko-KR" sz="2400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', '</a:t>
            </a:r>
            <a:r>
              <a:rPr lang="ko-KR" altLang="en-US" sz="2400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케이크</a:t>
            </a:r>
            <a:r>
              <a:rPr lang="en-US" altLang="ko-KR" sz="2400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', '</a:t>
            </a:r>
            <a:r>
              <a:rPr lang="ko-KR" altLang="en-US" sz="2400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라떼</a:t>
            </a:r>
            <a:r>
              <a:rPr lang="en-US" altLang="ko-KR" sz="2400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', '</a:t>
            </a:r>
            <a:r>
              <a:rPr lang="ko-KR" altLang="en-US" sz="2400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커피</a:t>
            </a:r>
            <a:r>
              <a:rPr lang="en-US" altLang="ko-KR" sz="2400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’]</a:t>
            </a:r>
          </a:p>
          <a:p>
            <a:r>
              <a:rPr lang="en-US" altLang="ko-KR" sz="2400" dirty="0" err="1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Calculate_order</a:t>
            </a:r>
            <a:r>
              <a:rPr lang="en-US" altLang="ko-KR" sz="2400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(</a:t>
            </a:r>
            <a:r>
              <a:rPr lang="en-US" altLang="ko-KR" sz="2400" dirty="0" err="1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customer_order</a:t>
            </a:r>
            <a:r>
              <a:rPr lang="en-US" altLang="ko-KR" sz="2400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)</a:t>
            </a:r>
          </a:p>
          <a:p>
            <a:r>
              <a:rPr lang="en-US" altLang="ko-KR" sz="2400" dirty="0">
                <a:solidFill>
                  <a:schemeClr val="accent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19500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F6C75D-D296-22E5-6C56-74D301BAFE95}"/>
              </a:ext>
            </a:extLst>
          </p:cNvPr>
          <p:cNvSpPr txBox="1"/>
          <p:nvPr/>
        </p:nvSpPr>
        <p:spPr>
          <a:xfrm>
            <a:off x="838499" y="3411391"/>
            <a:ext cx="109244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총액이 </a:t>
            </a:r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10,000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 이상이면 </a:t>
            </a:r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10% 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할인 적용</a:t>
            </a:r>
          </a:p>
        </p:txBody>
      </p:sp>
    </p:spTree>
    <p:extLst>
      <p:ext uri="{BB962C8B-B14F-4D97-AF65-F5344CB8AC3E}">
        <p14:creationId xmlns:p14="http://schemas.microsoft.com/office/powerpoint/2010/main" val="3316497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84E7C-5C37-98B8-49B3-EEB6E7CC6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B3704B10-ED4A-5D1A-5E6E-863CA85543B7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BA2798EF-EC49-905D-0943-5656606E0C5E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201473-6893-AC03-EE7B-9A742258C68A}"/>
              </a:ext>
            </a:extLst>
          </p:cNvPr>
          <p:cNvSpPr txBox="1"/>
          <p:nvPr/>
        </p:nvSpPr>
        <p:spPr>
          <a:xfrm>
            <a:off x="1247539" y="331593"/>
            <a:ext cx="4483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실습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C24E77-3F76-1D7C-5684-A671C5A2EF56}"/>
              </a:ext>
            </a:extLst>
          </p:cNvPr>
          <p:cNvSpPr txBox="1"/>
          <p:nvPr/>
        </p:nvSpPr>
        <p:spPr>
          <a:xfrm>
            <a:off x="943358" y="1170429"/>
            <a:ext cx="81029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Problem 7.3. </a:t>
            </a:r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재고 관리 및 주문 시스템 시뮬레이션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3531BB50-ED12-BA42-1E0A-BB594FB23C8A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268A3B47-06D9-8130-243A-73D3D209C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72CA1A7-B114-D6B4-F7B1-3AF35BE40E2E}"/>
              </a:ext>
            </a:extLst>
          </p:cNvPr>
          <p:cNvSpPr txBox="1"/>
          <p:nvPr/>
        </p:nvSpPr>
        <p:spPr>
          <a:xfrm>
            <a:off x="838499" y="1633928"/>
            <a:ext cx="105870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작은 카페의 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메뉴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와 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가격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정보를 </a:t>
            </a:r>
            <a:r>
              <a:rPr lang="ko-KR" altLang="en-US" sz="24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딕셔너리로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가지고 있다</a:t>
            </a:r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 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손님이 주문한 메뉴 리스트를 </a:t>
            </a:r>
            <a:r>
              <a:rPr lang="ko-KR" altLang="en-US" sz="24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입력받아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2400" dirty="0">
                <a:highlight>
                  <a:srgbClr val="FFFF00"/>
                </a:highlight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총 주문 금액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을 계산하고</a:t>
            </a:r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2400" dirty="0">
                <a:highlight>
                  <a:srgbClr val="FFFF00"/>
                </a:highlight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특정 금액 이상 구매 시 할인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을 적용하는 함수를 만들어보자</a:t>
            </a:r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24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2B95F8-B1DA-5DDD-B96B-FE30102C2C90}"/>
              </a:ext>
            </a:extLst>
          </p:cNvPr>
          <p:cNvSpPr txBox="1"/>
          <p:nvPr/>
        </p:nvSpPr>
        <p:spPr>
          <a:xfrm>
            <a:off x="838499" y="2939044"/>
            <a:ext cx="109244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함수</a:t>
            </a:r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it-IT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calculate_order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()</a:t>
            </a:r>
            <a:endParaRPr lang="ko-KR" altLang="en-US" sz="24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" name="모서리가 둥근 직사각형 10">
            <a:extLst>
              <a:ext uri="{FF2B5EF4-FFF2-40B4-BE49-F238E27FC236}">
                <a16:creationId xmlns:a16="http://schemas.microsoft.com/office/drawing/2014/main" id="{59AAA220-5A39-A6DE-0856-02FBC44B863B}"/>
              </a:ext>
            </a:extLst>
          </p:cNvPr>
          <p:cNvSpPr/>
          <p:nvPr/>
        </p:nvSpPr>
        <p:spPr>
          <a:xfrm>
            <a:off x="1719308" y="4161249"/>
            <a:ext cx="8753383" cy="2172919"/>
          </a:xfrm>
          <a:prstGeom prst="roundRect">
            <a:avLst>
              <a:gd name="adj" fmla="val 7827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menu = {'</a:t>
            </a:r>
            <a:r>
              <a:rPr lang="ko-KR" altLang="en-US" sz="2400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커피</a:t>
            </a:r>
            <a:r>
              <a:rPr lang="en-US" altLang="ko-KR" sz="2400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': 3000, '</a:t>
            </a:r>
            <a:r>
              <a:rPr lang="ko-KR" altLang="en-US" sz="2400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라떼</a:t>
            </a:r>
            <a:r>
              <a:rPr lang="en-US" altLang="ko-KR" sz="2400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': 4000, '</a:t>
            </a:r>
            <a:r>
              <a:rPr lang="ko-KR" altLang="en-US" sz="2400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케이크</a:t>
            </a:r>
            <a:r>
              <a:rPr lang="en-US" altLang="ko-KR" sz="2400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': 5000}</a:t>
            </a:r>
          </a:p>
          <a:p>
            <a:r>
              <a:rPr lang="en-US" altLang="ko-KR" sz="2400" dirty="0" err="1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customer_order</a:t>
            </a:r>
            <a:r>
              <a:rPr lang="en-US" altLang="ko-KR" sz="2400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 = ['</a:t>
            </a:r>
            <a:r>
              <a:rPr lang="ko-KR" altLang="en-US" sz="2400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커피</a:t>
            </a:r>
            <a:r>
              <a:rPr lang="en-US" altLang="ko-KR" sz="2400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', '</a:t>
            </a:r>
            <a:r>
              <a:rPr lang="ko-KR" altLang="en-US" sz="2400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케이크</a:t>
            </a:r>
            <a:r>
              <a:rPr lang="en-US" altLang="ko-KR" sz="2400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', '</a:t>
            </a:r>
            <a:r>
              <a:rPr lang="ko-KR" altLang="en-US" sz="2400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라떼</a:t>
            </a:r>
            <a:r>
              <a:rPr lang="en-US" altLang="ko-KR" sz="2400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', '</a:t>
            </a:r>
            <a:r>
              <a:rPr lang="ko-KR" altLang="en-US" sz="2400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커피</a:t>
            </a:r>
            <a:r>
              <a:rPr lang="en-US" altLang="ko-KR" sz="2400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']</a:t>
            </a:r>
          </a:p>
          <a:p>
            <a:endParaRPr lang="en-US" altLang="ko-KR" sz="2400" dirty="0">
              <a:solidFill>
                <a:schemeClr val="tx1"/>
              </a:solidFill>
              <a:latin typeface="Consolas" pitchFamily="49" charset="0"/>
              <a:ea typeface="함초롬돋움" pitchFamily="50" charset="-127"/>
              <a:cs typeface="함초롬돋움" pitchFamily="50" charset="-127"/>
            </a:endParaRPr>
          </a:p>
          <a:p>
            <a:r>
              <a:rPr lang="en-US" altLang="ko-KR" sz="2400" dirty="0" err="1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calculate_order</a:t>
            </a:r>
            <a:r>
              <a:rPr lang="en-US" altLang="ko-KR" sz="2400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(</a:t>
            </a:r>
            <a:r>
              <a:rPr lang="en-US" altLang="ko-KR" sz="2400" dirty="0" err="1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customer_order</a:t>
            </a:r>
            <a:r>
              <a:rPr lang="en-US" altLang="ko-KR" sz="2400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)</a:t>
            </a:r>
          </a:p>
          <a:p>
            <a:r>
              <a:rPr lang="en-US" altLang="ko-KR" sz="2400" dirty="0">
                <a:solidFill>
                  <a:schemeClr val="accent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13500.0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7A97A6-F1B0-20D6-80A5-192564767439}"/>
              </a:ext>
            </a:extLst>
          </p:cNvPr>
          <p:cNvSpPr txBox="1"/>
          <p:nvPr/>
        </p:nvSpPr>
        <p:spPr>
          <a:xfrm>
            <a:off x="838499" y="3411391"/>
            <a:ext cx="109244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총액이 </a:t>
            </a:r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10,000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 이상이면 </a:t>
            </a:r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10% 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할인 적용</a:t>
            </a:r>
          </a:p>
        </p:txBody>
      </p:sp>
    </p:spTree>
    <p:extLst>
      <p:ext uri="{BB962C8B-B14F-4D97-AF65-F5344CB8AC3E}">
        <p14:creationId xmlns:p14="http://schemas.microsoft.com/office/powerpoint/2010/main" val="4219201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7ADE3-5D05-68EC-022E-F9A1B0036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5FF294E7-EDFB-FC07-8359-5AC0DF6E1646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F80C019-5798-88A6-6634-7E24EADA1642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BEDE65-0219-912F-A5BF-FF9A7C5AD283}"/>
              </a:ext>
            </a:extLst>
          </p:cNvPr>
          <p:cNvSpPr txBox="1"/>
          <p:nvPr/>
        </p:nvSpPr>
        <p:spPr>
          <a:xfrm>
            <a:off x="1247539" y="331593"/>
            <a:ext cx="4483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실습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7B8B3A-3EED-4223-C1E4-A99C4D9744AC}"/>
              </a:ext>
            </a:extLst>
          </p:cNvPr>
          <p:cNvSpPr txBox="1"/>
          <p:nvPr/>
        </p:nvSpPr>
        <p:spPr>
          <a:xfrm>
            <a:off x="943358" y="1170429"/>
            <a:ext cx="81029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Problem 7.3. </a:t>
            </a:r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재고 관리 및 주문 시스템 시뮬레이션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A475E5E9-E4B7-7481-AC33-2B8D09F50CC4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1158A4E0-D328-36D0-7FF0-064EC6E272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2" name="모서리가 둥근 직사각형 10">
            <a:extLst>
              <a:ext uri="{FF2B5EF4-FFF2-40B4-BE49-F238E27FC236}">
                <a16:creationId xmlns:a16="http://schemas.microsoft.com/office/drawing/2014/main" id="{E1D3456F-8FA5-6F40-9B04-BC81D7ECEB74}"/>
              </a:ext>
            </a:extLst>
          </p:cNvPr>
          <p:cNvSpPr/>
          <p:nvPr/>
        </p:nvSpPr>
        <p:spPr>
          <a:xfrm>
            <a:off x="1781452" y="1810213"/>
            <a:ext cx="8753383" cy="1731978"/>
          </a:xfrm>
          <a:prstGeom prst="roundRect">
            <a:avLst>
              <a:gd name="adj" fmla="val 3726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 err="1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final_inventory</a:t>
            </a:r>
            <a:r>
              <a:rPr lang="en-US" altLang="ko-KR" sz="2400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 = </a:t>
            </a:r>
            <a:r>
              <a:rPr lang="en-US" altLang="ko-KR" sz="2400" dirty="0" err="1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process_orders</a:t>
            </a:r>
            <a:r>
              <a:rPr lang="en-US" altLang="ko-KR" sz="2400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(</a:t>
            </a:r>
            <a:r>
              <a:rPr lang="en-US" altLang="ko-KR" sz="2400" dirty="0" err="1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current_inventory</a:t>
            </a:r>
            <a:r>
              <a:rPr lang="en-US" altLang="ko-KR" sz="2400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, </a:t>
            </a:r>
            <a:r>
              <a:rPr lang="en-US" altLang="ko-KR" sz="2400" dirty="0" err="1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order_list</a:t>
            </a:r>
            <a:r>
              <a:rPr lang="en-US" altLang="ko-KR" sz="2400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)</a:t>
            </a:r>
          </a:p>
          <a:p>
            <a:r>
              <a:rPr lang="en-US" altLang="ko-KR" sz="2400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print("\n--- </a:t>
            </a:r>
            <a:r>
              <a:rPr lang="ko-KR" altLang="en-US" sz="2400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최종 재고 상태 </a:t>
            </a:r>
            <a:r>
              <a:rPr lang="en-US" altLang="ko-KR" sz="2400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---")</a:t>
            </a:r>
          </a:p>
          <a:p>
            <a:r>
              <a:rPr lang="en-US" altLang="ko-KR" sz="2400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print(</a:t>
            </a:r>
            <a:r>
              <a:rPr lang="en-US" altLang="ko-KR" sz="2400" dirty="0" err="1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final_inventory</a:t>
            </a:r>
            <a:r>
              <a:rPr lang="en-US" altLang="ko-KR" sz="2400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)</a:t>
            </a:r>
            <a:endParaRPr lang="en-US" altLang="ko-KR" sz="2400" dirty="0">
              <a:solidFill>
                <a:schemeClr val="accent1"/>
              </a:solidFill>
              <a:latin typeface="Consolas" pitchFamily="49" charset="0"/>
              <a:ea typeface="함초롬돋움" pitchFamily="50" charset="-127"/>
              <a:cs typeface="함초롬돋움" pitchFamily="50" charset="-127"/>
            </a:endParaRPr>
          </a:p>
        </p:txBody>
      </p:sp>
      <p:sp>
        <p:nvSpPr>
          <p:cNvPr id="5" name="모서리가 둥근 직사각형 10">
            <a:extLst>
              <a:ext uri="{FF2B5EF4-FFF2-40B4-BE49-F238E27FC236}">
                <a16:creationId xmlns:a16="http://schemas.microsoft.com/office/drawing/2014/main" id="{47D89263-7A79-DA93-FE4D-F9D0A9B985EF}"/>
              </a:ext>
            </a:extLst>
          </p:cNvPr>
          <p:cNvSpPr/>
          <p:nvPr/>
        </p:nvSpPr>
        <p:spPr>
          <a:xfrm>
            <a:off x="1781452" y="3720310"/>
            <a:ext cx="8753383" cy="2699484"/>
          </a:xfrm>
          <a:prstGeom prst="roundRect">
            <a:avLst>
              <a:gd name="adj" fmla="val 2894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400" dirty="0">
                <a:solidFill>
                  <a:schemeClr val="accent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주문 완료</a:t>
            </a:r>
            <a:r>
              <a:rPr lang="en-US" altLang="ko-KR" sz="2400" dirty="0">
                <a:solidFill>
                  <a:schemeClr val="accent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: </a:t>
            </a:r>
            <a:r>
              <a:rPr lang="ko-KR" altLang="en-US" sz="2400" dirty="0">
                <a:solidFill>
                  <a:schemeClr val="accent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사과 </a:t>
            </a:r>
            <a:r>
              <a:rPr lang="en-US" altLang="ko-KR" sz="2400" dirty="0">
                <a:solidFill>
                  <a:schemeClr val="accent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30</a:t>
            </a:r>
            <a:r>
              <a:rPr lang="ko-KR" altLang="en-US" sz="2400" dirty="0">
                <a:solidFill>
                  <a:schemeClr val="accent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개</a:t>
            </a:r>
            <a:r>
              <a:rPr lang="en-US" altLang="ko-KR" sz="2400" dirty="0">
                <a:solidFill>
                  <a:schemeClr val="accent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. </a:t>
            </a:r>
            <a:r>
              <a:rPr lang="ko-KR" altLang="en-US" sz="2400" dirty="0">
                <a:solidFill>
                  <a:schemeClr val="accent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남은 재고</a:t>
            </a:r>
            <a:r>
              <a:rPr lang="en-US" altLang="ko-KR" sz="2400" dirty="0">
                <a:solidFill>
                  <a:schemeClr val="accent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: 70</a:t>
            </a:r>
            <a:r>
              <a:rPr lang="ko-KR" altLang="en-US" sz="2400" dirty="0">
                <a:solidFill>
                  <a:schemeClr val="accent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개</a:t>
            </a:r>
          </a:p>
          <a:p>
            <a:r>
              <a:rPr lang="en-US" altLang="ko-KR" sz="2400" dirty="0">
                <a:solidFill>
                  <a:schemeClr val="accent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!!! </a:t>
            </a:r>
            <a:r>
              <a:rPr lang="ko-KR" altLang="en-US" sz="2400" dirty="0">
                <a:solidFill>
                  <a:schemeClr val="accent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재고 부족</a:t>
            </a:r>
            <a:r>
              <a:rPr lang="en-US" altLang="ko-KR" sz="2400" dirty="0">
                <a:solidFill>
                  <a:schemeClr val="accent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: </a:t>
            </a:r>
            <a:r>
              <a:rPr lang="ko-KR" altLang="en-US" sz="2400" dirty="0">
                <a:solidFill>
                  <a:schemeClr val="accent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바나나 주문 </a:t>
            </a:r>
            <a:r>
              <a:rPr lang="en-US" altLang="ko-KR" sz="2400" dirty="0">
                <a:solidFill>
                  <a:schemeClr val="accent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60</a:t>
            </a:r>
            <a:r>
              <a:rPr lang="ko-KR" altLang="en-US" sz="2400" dirty="0">
                <a:solidFill>
                  <a:schemeClr val="accent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개 </a:t>
            </a:r>
            <a:r>
              <a:rPr lang="en-US" altLang="ko-KR" sz="2400" dirty="0">
                <a:solidFill>
                  <a:schemeClr val="accent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(</a:t>
            </a:r>
            <a:r>
              <a:rPr lang="ko-KR" altLang="en-US" sz="2400" dirty="0">
                <a:solidFill>
                  <a:schemeClr val="accent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현재 재고</a:t>
            </a:r>
            <a:r>
              <a:rPr lang="en-US" altLang="ko-KR" sz="2400" dirty="0">
                <a:solidFill>
                  <a:schemeClr val="accent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: 50</a:t>
            </a:r>
            <a:r>
              <a:rPr lang="ko-KR" altLang="en-US" sz="2400" dirty="0">
                <a:solidFill>
                  <a:schemeClr val="accent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개</a:t>
            </a:r>
            <a:r>
              <a:rPr lang="en-US" altLang="ko-KR" sz="2400" dirty="0">
                <a:solidFill>
                  <a:schemeClr val="accent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)</a:t>
            </a:r>
          </a:p>
          <a:p>
            <a:r>
              <a:rPr lang="ko-KR" altLang="en-US" sz="2400" dirty="0">
                <a:solidFill>
                  <a:schemeClr val="accent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주문 완료</a:t>
            </a:r>
            <a:r>
              <a:rPr lang="en-US" altLang="ko-KR" sz="2400" dirty="0">
                <a:solidFill>
                  <a:schemeClr val="accent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: </a:t>
            </a:r>
            <a:r>
              <a:rPr lang="ko-KR" altLang="en-US" sz="2400" dirty="0">
                <a:solidFill>
                  <a:schemeClr val="accent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귤 </a:t>
            </a:r>
            <a:r>
              <a:rPr lang="en-US" altLang="ko-KR" sz="2400" dirty="0">
                <a:solidFill>
                  <a:schemeClr val="accent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150</a:t>
            </a:r>
            <a:r>
              <a:rPr lang="ko-KR" altLang="en-US" sz="2400" dirty="0">
                <a:solidFill>
                  <a:schemeClr val="accent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개</a:t>
            </a:r>
            <a:r>
              <a:rPr lang="en-US" altLang="ko-KR" sz="2400" dirty="0">
                <a:solidFill>
                  <a:schemeClr val="accent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. </a:t>
            </a:r>
            <a:r>
              <a:rPr lang="ko-KR" altLang="en-US" sz="2400" dirty="0">
                <a:solidFill>
                  <a:schemeClr val="accent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남은 재고</a:t>
            </a:r>
            <a:r>
              <a:rPr lang="en-US" altLang="ko-KR" sz="2400" dirty="0">
                <a:solidFill>
                  <a:schemeClr val="accent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: 50</a:t>
            </a:r>
            <a:r>
              <a:rPr lang="ko-KR" altLang="en-US" sz="2400" dirty="0">
                <a:solidFill>
                  <a:schemeClr val="accent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개</a:t>
            </a:r>
          </a:p>
          <a:p>
            <a:r>
              <a:rPr lang="en-US" altLang="ko-KR" sz="2400" dirty="0">
                <a:solidFill>
                  <a:schemeClr val="accent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!!! </a:t>
            </a:r>
            <a:r>
              <a:rPr lang="ko-KR" altLang="en-US" sz="2400" dirty="0">
                <a:solidFill>
                  <a:schemeClr val="accent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오류</a:t>
            </a:r>
            <a:r>
              <a:rPr lang="en-US" altLang="ko-KR" sz="2400" dirty="0">
                <a:solidFill>
                  <a:schemeClr val="accent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: </a:t>
            </a:r>
            <a:r>
              <a:rPr lang="ko-KR" altLang="en-US" sz="2400" dirty="0">
                <a:solidFill>
                  <a:schemeClr val="accent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수박 제품이 재고 목록에 없습니다</a:t>
            </a:r>
            <a:r>
              <a:rPr lang="en-US" altLang="ko-KR" sz="2400" dirty="0">
                <a:solidFill>
                  <a:schemeClr val="accent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.</a:t>
            </a:r>
          </a:p>
          <a:p>
            <a:endParaRPr lang="en-US" altLang="ko-KR" sz="2400" dirty="0">
              <a:solidFill>
                <a:schemeClr val="accent1"/>
              </a:solidFill>
              <a:latin typeface="Consolas" pitchFamily="49" charset="0"/>
              <a:ea typeface="함초롬돋움" pitchFamily="50" charset="-127"/>
              <a:cs typeface="함초롬돋움" pitchFamily="50" charset="-127"/>
            </a:endParaRPr>
          </a:p>
          <a:p>
            <a:r>
              <a:rPr lang="en-US" altLang="ko-KR" sz="2400" dirty="0">
                <a:solidFill>
                  <a:schemeClr val="accent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--- </a:t>
            </a:r>
            <a:r>
              <a:rPr lang="ko-KR" altLang="en-US" sz="2400" dirty="0">
                <a:solidFill>
                  <a:schemeClr val="accent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최종 재고 상태 </a:t>
            </a:r>
            <a:r>
              <a:rPr lang="en-US" altLang="ko-KR" sz="2400" dirty="0">
                <a:solidFill>
                  <a:schemeClr val="accent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---</a:t>
            </a:r>
          </a:p>
          <a:p>
            <a:r>
              <a:rPr lang="en-US" altLang="ko-KR" sz="2400" dirty="0">
                <a:solidFill>
                  <a:schemeClr val="accent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{'</a:t>
            </a:r>
            <a:r>
              <a:rPr lang="ko-KR" altLang="en-US" sz="2400" dirty="0">
                <a:solidFill>
                  <a:schemeClr val="accent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사과</a:t>
            </a:r>
            <a:r>
              <a:rPr lang="en-US" altLang="ko-KR" sz="2400" dirty="0">
                <a:solidFill>
                  <a:schemeClr val="accent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': 70, '</a:t>
            </a:r>
            <a:r>
              <a:rPr lang="ko-KR" altLang="en-US" sz="2400" dirty="0">
                <a:solidFill>
                  <a:schemeClr val="accent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바나나</a:t>
            </a:r>
            <a:r>
              <a:rPr lang="en-US" altLang="ko-KR" sz="2400" dirty="0">
                <a:solidFill>
                  <a:schemeClr val="accent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': 50, '</a:t>
            </a:r>
            <a:r>
              <a:rPr lang="ko-KR" altLang="en-US" sz="2400" dirty="0">
                <a:solidFill>
                  <a:schemeClr val="accent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귤</a:t>
            </a:r>
            <a:r>
              <a:rPr lang="en-US" altLang="ko-KR" sz="2400" dirty="0">
                <a:solidFill>
                  <a:schemeClr val="accent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': 50}</a:t>
            </a:r>
          </a:p>
        </p:txBody>
      </p:sp>
    </p:spTree>
    <p:extLst>
      <p:ext uri="{BB962C8B-B14F-4D97-AF65-F5344CB8AC3E}">
        <p14:creationId xmlns:p14="http://schemas.microsoft.com/office/powerpoint/2010/main" val="3688920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03C6D-F954-6ABE-3854-7EFE16010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E8779250-C77C-365F-6F5E-3C5DE76D4DB2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08D214F-0387-F44F-432E-CF9CC23C9F4C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21A418-E5CD-E5BE-8F91-1EB77D0A2064}"/>
              </a:ext>
            </a:extLst>
          </p:cNvPr>
          <p:cNvSpPr txBox="1"/>
          <p:nvPr/>
        </p:nvSpPr>
        <p:spPr>
          <a:xfrm>
            <a:off x="1247539" y="331593"/>
            <a:ext cx="4483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실습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C2D203-47E5-31D5-7343-0C9B1B5BD56D}"/>
              </a:ext>
            </a:extLst>
          </p:cNvPr>
          <p:cNvSpPr txBox="1"/>
          <p:nvPr/>
        </p:nvSpPr>
        <p:spPr>
          <a:xfrm>
            <a:off x="943358" y="1170429"/>
            <a:ext cx="81029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Problem 7.4. </a:t>
            </a:r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도서관 재고 및 대출 관리 시스템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320039F4-B9C1-9350-559D-EC37CEC24B29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973CE5CD-CDDA-F084-153A-84BC9EFF10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5861DF5-9A8F-A9A1-4DA4-4F5316AA253E}"/>
              </a:ext>
            </a:extLst>
          </p:cNvPr>
          <p:cNvSpPr txBox="1"/>
          <p:nvPr/>
        </p:nvSpPr>
        <p:spPr>
          <a:xfrm>
            <a:off x="838499" y="1633928"/>
            <a:ext cx="105870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도서관의 보유 도서 목록</a:t>
            </a:r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books)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과 현재 대출 상태</a:t>
            </a:r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en-US" altLang="ko-KR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borrow_status</a:t>
            </a:r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를 두 개의 독립된 </a:t>
            </a:r>
            <a:r>
              <a:rPr lang="ko-KR" altLang="en-US" sz="24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딕셔너리로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관리하고 있다</a:t>
            </a:r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24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" name="모서리가 둥근 직사각형 10">
            <a:extLst>
              <a:ext uri="{FF2B5EF4-FFF2-40B4-BE49-F238E27FC236}">
                <a16:creationId xmlns:a16="http://schemas.microsoft.com/office/drawing/2014/main" id="{25CC08DC-F0ED-8366-4DD7-572B78C16B6A}"/>
              </a:ext>
            </a:extLst>
          </p:cNvPr>
          <p:cNvSpPr/>
          <p:nvPr/>
        </p:nvSpPr>
        <p:spPr>
          <a:xfrm>
            <a:off x="1719308" y="3088198"/>
            <a:ext cx="8753383" cy="3320248"/>
          </a:xfrm>
          <a:prstGeom prst="roundRect">
            <a:avLst>
              <a:gd name="adj" fmla="val 2728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books = {</a:t>
            </a:r>
          </a:p>
          <a:p>
            <a:r>
              <a:rPr lang="en-US" altLang="ko-KR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    '</a:t>
            </a:r>
            <a:r>
              <a:rPr lang="ko-KR" altLang="en-US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파이썬 중급</a:t>
            </a:r>
            <a:r>
              <a:rPr lang="en-US" altLang="ko-KR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': '</a:t>
            </a:r>
            <a:r>
              <a:rPr lang="ko-KR" altLang="en-US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이수영</a:t>
            </a:r>
            <a:r>
              <a:rPr lang="en-US" altLang="ko-KR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',</a:t>
            </a:r>
          </a:p>
          <a:p>
            <a:r>
              <a:rPr lang="en-US" altLang="ko-KR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    '</a:t>
            </a:r>
            <a:r>
              <a:rPr lang="ko-KR" altLang="en-US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데이터 과학</a:t>
            </a:r>
            <a:r>
              <a:rPr lang="en-US" altLang="ko-KR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': '</a:t>
            </a:r>
            <a:r>
              <a:rPr lang="ko-KR" altLang="en-US" dirty="0" err="1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주사랑</a:t>
            </a:r>
            <a:r>
              <a:rPr lang="en-US" altLang="ko-KR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.',</a:t>
            </a:r>
          </a:p>
          <a:p>
            <a:r>
              <a:rPr lang="en-US" altLang="ko-KR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    '</a:t>
            </a:r>
            <a:r>
              <a:rPr lang="ko-KR" altLang="en-US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맛있는 피자</a:t>
            </a:r>
            <a:r>
              <a:rPr lang="en-US" altLang="ko-KR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': '</a:t>
            </a:r>
            <a:r>
              <a:rPr lang="ko-KR" altLang="en-US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박수진</a:t>
            </a:r>
            <a:r>
              <a:rPr lang="en-US" altLang="ko-KR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'</a:t>
            </a:r>
          </a:p>
          <a:p>
            <a:r>
              <a:rPr lang="en-US" altLang="ko-KR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}</a:t>
            </a:r>
          </a:p>
          <a:p>
            <a:endParaRPr lang="en-US" altLang="ko-KR" dirty="0">
              <a:solidFill>
                <a:schemeClr val="tx1"/>
              </a:solidFill>
              <a:latin typeface="Consolas" pitchFamily="49" charset="0"/>
              <a:ea typeface="함초롬돋움" pitchFamily="50" charset="-127"/>
              <a:cs typeface="함초롬돋움" pitchFamily="50" charset="-127"/>
            </a:endParaRPr>
          </a:p>
          <a:p>
            <a:r>
              <a:rPr lang="en-US" altLang="ko-KR" dirty="0" err="1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borrow_status</a:t>
            </a:r>
            <a:r>
              <a:rPr lang="en-US" altLang="ko-KR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 = {</a:t>
            </a:r>
          </a:p>
          <a:p>
            <a:r>
              <a:rPr lang="en-US" altLang="ko-KR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    '</a:t>
            </a:r>
            <a:r>
              <a:rPr lang="ko-KR" altLang="en-US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파이썬 중급</a:t>
            </a:r>
            <a:r>
              <a:rPr lang="en-US" altLang="ko-KR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': None,</a:t>
            </a:r>
          </a:p>
          <a:p>
            <a:r>
              <a:rPr lang="en-US" altLang="ko-KR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    '</a:t>
            </a:r>
            <a:r>
              <a:rPr lang="ko-KR" altLang="en-US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데이터 과학</a:t>
            </a:r>
            <a:r>
              <a:rPr lang="en-US" altLang="ko-KR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': 'user101',</a:t>
            </a:r>
          </a:p>
          <a:p>
            <a:r>
              <a:rPr lang="en-US" altLang="ko-KR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    '</a:t>
            </a:r>
            <a:r>
              <a:rPr lang="ko-KR" altLang="en-US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맛있는 피자</a:t>
            </a:r>
            <a:r>
              <a:rPr lang="en-US" altLang="ko-KR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': None</a:t>
            </a:r>
          </a:p>
          <a:p>
            <a:r>
              <a:rPr lang="en-US" altLang="ko-KR" dirty="0">
                <a:solidFill>
                  <a:schemeClr val="tx1"/>
                </a:solidFill>
                <a:latin typeface="Consolas" pitchFamily="49" charset="0"/>
                <a:ea typeface="함초롬돋움" pitchFamily="50" charset="-127"/>
                <a:cs typeface="함초롬돋움" pitchFamily="50" charset="-127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3F70DB-19DB-475E-BDDC-59ADEF8C2182}"/>
              </a:ext>
            </a:extLst>
          </p:cNvPr>
          <p:cNvSpPr txBox="1"/>
          <p:nvPr/>
        </p:nvSpPr>
        <p:spPr>
          <a:xfrm>
            <a:off x="791496" y="2545729"/>
            <a:ext cx="105870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대출</a:t>
            </a:r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반납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기능의 도서관 프로그램을 만들어보자</a:t>
            </a:r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24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2472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E448D-FA5E-72C7-C607-3239C59BF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25D5EB9D-279F-0F43-C63A-BEF78F4FBBD8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9FD4CEC-A96F-6C6E-78A4-60000CCBE8A2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0370FF-7A69-24B8-0FC4-8ED3B7F0950C}"/>
              </a:ext>
            </a:extLst>
          </p:cNvPr>
          <p:cNvSpPr txBox="1"/>
          <p:nvPr/>
        </p:nvSpPr>
        <p:spPr>
          <a:xfrm>
            <a:off x="1247539" y="331593"/>
            <a:ext cx="4483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실습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F08063-FD7B-1564-3B55-1489E7C8FA46}"/>
              </a:ext>
            </a:extLst>
          </p:cNvPr>
          <p:cNvSpPr txBox="1"/>
          <p:nvPr/>
        </p:nvSpPr>
        <p:spPr>
          <a:xfrm>
            <a:off x="943358" y="1170429"/>
            <a:ext cx="81029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Problem 7.4. </a:t>
            </a:r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도서관 재고 및 대출 관리 시스템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A8FE164C-6CF2-3DBF-5CEC-D280142BCC52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6E6A6D45-A24B-D7D1-01D4-1F8915D40C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A454305-5217-A1A9-832B-07171A81A2FB}"/>
              </a:ext>
            </a:extLst>
          </p:cNvPr>
          <p:cNvSpPr txBox="1"/>
          <p:nvPr/>
        </p:nvSpPr>
        <p:spPr>
          <a:xfrm>
            <a:off x="702719" y="1711065"/>
            <a:ext cx="1058706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en-US" altLang="ko-KR" sz="2400" dirty="0"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library()</a:t>
            </a:r>
          </a:p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 "</a:t>
            </a:r>
            <a:r>
              <a:rPr lang="ko-KR" altLang="en-US" sz="2000" dirty="0">
                <a:solidFill>
                  <a:schemeClr val="accent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대출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"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을 입력하면 </a:t>
            </a:r>
            <a:r>
              <a:rPr lang="en-US" altLang="ko-KR" sz="2000" dirty="0" err="1">
                <a:solidFill>
                  <a:schemeClr val="accent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borrow_book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함수가 호출됩니다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 "</a:t>
            </a:r>
            <a:r>
              <a:rPr lang="ko-KR" altLang="en-US" sz="2000" dirty="0">
                <a:solidFill>
                  <a:srgbClr val="00B05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반납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"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을 입력하면 </a:t>
            </a:r>
            <a:r>
              <a:rPr lang="en-US" altLang="ko-KR" sz="2000" dirty="0" err="1">
                <a:solidFill>
                  <a:srgbClr val="00B05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return_book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함수가 호출됩니다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F4D392-2282-1376-89A7-3695014CE6E9}"/>
              </a:ext>
            </a:extLst>
          </p:cNvPr>
          <p:cNvSpPr txBox="1"/>
          <p:nvPr/>
        </p:nvSpPr>
        <p:spPr>
          <a:xfrm>
            <a:off x="702719" y="2936497"/>
            <a:ext cx="10587061" cy="15395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en-US" altLang="ko-KR" sz="2400" dirty="0" err="1"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borrow_book</a:t>
            </a:r>
            <a:r>
              <a:rPr lang="en-US" altLang="ko-KR" sz="2400" dirty="0"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()</a:t>
            </a:r>
          </a:p>
          <a:p>
            <a:pPr>
              <a:lnSpc>
                <a:spcPct val="120000"/>
              </a:lnSpc>
            </a:pP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책이 존재하는지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그리고 현재 대출 가능한 상태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(None)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인지 확인</a:t>
            </a:r>
            <a:endParaRPr lang="en-US" altLang="ko-KR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가능하다면 </a:t>
            </a:r>
            <a:r>
              <a:rPr lang="en-US" altLang="ko-KR" sz="20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borrow_status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20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딕셔너리의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해당 도서 상태를 </a:t>
            </a:r>
            <a:r>
              <a:rPr lang="en-US" altLang="ko-KR" sz="20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user_id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로 업데이트</a:t>
            </a:r>
            <a:endParaRPr lang="en-US" altLang="ko-KR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상태 변경 성공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/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실패 메시지를 반환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44FB7B-AE77-E630-40A1-D8F5907660D6}"/>
              </a:ext>
            </a:extLst>
          </p:cNvPr>
          <p:cNvSpPr txBox="1"/>
          <p:nvPr/>
        </p:nvSpPr>
        <p:spPr>
          <a:xfrm>
            <a:off x="639634" y="4716760"/>
            <a:ext cx="10587061" cy="15395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en-US" altLang="ko-KR" sz="2400" dirty="0" err="1"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return_book</a:t>
            </a:r>
            <a:r>
              <a:rPr lang="en-US" altLang="ko-KR" sz="2400" dirty="0"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()</a:t>
            </a:r>
          </a:p>
          <a:p>
            <a:pPr>
              <a:lnSpc>
                <a:spcPct val="120000"/>
              </a:lnSpc>
            </a:pP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책이 존재하는지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그리고 해당 </a:t>
            </a:r>
            <a:r>
              <a:rPr lang="en-US" altLang="ko-KR" sz="20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user_id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 빌려간 책이 맞는지 확인</a:t>
            </a:r>
            <a:endParaRPr lang="en-US" altLang="ko-KR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 </a:t>
            </a:r>
            <a:r>
              <a:rPr lang="ko-KR" altLang="en-US" sz="20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맞다면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20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borrow_status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20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딕셔너리의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해당 도서 상태를 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None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으로 변경</a:t>
            </a:r>
            <a:endParaRPr lang="en-US" altLang="ko-KR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상태 변경 성공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/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실패 메시지를 반환</a:t>
            </a:r>
          </a:p>
        </p:txBody>
      </p:sp>
    </p:spTree>
    <p:extLst>
      <p:ext uri="{BB962C8B-B14F-4D97-AF65-F5344CB8AC3E}">
        <p14:creationId xmlns:p14="http://schemas.microsoft.com/office/powerpoint/2010/main" val="29727946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BB841-ED34-B319-C618-2CD963212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AC826904-C48F-5E0D-1353-676AA07B0C26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5B7ED854-8D18-EA89-088E-BBCC3FD9AAA9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BD7628-544D-B39F-143F-03625C0F6CB4}"/>
              </a:ext>
            </a:extLst>
          </p:cNvPr>
          <p:cNvSpPr txBox="1"/>
          <p:nvPr/>
        </p:nvSpPr>
        <p:spPr>
          <a:xfrm>
            <a:off x="1247539" y="331593"/>
            <a:ext cx="4483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실습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D70D8B-44DD-C531-7885-7FB9BB8F989A}"/>
              </a:ext>
            </a:extLst>
          </p:cNvPr>
          <p:cNvSpPr txBox="1"/>
          <p:nvPr/>
        </p:nvSpPr>
        <p:spPr>
          <a:xfrm>
            <a:off x="943358" y="1170429"/>
            <a:ext cx="81029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Problem 7.4. </a:t>
            </a:r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도서관 재고 및 대출 관리 시스템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2425F80C-4B2D-0277-B26B-DE4EE0D26EDA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1D58187-EC2B-CB04-918F-BF658A818D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2" name="모서리가 둥근 직사각형 10">
            <a:extLst>
              <a:ext uri="{FF2B5EF4-FFF2-40B4-BE49-F238E27FC236}">
                <a16:creationId xmlns:a16="http://schemas.microsoft.com/office/drawing/2014/main" id="{18C77920-894B-7EC2-7B93-8B2D855CF7F3}"/>
              </a:ext>
            </a:extLst>
          </p:cNvPr>
          <p:cNvSpPr/>
          <p:nvPr/>
        </p:nvSpPr>
        <p:spPr>
          <a:xfrm>
            <a:off x="1719307" y="2275787"/>
            <a:ext cx="8753383" cy="542769"/>
          </a:xfrm>
          <a:prstGeom prst="roundRect">
            <a:avLst>
              <a:gd name="adj" fmla="val 2728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display_status</a:t>
            </a:r>
            <a:r>
              <a:rPr lang="en-US" altLang="ko-KR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()</a:t>
            </a:r>
          </a:p>
        </p:txBody>
      </p:sp>
      <p:sp>
        <p:nvSpPr>
          <p:cNvPr id="4" name="모서리가 둥근 직사각형 10">
            <a:extLst>
              <a:ext uri="{FF2B5EF4-FFF2-40B4-BE49-F238E27FC236}">
                <a16:creationId xmlns:a16="http://schemas.microsoft.com/office/drawing/2014/main" id="{AAB44AF8-35FE-907C-28A9-B9E1F5BC9A8F}"/>
              </a:ext>
            </a:extLst>
          </p:cNvPr>
          <p:cNvSpPr/>
          <p:nvPr/>
        </p:nvSpPr>
        <p:spPr>
          <a:xfrm>
            <a:off x="1719307" y="3196983"/>
            <a:ext cx="8753383" cy="2200640"/>
          </a:xfrm>
          <a:prstGeom prst="roundRect">
            <a:avLst>
              <a:gd name="adj" fmla="val 2728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--- </a:t>
            </a:r>
            <a:r>
              <a:rPr lang="ko-KR" altLang="en-US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현재 도서관 대출 상태 </a:t>
            </a:r>
            <a:r>
              <a:rPr lang="en-US" altLang="ko-KR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---</a:t>
            </a:r>
          </a:p>
          <a:p>
            <a:r>
              <a:rPr lang="ko-KR" altLang="en-US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제목                      </a:t>
            </a:r>
            <a:r>
              <a:rPr lang="en-US" altLang="ko-KR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| </a:t>
            </a:r>
            <a:r>
              <a:rPr lang="ko-KR" altLang="en-US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저자          </a:t>
            </a:r>
            <a:r>
              <a:rPr lang="en-US" altLang="ko-KR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| </a:t>
            </a:r>
            <a:r>
              <a:rPr lang="ko-KR" altLang="en-US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대출자 </a:t>
            </a:r>
            <a:r>
              <a:rPr lang="en-US" altLang="ko-KR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ID (None:</a:t>
            </a:r>
            <a:r>
              <a:rPr lang="ko-KR" altLang="en-US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가능</a:t>
            </a:r>
            <a:r>
              <a:rPr lang="en-US" altLang="ko-KR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)         </a:t>
            </a:r>
          </a:p>
          <a:p>
            <a:r>
              <a:rPr lang="en-US" altLang="ko-KR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------------------------------------------------------------</a:t>
            </a:r>
          </a:p>
          <a:p>
            <a:r>
              <a:rPr lang="ko-KR" altLang="en-US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파이썬 중급               </a:t>
            </a:r>
            <a:r>
              <a:rPr lang="en-US" altLang="ko-KR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| </a:t>
            </a:r>
            <a:r>
              <a:rPr lang="ko-KR" altLang="en-US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이수영        </a:t>
            </a:r>
            <a:r>
              <a:rPr lang="en-US" altLang="ko-KR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| None</a:t>
            </a:r>
          </a:p>
          <a:p>
            <a:r>
              <a:rPr lang="ko-KR" altLang="en-US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데이터 과학               </a:t>
            </a:r>
            <a:r>
              <a:rPr lang="en-US" altLang="ko-KR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| </a:t>
            </a:r>
            <a:r>
              <a:rPr lang="ko-KR" altLang="en-US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주사랑</a:t>
            </a:r>
            <a:r>
              <a:rPr lang="en-US" altLang="ko-KR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.       | user101</a:t>
            </a:r>
          </a:p>
          <a:p>
            <a:r>
              <a:rPr lang="ko-KR" altLang="en-US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맛있는 피자               </a:t>
            </a:r>
            <a:r>
              <a:rPr lang="en-US" altLang="ko-KR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| </a:t>
            </a:r>
            <a:r>
              <a:rPr lang="ko-KR" altLang="en-US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박수진        </a:t>
            </a:r>
            <a:r>
              <a:rPr lang="en-US" altLang="ko-KR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| None</a:t>
            </a:r>
          </a:p>
          <a:p>
            <a:r>
              <a:rPr lang="en-US" altLang="ko-KR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------------------------------------------------------------</a:t>
            </a:r>
          </a:p>
        </p:txBody>
      </p:sp>
    </p:spTree>
    <p:extLst>
      <p:ext uri="{BB962C8B-B14F-4D97-AF65-F5344CB8AC3E}">
        <p14:creationId xmlns:p14="http://schemas.microsoft.com/office/powerpoint/2010/main" val="3511085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8EB5A-B7A0-6BD5-31EC-7B5A627D6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CBDFCEFA-2705-6550-A73F-47CBCED3A723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14DD94A-C102-C337-2E8B-31EBF6E272EF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90E525-04FB-4D9E-04AA-6F796A6728CC}"/>
              </a:ext>
            </a:extLst>
          </p:cNvPr>
          <p:cNvSpPr txBox="1"/>
          <p:nvPr/>
        </p:nvSpPr>
        <p:spPr>
          <a:xfrm>
            <a:off x="1247539" y="331593"/>
            <a:ext cx="4483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실습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96D3A8D-3C09-8F5D-4E57-AE9399D2D8FB}"/>
              </a:ext>
            </a:extLst>
          </p:cNvPr>
          <p:cNvSpPr txBox="1"/>
          <p:nvPr/>
        </p:nvSpPr>
        <p:spPr>
          <a:xfrm>
            <a:off x="943358" y="1170429"/>
            <a:ext cx="81029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Problem 7.4. </a:t>
            </a:r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도서관 재고 및 대출 관리 시스템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B24F4FF5-6743-E669-F553-2BB46E543FF7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086CC8B5-E661-4C9F-46EE-D1D2E6E14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2" name="모서리가 둥근 직사각형 10">
            <a:extLst>
              <a:ext uri="{FF2B5EF4-FFF2-40B4-BE49-F238E27FC236}">
                <a16:creationId xmlns:a16="http://schemas.microsoft.com/office/drawing/2014/main" id="{9F86200E-2393-73E6-3875-3A6FE5AF36D5}"/>
              </a:ext>
            </a:extLst>
          </p:cNvPr>
          <p:cNvSpPr/>
          <p:nvPr/>
        </p:nvSpPr>
        <p:spPr>
          <a:xfrm>
            <a:off x="1719308" y="1980141"/>
            <a:ext cx="8753383" cy="2061784"/>
          </a:xfrm>
          <a:prstGeom prst="roundRect">
            <a:avLst>
              <a:gd name="adj" fmla="val 2728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print("\n--- </a:t>
            </a:r>
            <a:r>
              <a:rPr lang="ko-KR" altLang="en-US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대출 테스트 </a:t>
            </a:r>
            <a:r>
              <a:rPr lang="en-US" altLang="ko-KR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---")</a:t>
            </a:r>
          </a:p>
          <a:p>
            <a:r>
              <a:rPr lang="en-US" altLang="ko-KR" dirty="0">
                <a:solidFill>
                  <a:srgbClr val="569E85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# </a:t>
            </a:r>
            <a:r>
              <a:rPr lang="ko-KR" altLang="en-US" dirty="0">
                <a:solidFill>
                  <a:srgbClr val="569E85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테스트 </a:t>
            </a:r>
            <a:r>
              <a:rPr lang="en-US" altLang="ko-KR" dirty="0">
                <a:solidFill>
                  <a:srgbClr val="569E85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1: </a:t>
            </a:r>
            <a:r>
              <a:rPr lang="ko-KR" altLang="en-US" dirty="0">
                <a:solidFill>
                  <a:srgbClr val="569E85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대출 가능한 책 빌리기</a:t>
            </a:r>
          </a:p>
          <a:p>
            <a:r>
              <a:rPr lang="en-US" altLang="ko-KR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print(</a:t>
            </a:r>
            <a:r>
              <a:rPr lang="en-US" altLang="ko-KR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borrow_book</a:t>
            </a:r>
            <a:r>
              <a:rPr lang="en-US" altLang="ko-KR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('</a:t>
            </a:r>
            <a:r>
              <a:rPr lang="ko-KR" altLang="en-US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파이썬 중급</a:t>
            </a:r>
            <a:r>
              <a:rPr lang="en-US" altLang="ko-KR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', 'user202')) </a:t>
            </a:r>
          </a:p>
          <a:p>
            <a:r>
              <a:rPr lang="en-US" altLang="ko-KR" dirty="0">
                <a:solidFill>
                  <a:srgbClr val="569E85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# </a:t>
            </a:r>
            <a:r>
              <a:rPr lang="ko-KR" altLang="en-US" dirty="0">
                <a:solidFill>
                  <a:srgbClr val="569E85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테스트 </a:t>
            </a:r>
            <a:r>
              <a:rPr lang="en-US" altLang="ko-KR" dirty="0">
                <a:solidFill>
                  <a:srgbClr val="569E85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2: </a:t>
            </a:r>
            <a:r>
              <a:rPr lang="ko-KR" altLang="en-US" dirty="0">
                <a:solidFill>
                  <a:srgbClr val="569E85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이미 대출 중인 책 빌리기</a:t>
            </a:r>
          </a:p>
          <a:p>
            <a:r>
              <a:rPr lang="en-US" altLang="ko-KR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print(</a:t>
            </a:r>
            <a:r>
              <a:rPr lang="en-US" altLang="ko-KR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borrow_book</a:t>
            </a:r>
            <a:r>
              <a:rPr lang="en-US" altLang="ko-KR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('</a:t>
            </a:r>
            <a:r>
              <a:rPr lang="ko-KR" altLang="en-US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데이터 과학</a:t>
            </a:r>
            <a:r>
              <a:rPr lang="en-US" altLang="ko-KR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', 'user303'))     </a:t>
            </a:r>
          </a:p>
          <a:p>
            <a:r>
              <a:rPr lang="en-US" altLang="ko-KR" dirty="0">
                <a:solidFill>
                  <a:srgbClr val="569E85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# </a:t>
            </a:r>
            <a:r>
              <a:rPr lang="ko-KR" altLang="en-US" dirty="0">
                <a:solidFill>
                  <a:srgbClr val="569E85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테스트 </a:t>
            </a:r>
            <a:r>
              <a:rPr lang="en-US" altLang="ko-KR" dirty="0">
                <a:solidFill>
                  <a:srgbClr val="569E85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3: </a:t>
            </a:r>
            <a:r>
              <a:rPr lang="ko-KR" altLang="en-US" dirty="0">
                <a:solidFill>
                  <a:srgbClr val="569E85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없는 책 빌리기</a:t>
            </a:r>
          </a:p>
          <a:p>
            <a:r>
              <a:rPr lang="en-US" altLang="ko-KR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print(</a:t>
            </a:r>
            <a:r>
              <a:rPr lang="en-US" altLang="ko-KR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borrow_book</a:t>
            </a:r>
            <a:r>
              <a:rPr lang="en-US" altLang="ko-KR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('</a:t>
            </a:r>
            <a:r>
              <a:rPr lang="ko-KR" altLang="en-US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파이썬 고급</a:t>
            </a:r>
            <a:r>
              <a:rPr lang="en-US" altLang="ko-KR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', 'user202'))</a:t>
            </a:r>
          </a:p>
        </p:txBody>
      </p:sp>
      <p:sp>
        <p:nvSpPr>
          <p:cNvPr id="4" name="모서리가 둥근 직사각형 10">
            <a:extLst>
              <a:ext uri="{FF2B5EF4-FFF2-40B4-BE49-F238E27FC236}">
                <a16:creationId xmlns:a16="http://schemas.microsoft.com/office/drawing/2014/main" id="{DC5DFF35-7CF0-25EE-1BB6-6868C2A5E660}"/>
              </a:ext>
            </a:extLst>
          </p:cNvPr>
          <p:cNvSpPr/>
          <p:nvPr/>
        </p:nvSpPr>
        <p:spPr>
          <a:xfrm>
            <a:off x="1719308" y="4364031"/>
            <a:ext cx="8753383" cy="1430072"/>
          </a:xfrm>
          <a:prstGeom prst="roundRect">
            <a:avLst>
              <a:gd name="adj" fmla="val 2728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--- </a:t>
            </a:r>
            <a:r>
              <a:rPr lang="ko-KR" altLang="en-US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대출 테스트 </a:t>
            </a:r>
            <a:r>
              <a:rPr lang="en-US" altLang="ko-KR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---</a:t>
            </a:r>
          </a:p>
          <a:p>
            <a:r>
              <a:rPr lang="ko-KR" altLang="en-US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성공</a:t>
            </a:r>
            <a:r>
              <a:rPr lang="en-US" altLang="ko-KR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: '</a:t>
            </a:r>
            <a:r>
              <a:rPr lang="ko-KR" altLang="en-US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파이썬 중급</a:t>
            </a:r>
            <a:r>
              <a:rPr lang="en-US" altLang="ko-KR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'</a:t>
            </a:r>
            <a:r>
              <a:rPr lang="ko-KR" altLang="en-US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이</a:t>
            </a:r>
            <a:r>
              <a:rPr lang="en-US" altLang="ko-KR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</a:t>
            </a:r>
            <a:r>
              <a:rPr lang="ko-KR" altLang="en-US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가</a:t>
            </a:r>
            <a:r>
              <a:rPr lang="en-US" altLang="ko-KR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) 'user202'</a:t>
            </a:r>
            <a:r>
              <a:rPr lang="ko-KR" altLang="en-US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에게 대출되었습니다</a:t>
            </a:r>
            <a:r>
              <a:rPr lang="en-US" altLang="ko-KR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.</a:t>
            </a:r>
          </a:p>
          <a:p>
            <a:r>
              <a:rPr lang="ko-KR" altLang="en-US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실패</a:t>
            </a:r>
            <a:r>
              <a:rPr lang="en-US" altLang="ko-KR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: '</a:t>
            </a:r>
            <a:r>
              <a:rPr lang="ko-KR" altLang="en-US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데이터 과학</a:t>
            </a:r>
            <a:r>
              <a:rPr lang="en-US" altLang="ko-KR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' </a:t>
            </a:r>
            <a:r>
              <a:rPr lang="ko-KR" altLang="en-US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도서는 현재 </a:t>
            </a:r>
            <a:r>
              <a:rPr lang="en-US" altLang="ko-KR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'user101'</a:t>
            </a:r>
            <a:r>
              <a:rPr lang="ko-KR" altLang="en-US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가 대출 중입니다</a:t>
            </a:r>
            <a:r>
              <a:rPr lang="en-US" altLang="ko-KR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.</a:t>
            </a:r>
          </a:p>
          <a:p>
            <a:r>
              <a:rPr lang="ko-KR" altLang="en-US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실패</a:t>
            </a:r>
            <a:r>
              <a:rPr lang="en-US" altLang="ko-KR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: '</a:t>
            </a:r>
            <a:r>
              <a:rPr lang="ko-KR" altLang="en-US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파이썬 고급</a:t>
            </a:r>
            <a:r>
              <a:rPr lang="en-US" altLang="ko-KR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' </a:t>
            </a:r>
            <a:r>
              <a:rPr lang="ko-KR" altLang="en-US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도서는 존재하지 않습니다</a:t>
            </a:r>
            <a:r>
              <a:rPr lang="en-US" altLang="ko-KR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718145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07413-B0BB-9453-22F1-2E453C6D8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396D6F14-F7D0-2F9D-5C63-B21C65FC0768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B4950D9-E61C-D5EC-4FFE-F75AC6BA5D15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7677EB-5180-140B-577F-C69CFA26D225}"/>
              </a:ext>
            </a:extLst>
          </p:cNvPr>
          <p:cNvSpPr txBox="1"/>
          <p:nvPr/>
        </p:nvSpPr>
        <p:spPr>
          <a:xfrm>
            <a:off x="1247539" y="331593"/>
            <a:ext cx="4483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실습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0C7056-FB70-1A60-4882-648273C05F5E}"/>
              </a:ext>
            </a:extLst>
          </p:cNvPr>
          <p:cNvSpPr txBox="1"/>
          <p:nvPr/>
        </p:nvSpPr>
        <p:spPr>
          <a:xfrm>
            <a:off x="943358" y="1170429"/>
            <a:ext cx="81029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Problem 7.4. </a:t>
            </a:r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도서관 재고 및 대출 관리 시스템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87A4B281-FC8B-33EA-3189-98BDBC2DF148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A5163E28-8DBF-A7C3-6417-7949C11051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2" name="모서리가 둥근 직사각형 10">
            <a:extLst>
              <a:ext uri="{FF2B5EF4-FFF2-40B4-BE49-F238E27FC236}">
                <a16:creationId xmlns:a16="http://schemas.microsoft.com/office/drawing/2014/main" id="{6D24FC74-BF62-1893-F792-70140DED47DE}"/>
              </a:ext>
            </a:extLst>
          </p:cNvPr>
          <p:cNvSpPr/>
          <p:nvPr/>
        </p:nvSpPr>
        <p:spPr>
          <a:xfrm>
            <a:off x="1719308" y="1980141"/>
            <a:ext cx="8753383" cy="2061784"/>
          </a:xfrm>
          <a:prstGeom prst="roundRect">
            <a:avLst>
              <a:gd name="adj" fmla="val 2728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print("\n--- </a:t>
            </a:r>
            <a:r>
              <a:rPr lang="ko-KR" altLang="en-US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반납 테스트 </a:t>
            </a:r>
            <a:r>
              <a:rPr lang="en-US" altLang="ko-KR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---")</a:t>
            </a:r>
          </a:p>
          <a:p>
            <a:r>
              <a:rPr lang="en-US" altLang="ko-KR" dirty="0">
                <a:solidFill>
                  <a:srgbClr val="569E85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# </a:t>
            </a:r>
            <a:r>
              <a:rPr lang="ko-KR" altLang="en-US" dirty="0">
                <a:solidFill>
                  <a:srgbClr val="569E85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테스트 </a:t>
            </a:r>
            <a:r>
              <a:rPr lang="en-US" altLang="ko-KR" dirty="0">
                <a:solidFill>
                  <a:srgbClr val="569E85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4: </a:t>
            </a:r>
            <a:r>
              <a:rPr lang="ko-KR" altLang="en-US" dirty="0">
                <a:solidFill>
                  <a:srgbClr val="569E85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본인이 빌린 책 반납하기</a:t>
            </a:r>
          </a:p>
          <a:p>
            <a:r>
              <a:rPr lang="en-US" altLang="ko-KR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print(</a:t>
            </a:r>
            <a:r>
              <a:rPr lang="en-US" altLang="ko-KR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return_book</a:t>
            </a:r>
            <a:r>
              <a:rPr lang="en-US" altLang="ko-KR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('</a:t>
            </a:r>
            <a:r>
              <a:rPr lang="ko-KR" altLang="en-US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파이썬 중급</a:t>
            </a:r>
            <a:r>
              <a:rPr lang="en-US" altLang="ko-KR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', 'user202'))</a:t>
            </a:r>
          </a:p>
          <a:p>
            <a:r>
              <a:rPr lang="en-US" altLang="ko-KR" dirty="0">
                <a:solidFill>
                  <a:srgbClr val="569E85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# </a:t>
            </a:r>
            <a:r>
              <a:rPr lang="ko-KR" altLang="en-US" dirty="0">
                <a:solidFill>
                  <a:srgbClr val="569E85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테스트 </a:t>
            </a:r>
            <a:r>
              <a:rPr lang="en-US" altLang="ko-KR" dirty="0">
                <a:solidFill>
                  <a:srgbClr val="569E85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5: </a:t>
            </a:r>
            <a:r>
              <a:rPr lang="ko-KR" altLang="en-US" dirty="0">
                <a:solidFill>
                  <a:srgbClr val="569E85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다른 사람이 빌린 책 반납 시도</a:t>
            </a:r>
          </a:p>
          <a:p>
            <a:r>
              <a:rPr lang="en-US" altLang="ko-KR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print(</a:t>
            </a:r>
            <a:r>
              <a:rPr lang="en-US" altLang="ko-KR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return_book</a:t>
            </a:r>
            <a:r>
              <a:rPr lang="en-US" altLang="ko-KR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('</a:t>
            </a:r>
            <a:r>
              <a:rPr lang="ko-KR" altLang="en-US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데이터 과학</a:t>
            </a:r>
            <a:r>
              <a:rPr lang="en-US" altLang="ko-KR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', 'user303'))</a:t>
            </a:r>
          </a:p>
          <a:p>
            <a:r>
              <a:rPr lang="en-US" altLang="ko-KR" dirty="0">
                <a:solidFill>
                  <a:srgbClr val="569E85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# </a:t>
            </a:r>
            <a:r>
              <a:rPr lang="ko-KR" altLang="en-US" dirty="0">
                <a:solidFill>
                  <a:srgbClr val="569E85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테스트 </a:t>
            </a:r>
            <a:r>
              <a:rPr lang="en-US" altLang="ko-KR" dirty="0">
                <a:solidFill>
                  <a:srgbClr val="569E85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6: </a:t>
            </a:r>
            <a:r>
              <a:rPr lang="ko-KR" altLang="en-US" dirty="0">
                <a:solidFill>
                  <a:srgbClr val="569E85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빌리지 않은 책 반납 시도</a:t>
            </a:r>
          </a:p>
          <a:p>
            <a:r>
              <a:rPr lang="en-US" altLang="ko-KR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print(</a:t>
            </a:r>
            <a:r>
              <a:rPr lang="en-US" altLang="ko-KR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return_book</a:t>
            </a:r>
            <a:r>
              <a:rPr lang="en-US" altLang="ko-KR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('</a:t>
            </a:r>
            <a:r>
              <a:rPr lang="ko-KR" altLang="en-US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맛있는 피자</a:t>
            </a:r>
            <a:r>
              <a:rPr lang="en-US" altLang="ko-KR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', 'user101'))</a:t>
            </a:r>
          </a:p>
        </p:txBody>
      </p:sp>
      <p:sp>
        <p:nvSpPr>
          <p:cNvPr id="4" name="모서리가 둥근 직사각형 10">
            <a:extLst>
              <a:ext uri="{FF2B5EF4-FFF2-40B4-BE49-F238E27FC236}">
                <a16:creationId xmlns:a16="http://schemas.microsoft.com/office/drawing/2014/main" id="{C05B4320-679E-3CDD-5BD2-595DDDA55F37}"/>
              </a:ext>
            </a:extLst>
          </p:cNvPr>
          <p:cNvSpPr/>
          <p:nvPr/>
        </p:nvSpPr>
        <p:spPr>
          <a:xfrm>
            <a:off x="1719308" y="4364031"/>
            <a:ext cx="8753383" cy="1430072"/>
          </a:xfrm>
          <a:prstGeom prst="roundRect">
            <a:avLst>
              <a:gd name="adj" fmla="val 2728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--- </a:t>
            </a:r>
            <a:r>
              <a:rPr lang="ko-KR" altLang="en-US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반납 테스트 </a:t>
            </a:r>
            <a:r>
              <a:rPr lang="en-US" altLang="ko-KR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---</a:t>
            </a:r>
          </a:p>
          <a:p>
            <a:r>
              <a:rPr lang="ko-KR" altLang="en-US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성공</a:t>
            </a:r>
            <a:r>
              <a:rPr lang="en-US" altLang="ko-KR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: '</a:t>
            </a:r>
            <a:r>
              <a:rPr lang="ko-KR" altLang="en-US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파이썬 중급</a:t>
            </a:r>
            <a:r>
              <a:rPr lang="en-US" altLang="ko-KR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'</a:t>
            </a:r>
            <a:r>
              <a:rPr lang="ko-KR" altLang="en-US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이</a:t>
            </a:r>
            <a:r>
              <a:rPr lang="en-US" altLang="ko-KR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</a:t>
            </a:r>
            <a:r>
              <a:rPr lang="ko-KR" altLang="en-US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가</a:t>
            </a:r>
            <a:r>
              <a:rPr lang="en-US" altLang="ko-KR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) 'user202'</a:t>
            </a:r>
            <a:r>
              <a:rPr lang="ko-KR" altLang="en-US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로부터 반납되었습니다</a:t>
            </a:r>
            <a:r>
              <a:rPr lang="en-US" altLang="ko-KR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.</a:t>
            </a:r>
          </a:p>
          <a:p>
            <a:r>
              <a:rPr lang="ko-KR" altLang="en-US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실패</a:t>
            </a:r>
            <a:r>
              <a:rPr lang="en-US" altLang="ko-KR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: '</a:t>
            </a:r>
            <a:r>
              <a:rPr lang="ko-KR" altLang="en-US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데이터 과학</a:t>
            </a:r>
            <a:r>
              <a:rPr lang="en-US" altLang="ko-KR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'</a:t>
            </a:r>
            <a:r>
              <a:rPr lang="ko-KR" altLang="en-US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은</a:t>
            </a:r>
            <a:r>
              <a:rPr lang="en-US" altLang="ko-KR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</a:t>
            </a:r>
            <a:r>
              <a:rPr lang="ko-KR" altLang="en-US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는</a:t>
            </a:r>
            <a:r>
              <a:rPr lang="en-US" altLang="ko-KR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) 'user303'</a:t>
            </a:r>
            <a:r>
              <a:rPr lang="ko-KR" altLang="en-US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님이 아닌 </a:t>
            </a:r>
            <a:r>
              <a:rPr lang="en-US" altLang="ko-KR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'user101'</a:t>
            </a:r>
            <a:r>
              <a:rPr lang="ko-KR" altLang="en-US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님이 대출하셨습니다</a:t>
            </a:r>
            <a:r>
              <a:rPr lang="en-US" altLang="ko-KR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.</a:t>
            </a:r>
          </a:p>
          <a:p>
            <a:r>
              <a:rPr lang="ko-KR" altLang="en-US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실패</a:t>
            </a:r>
            <a:r>
              <a:rPr lang="en-US" altLang="ko-KR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: '</a:t>
            </a:r>
            <a:r>
              <a:rPr lang="ko-KR" altLang="en-US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맛있는 피자</a:t>
            </a:r>
            <a:r>
              <a:rPr lang="en-US" altLang="ko-KR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' </a:t>
            </a:r>
            <a:r>
              <a:rPr lang="ko-KR" altLang="en-US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도서는 대출 중이 아니었습니다</a:t>
            </a:r>
            <a:r>
              <a:rPr lang="en-US" altLang="ko-KR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722836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4E94F-FFE1-23E1-DD40-CC6C0DC84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6F6E9D23-B12E-D3ED-5765-25754E5D3F00}"/>
              </a:ext>
            </a:extLst>
          </p:cNvPr>
          <p:cNvSpPr/>
          <p:nvPr/>
        </p:nvSpPr>
        <p:spPr>
          <a:xfrm>
            <a:off x="-2380" y="0"/>
            <a:ext cx="12194380" cy="997223"/>
          </a:xfrm>
          <a:prstGeom prst="rect">
            <a:avLst/>
          </a:prstGeom>
          <a:pattFill prst="pct5">
            <a:fgClr>
              <a:srgbClr val="228FF4"/>
            </a:fgClr>
            <a:bgClr>
              <a:srgbClr val="228FF4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4" latinLnBrk="0">
              <a:defRPr/>
            </a:pPr>
            <a:endParaRPr lang="en-US" altLang="ko-KR" sz="800" kern="0" dirty="0">
              <a:solidFill>
                <a:prstClr val="white"/>
              </a:solidFill>
            </a:endParaRPr>
          </a:p>
        </p:txBody>
      </p:sp>
      <p:graphicFrame>
        <p:nvGraphicFramePr>
          <p:cNvPr id="47" name="표 47">
            <a:extLst>
              <a:ext uri="{FF2B5EF4-FFF2-40B4-BE49-F238E27FC236}">
                <a16:creationId xmlns:a16="http://schemas.microsoft.com/office/drawing/2014/main" id="{AAD6097F-65D0-7E57-DC65-9535DA0F777C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993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">
                  <a:extLst>
                    <a:ext uri="{9D8B030D-6E8A-4147-A177-3AD203B41FA5}">
                      <a16:colId xmlns:a16="http://schemas.microsoft.com/office/drawing/2014/main" val="1043718934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83197653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244441110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513725656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848185835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94809846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867253447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91020565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617496892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251252461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91165828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907307849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789104831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358958742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574128088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752215195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134711798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330373115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66939689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832094442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707207925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425979498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758788447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734651099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795521838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71018558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469961966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251056073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694177328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362315501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263506421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842351367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720909174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911726095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039674806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537157650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690484121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783306778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707595318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323908076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232332704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003086160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296894056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204140746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847523506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953224009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4144219025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418867771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00181153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480530458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707259570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831730970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885049328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850779005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390437833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379350419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674165185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054348924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742965769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417673289"/>
                    </a:ext>
                  </a:extLst>
                </a:gridCol>
              </a:tblGrid>
              <a:tr h="198746"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111298"/>
                  </a:ext>
                </a:extLst>
              </a:tr>
              <a:tr h="198746"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196473"/>
                  </a:ext>
                </a:extLst>
              </a:tr>
              <a:tr h="198746"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4573720"/>
                  </a:ext>
                </a:extLst>
              </a:tr>
              <a:tr h="198746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0719676"/>
                  </a:ext>
                </a:extLst>
              </a:tr>
              <a:tr h="198746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8601141"/>
                  </a:ext>
                </a:extLst>
              </a:tr>
            </a:tbl>
          </a:graphicData>
        </a:graphic>
      </p:graphicFrame>
      <p:grpSp>
        <p:nvGrpSpPr>
          <p:cNvPr id="66" name="그룹 65">
            <a:extLst>
              <a:ext uri="{FF2B5EF4-FFF2-40B4-BE49-F238E27FC236}">
                <a16:creationId xmlns:a16="http://schemas.microsoft.com/office/drawing/2014/main" id="{DF480675-6526-BC42-187F-13F73AE890C0}"/>
              </a:ext>
            </a:extLst>
          </p:cNvPr>
          <p:cNvGrpSpPr/>
          <p:nvPr/>
        </p:nvGrpSpPr>
        <p:grpSpPr>
          <a:xfrm>
            <a:off x="-2381" y="226018"/>
            <a:ext cx="1875632" cy="773586"/>
            <a:chOff x="357853" y="4425696"/>
            <a:chExt cx="5168283" cy="2131608"/>
          </a:xfrm>
        </p:grpSpPr>
        <p:sp>
          <p:nvSpPr>
            <p:cNvPr id="62" name="자유형: 도형 61">
              <a:extLst>
                <a:ext uri="{FF2B5EF4-FFF2-40B4-BE49-F238E27FC236}">
                  <a16:creationId xmlns:a16="http://schemas.microsoft.com/office/drawing/2014/main" id="{49D5A5E7-BEAF-E022-2119-36779715657B}"/>
                </a:ext>
              </a:extLst>
            </p:cNvPr>
            <p:cNvSpPr/>
            <p:nvPr/>
          </p:nvSpPr>
          <p:spPr>
            <a:xfrm>
              <a:off x="357853" y="5124170"/>
              <a:ext cx="2262092" cy="1417320"/>
            </a:xfrm>
            <a:custGeom>
              <a:avLst/>
              <a:gdLst>
                <a:gd name="connsiteX0" fmla="*/ 0 w 2240280"/>
                <a:gd name="connsiteY0" fmla="*/ 1399032 h 1417320"/>
                <a:gd name="connsiteX1" fmla="*/ 9144 w 2240280"/>
                <a:gd name="connsiteY1" fmla="*/ 694944 h 1417320"/>
                <a:gd name="connsiteX2" fmla="*/ 731520 w 2240280"/>
                <a:gd name="connsiteY2" fmla="*/ 0 h 1417320"/>
                <a:gd name="connsiteX3" fmla="*/ 2240280 w 2240280"/>
                <a:gd name="connsiteY3" fmla="*/ 1417320 h 1417320"/>
                <a:gd name="connsiteX4" fmla="*/ 0 w 2240280"/>
                <a:gd name="connsiteY4" fmla="*/ 1399032 h 1417320"/>
                <a:gd name="connsiteX0" fmla="*/ 21812 w 2262092"/>
                <a:gd name="connsiteY0" fmla="*/ 1399032 h 1417320"/>
                <a:gd name="connsiteX1" fmla="*/ 0 w 2262092"/>
                <a:gd name="connsiteY1" fmla="*/ 694944 h 1417320"/>
                <a:gd name="connsiteX2" fmla="*/ 753332 w 2262092"/>
                <a:gd name="connsiteY2" fmla="*/ 0 h 1417320"/>
                <a:gd name="connsiteX3" fmla="*/ 2262092 w 2262092"/>
                <a:gd name="connsiteY3" fmla="*/ 1417320 h 1417320"/>
                <a:gd name="connsiteX4" fmla="*/ 21812 w 2262092"/>
                <a:gd name="connsiteY4" fmla="*/ 1399032 h 1417320"/>
                <a:gd name="connsiteX0" fmla="*/ 2762 w 2262092"/>
                <a:gd name="connsiteY0" fmla="*/ 1399032 h 1417320"/>
                <a:gd name="connsiteX1" fmla="*/ 0 w 2262092"/>
                <a:gd name="connsiteY1" fmla="*/ 694944 h 1417320"/>
                <a:gd name="connsiteX2" fmla="*/ 753332 w 2262092"/>
                <a:gd name="connsiteY2" fmla="*/ 0 h 1417320"/>
                <a:gd name="connsiteX3" fmla="*/ 2262092 w 2262092"/>
                <a:gd name="connsiteY3" fmla="*/ 1417320 h 1417320"/>
                <a:gd name="connsiteX4" fmla="*/ 2762 w 2262092"/>
                <a:gd name="connsiteY4" fmla="*/ 1399032 h 141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62092" h="1417320">
                  <a:moveTo>
                    <a:pt x="2762" y="1399032"/>
                  </a:moveTo>
                  <a:cubicBezTo>
                    <a:pt x="1841" y="1164336"/>
                    <a:pt x="921" y="929640"/>
                    <a:pt x="0" y="694944"/>
                  </a:cubicBezTo>
                  <a:lnTo>
                    <a:pt x="753332" y="0"/>
                  </a:lnTo>
                  <a:lnTo>
                    <a:pt x="2262092" y="1417320"/>
                  </a:lnTo>
                  <a:lnTo>
                    <a:pt x="2762" y="1399032"/>
                  </a:lnTo>
                  <a:close/>
                </a:path>
              </a:pathLst>
            </a:custGeom>
            <a:gradFill>
              <a:gsLst>
                <a:gs pos="0">
                  <a:srgbClr val="66FFFF">
                    <a:alpha val="41000"/>
                  </a:srgbClr>
                </a:gs>
                <a:gs pos="100000">
                  <a:srgbClr val="66FFFF">
                    <a:alpha val="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63" name="자유형: 도형 62">
              <a:extLst>
                <a:ext uri="{FF2B5EF4-FFF2-40B4-BE49-F238E27FC236}">
                  <a16:creationId xmlns:a16="http://schemas.microsoft.com/office/drawing/2014/main" id="{E0381F82-8813-4511-6E08-577AA9ADBC50}"/>
                </a:ext>
              </a:extLst>
            </p:cNvPr>
            <p:cNvSpPr/>
            <p:nvPr/>
          </p:nvSpPr>
          <p:spPr>
            <a:xfrm>
              <a:off x="1097283" y="4425696"/>
              <a:ext cx="4428853" cy="2115425"/>
            </a:xfrm>
            <a:custGeom>
              <a:avLst/>
              <a:gdLst>
                <a:gd name="connsiteX0" fmla="*/ 0 w 3739896"/>
                <a:gd name="connsiteY0" fmla="*/ 2112264 h 2112264"/>
                <a:gd name="connsiteX1" fmla="*/ 749808 w 3739896"/>
                <a:gd name="connsiteY1" fmla="*/ 1417320 h 2112264"/>
                <a:gd name="connsiteX2" fmla="*/ 1508760 w 3739896"/>
                <a:gd name="connsiteY2" fmla="*/ 722376 h 2112264"/>
                <a:gd name="connsiteX3" fmla="*/ 2258568 w 3739896"/>
                <a:gd name="connsiteY3" fmla="*/ 0 h 2112264"/>
                <a:gd name="connsiteX4" fmla="*/ 3017520 w 3739896"/>
                <a:gd name="connsiteY4" fmla="*/ 722376 h 2112264"/>
                <a:gd name="connsiteX5" fmla="*/ 3739896 w 3739896"/>
                <a:gd name="connsiteY5" fmla="*/ 1426464 h 2112264"/>
                <a:gd name="connsiteX6" fmla="*/ 3739896 w 3739896"/>
                <a:gd name="connsiteY6" fmla="*/ 2103120 h 2112264"/>
                <a:gd name="connsiteX7" fmla="*/ 0 w 3739896"/>
                <a:gd name="connsiteY7" fmla="*/ 2112264 h 2112264"/>
                <a:gd name="connsiteX0" fmla="*/ 0 w 4428854"/>
                <a:gd name="connsiteY0" fmla="*/ 2112264 h 2115425"/>
                <a:gd name="connsiteX1" fmla="*/ 749808 w 4428854"/>
                <a:gd name="connsiteY1" fmla="*/ 1417320 h 2115425"/>
                <a:gd name="connsiteX2" fmla="*/ 1508760 w 4428854"/>
                <a:gd name="connsiteY2" fmla="*/ 722376 h 2115425"/>
                <a:gd name="connsiteX3" fmla="*/ 2258568 w 4428854"/>
                <a:gd name="connsiteY3" fmla="*/ 0 h 2115425"/>
                <a:gd name="connsiteX4" fmla="*/ 3017520 w 4428854"/>
                <a:gd name="connsiteY4" fmla="*/ 722376 h 2115425"/>
                <a:gd name="connsiteX5" fmla="*/ 4428854 w 4428854"/>
                <a:gd name="connsiteY5" fmla="*/ 2115425 h 2115425"/>
                <a:gd name="connsiteX6" fmla="*/ 3739896 w 4428854"/>
                <a:gd name="connsiteY6" fmla="*/ 2103120 h 2115425"/>
                <a:gd name="connsiteX7" fmla="*/ 0 w 4428854"/>
                <a:gd name="connsiteY7" fmla="*/ 2112264 h 211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28854" h="2115425">
                  <a:moveTo>
                    <a:pt x="0" y="2112264"/>
                  </a:moveTo>
                  <a:lnTo>
                    <a:pt x="749808" y="1417320"/>
                  </a:lnTo>
                  <a:lnTo>
                    <a:pt x="1508760" y="722376"/>
                  </a:lnTo>
                  <a:lnTo>
                    <a:pt x="2258568" y="0"/>
                  </a:lnTo>
                  <a:lnTo>
                    <a:pt x="3017520" y="722376"/>
                  </a:lnTo>
                  <a:lnTo>
                    <a:pt x="4428854" y="2115425"/>
                  </a:lnTo>
                  <a:lnTo>
                    <a:pt x="3739896" y="2103120"/>
                  </a:lnTo>
                  <a:lnTo>
                    <a:pt x="0" y="2112264"/>
                  </a:lnTo>
                  <a:close/>
                </a:path>
              </a:pathLst>
            </a:custGeom>
            <a:gradFill>
              <a:gsLst>
                <a:gs pos="0">
                  <a:srgbClr val="66FFFF">
                    <a:alpha val="41000"/>
                  </a:srgbClr>
                </a:gs>
                <a:gs pos="100000">
                  <a:srgbClr val="66FFFF">
                    <a:alpha val="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64" name="자유형: 도형 63">
              <a:extLst>
                <a:ext uri="{FF2B5EF4-FFF2-40B4-BE49-F238E27FC236}">
                  <a16:creationId xmlns:a16="http://schemas.microsoft.com/office/drawing/2014/main" id="{3565EA2D-5E0B-7346-33C1-01EBAB5DA8CC}"/>
                </a:ext>
              </a:extLst>
            </p:cNvPr>
            <p:cNvSpPr/>
            <p:nvPr/>
          </p:nvSpPr>
          <p:spPr>
            <a:xfrm>
              <a:off x="363760" y="5153977"/>
              <a:ext cx="2997231" cy="1389984"/>
            </a:xfrm>
            <a:custGeom>
              <a:avLst/>
              <a:gdLst>
                <a:gd name="connsiteX0" fmla="*/ 0 w 2990088"/>
                <a:gd name="connsiteY0" fmla="*/ 1399032 h 1444752"/>
                <a:gd name="connsiteX1" fmla="*/ 1517904 w 2990088"/>
                <a:gd name="connsiteY1" fmla="*/ 0 h 1444752"/>
                <a:gd name="connsiteX2" fmla="*/ 2990088 w 2990088"/>
                <a:gd name="connsiteY2" fmla="*/ 1444752 h 1444752"/>
                <a:gd name="connsiteX3" fmla="*/ 0 w 2990088"/>
                <a:gd name="connsiteY3" fmla="*/ 1399032 h 1444752"/>
                <a:gd name="connsiteX0" fmla="*/ 0 w 2990088"/>
                <a:gd name="connsiteY0" fmla="*/ 1365695 h 1411415"/>
                <a:gd name="connsiteX1" fmla="*/ 1503617 w 2990088"/>
                <a:gd name="connsiteY1" fmla="*/ 0 h 1411415"/>
                <a:gd name="connsiteX2" fmla="*/ 2990088 w 2990088"/>
                <a:gd name="connsiteY2" fmla="*/ 1411415 h 1411415"/>
                <a:gd name="connsiteX3" fmla="*/ 0 w 2990088"/>
                <a:gd name="connsiteY3" fmla="*/ 1365695 h 1411415"/>
                <a:gd name="connsiteX0" fmla="*/ 0 w 2982944"/>
                <a:gd name="connsiteY0" fmla="*/ 1389508 h 1411415"/>
                <a:gd name="connsiteX1" fmla="*/ 1496473 w 2982944"/>
                <a:gd name="connsiteY1" fmla="*/ 0 h 1411415"/>
                <a:gd name="connsiteX2" fmla="*/ 2982944 w 2982944"/>
                <a:gd name="connsiteY2" fmla="*/ 1411415 h 1411415"/>
                <a:gd name="connsiteX3" fmla="*/ 0 w 2982944"/>
                <a:gd name="connsiteY3" fmla="*/ 1389508 h 1411415"/>
                <a:gd name="connsiteX0" fmla="*/ 0 w 2997231"/>
                <a:gd name="connsiteY0" fmla="*/ 1389508 h 1389984"/>
                <a:gd name="connsiteX1" fmla="*/ 1496473 w 2997231"/>
                <a:gd name="connsiteY1" fmla="*/ 0 h 1389984"/>
                <a:gd name="connsiteX2" fmla="*/ 2997231 w 2997231"/>
                <a:gd name="connsiteY2" fmla="*/ 1389984 h 1389984"/>
                <a:gd name="connsiteX3" fmla="*/ 0 w 2997231"/>
                <a:gd name="connsiteY3" fmla="*/ 1389508 h 1389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97231" h="1389984">
                  <a:moveTo>
                    <a:pt x="0" y="1389508"/>
                  </a:moveTo>
                  <a:lnTo>
                    <a:pt x="1496473" y="0"/>
                  </a:lnTo>
                  <a:lnTo>
                    <a:pt x="2997231" y="1389984"/>
                  </a:lnTo>
                  <a:lnTo>
                    <a:pt x="0" y="1389508"/>
                  </a:lnTo>
                  <a:close/>
                </a:path>
              </a:pathLst>
            </a:custGeom>
            <a:gradFill>
              <a:gsLst>
                <a:gs pos="0">
                  <a:srgbClr val="66FFFF">
                    <a:alpha val="41000"/>
                  </a:srgbClr>
                </a:gs>
                <a:gs pos="100000">
                  <a:srgbClr val="66FFFF">
                    <a:alpha val="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65" name="자유형: 도형 64">
              <a:extLst>
                <a:ext uri="{FF2B5EF4-FFF2-40B4-BE49-F238E27FC236}">
                  <a16:creationId xmlns:a16="http://schemas.microsoft.com/office/drawing/2014/main" id="{7DC83789-3698-C129-0FD6-55E6AEB08F33}"/>
                </a:ext>
              </a:extLst>
            </p:cNvPr>
            <p:cNvSpPr/>
            <p:nvPr/>
          </p:nvSpPr>
          <p:spPr>
            <a:xfrm>
              <a:off x="2595124" y="5832830"/>
              <a:ext cx="1499387" cy="724474"/>
            </a:xfrm>
            <a:custGeom>
              <a:avLst/>
              <a:gdLst>
                <a:gd name="connsiteX0" fmla="*/ 0 w 2990088"/>
                <a:gd name="connsiteY0" fmla="*/ 1399032 h 1444752"/>
                <a:gd name="connsiteX1" fmla="*/ 1517904 w 2990088"/>
                <a:gd name="connsiteY1" fmla="*/ 0 h 1444752"/>
                <a:gd name="connsiteX2" fmla="*/ 2990088 w 2990088"/>
                <a:gd name="connsiteY2" fmla="*/ 1444752 h 1444752"/>
                <a:gd name="connsiteX3" fmla="*/ 0 w 2990088"/>
                <a:gd name="connsiteY3" fmla="*/ 1399032 h 1444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90088" h="1444752">
                  <a:moveTo>
                    <a:pt x="0" y="1399032"/>
                  </a:moveTo>
                  <a:lnTo>
                    <a:pt x="1517904" y="0"/>
                  </a:lnTo>
                  <a:lnTo>
                    <a:pt x="2990088" y="1444752"/>
                  </a:lnTo>
                  <a:lnTo>
                    <a:pt x="0" y="1399032"/>
                  </a:lnTo>
                  <a:close/>
                </a:path>
              </a:pathLst>
            </a:custGeom>
            <a:gradFill>
              <a:gsLst>
                <a:gs pos="0">
                  <a:srgbClr val="66FFFF">
                    <a:alpha val="41000"/>
                  </a:srgbClr>
                </a:gs>
                <a:gs pos="100000">
                  <a:srgbClr val="66FFFF">
                    <a:alpha val="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F8BE0F45-8736-44CE-506E-0B6A541163FB}"/>
              </a:ext>
            </a:extLst>
          </p:cNvPr>
          <p:cNvGrpSpPr/>
          <p:nvPr/>
        </p:nvGrpSpPr>
        <p:grpSpPr>
          <a:xfrm>
            <a:off x="11453886" y="48068"/>
            <a:ext cx="261865" cy="837864"/>
            <a:chOff x="3175107" y="2906014"/>
            <a:chExt cx="360000" cy="1151858"/>
          </a:xfrm>
        </p:grpSpPr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BED63D5E-A2CD-4365-FD9D-A6CF40769D87}"/>
                </a:ext>
              </a:extLst>
            </p:cNvPr>
            <p:cNvSpPr/>
            <p:nvPr/>
          </p:nvSpPr>
          <p:spPr>
            <a:xfrm>
              <a:off x="3231644" y="2962551"/>
              <a:ext cx="246927" cy="246927"/>
            </a:xfrm>
            <a:prstGeom prst="ellipse">
              <a:avLst/>
            </a:prstGeom>
            <a:solidFill>
              <a:srgbClr val="66FFFF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6E08C0B3-AEBF-1E20-22DB-FF630B9F4FD4}"/>
                </a:ext>
              </a:extLst>
            </p:cNvPr>
            <p:cNvSpPr/>
            <p:nvPr/>
          </p:nvSpPr>
          <p:spPr>
            <a:xfrm>
              <a:off x="3175107" y="2906014"/>
              <a:ext cx="360000" cy="360000"/>
            </a:xfrm>
            <a:prstGeom prst="ellipse">
              <a:avLst/>
            </a:prstGeom>
            <a:noFill/>
            <a:ln w="9525">
              <a:solidFill>
                <a:srgbClr val="66FFFF">
                  <a:alpha val="7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8DC54E68-ED40-6E89-2D64-A8992C992422}"/>
                </a:ext>
              </a:extLst>
            </p:cNvPr>
            <p:cNvCxnSpPr>
              <a:cxnSpLocks/>
              <a:stCxn id="23" idx="4"/>
            </p:cNvCxnSpPr>
            <p:nvPr/>
          </p:nvCxnSpPr>
          <p:spPr>
            <a:xfrm>
              <a:off x="3355108" y="3266013"/>
              <a:ext cx="741" cy="791859"/>
            </a:xfrm>
            <a:prstGeom prst="line">
              <a:avLst/>
            </a:prstGeom>
            <a:ln w="19050">
              <a:gradFill>
                <a:gsLst>
                  <a:gs pos="0">
                    <a:srgbClr val="66FFFF"/>
                  </a:gs>
                  <a:gs pos="100000">
                    <a:srgbClr val="66FFFF">
                      <a:alpha val="0"/>
                    </a:srgb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1A33BE3B-FDA1-43D6-7A55-63DA7E0A2BBE}"/>
                </a:ext>
              </a:extLst>
            </p:cNvPr>
            <p:cNvSpPr/>
            <p:nvPr/>
          </p:nvSpPr>
          <p:spPr>
            <a:xfrm>
              <a:off x="3307843" y="3038750"/>
              <a:ext cx="94527" cy="94527"/>
            </a:xfrm>
            <a:prstGeom prst="ellipse">
              <a:avLst/>
            </a:prstGeom>
            <a:solidFill>
              <a:srgbClr val="66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3A4BB84-1DF3-289D-C464-6711E8C892E3}"/>
              </a:ext>
            </a:extLst>
          </p:cNvPr>
          <p:cNvSpPr txBox="1"/>
          <p:nvPr/>
        </p:nvSpPr>
        <p:spPr>
          <a:xfrm>
            <a:off x="2325949" y="2828835"/>
            <a:ext cx="7315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200" dirty="0">
                <a:solidFill>
                  <a:srgbClr val="2CA0F6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Question?</a:t>
            </a:r>
            <a:endParaRPr lang="ko-KR" altLang="en-US" sz="7200" dirty="0">
              <a:solidFill>
                <a:srgbClr val="2CA0F6"/>
              </a:solidFill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71178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2807</TotalTime>
  <Words>898</Words>
  <Application>Microsoft Office PowerPoint</Application>
  <PresentationFormat>와이드스크린</PresentationFormat>
  <Paragraphs>113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24" baseType="lpstr">
      <vt:lpstr>Impact</vt:lpstr>
      <vt:lpstr>Arial</vt:lpstr>
      <vt:lpstr>KoPub돋움체 Bold</vt:lpstr>
      <vt:lpstr>G마켓 산스 Bold</vt:lpstr>
      <vt:lpstr>Pretendard Light</vt:lpstr>
      <vt:lpstr>Consolas</vt:lpstr>
      <vt:lpstr>맑은 고딕</vt:lpstr>
      <vt:lpstr>Microsoft GothicNeo Light</vt:lpstr>
      <vt:lpstr>Pretendard Medium</vt:lpstr>
      <vt:lpstr>D2Coding ligature</vt:lpstr>
      <vt:lpstr>Pretendard SemiBold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성 재</dc:creator>
  <cp:lastModifiedBy>성 재</cp:lastModifiedBy>
  <cp:revision>280</cp:revision>
  <dcterms:created xsi:type="dcterms:W3CDTF">2025-09-13T18:52:17Z</dcterms:created>
  <dcterms:modified xsi:type="dcterms:W3CDTF">2026-05-22T03:56:32Z</dcterms:modified>
  <cp:contentStatus>최종본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MarkAsFinal">
    <vt:bool>true</vt:bool>
  </property>
</Properties>
</file>