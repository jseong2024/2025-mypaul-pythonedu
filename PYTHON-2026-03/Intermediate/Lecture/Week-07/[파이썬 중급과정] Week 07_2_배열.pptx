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  <p:sldId id="257" r:id="rId3"/>
    <p:sldId id="285" r:id="rId4"/>
    <p:sldId id="286" r:id="rId5"/>
    <p:sldId id="424" r:id="rId6"/>
    <p:sldId id="447" r:id="rId7"/>
    <p:sldId id="449" r:id="rId8"/>
    <p:sldId id="457" r:id="rId9"/>
    <p:sldId id="451" r:id="rId10"/>
    <p:sldId id="450" r:id="rId11"/>
    <p:sldId id="452" r:id="rId12"/>
    <p:sldId id="453" r:id="rId13"/>
    <p:sldId id="454" r:id="rId14"/>
    <p:sldId id="455" r:id="rId15"/>
    <p:sldId id="456" r:id="rId16"/>
    <p:sldId id="363" r:id="rId17"/>
    <p:sldId id="459" r:id="rId18"/>
    <p:sldId id="462" r:id="rId19"/>
    <p:sldId id="384" r:id="rId20"/>
    <p:sldId id="460" r:id="rId21"/>
    <p:sldId id="461" r:id="rId22"/>
    <p:sldId id="458" r:id="rId23"/>
    <p:sldId id="282" r:id="rId24"/>
  </p:sldIdLst>
  <p:sldSz cx="12192000" cy="6858000"/>
  <p:notesSz cx="6858000" cy="9144000"/>
  <p:embeddedFontLst>
    <p:embeddedFont>
      <p:font typeface="D2Coding ligature" panose="020B0600000101010101" charset="-127"/>
      <p:regular r:id="rId25"/>
      <p:bold r:id="rId26"/>
    </p:embeddedFont>
    <p:embeddedFont>
      <p:font typeface="Pretendard Light" panose="020B0600000101010101" charset="-127"/>
      <p:regular r:id="rId27"/>
    </p:embeddedFont>
    <p:embeddedFont>
      <p:font typeface="Pretendard Medium" panose="020B0600000101010101" charset="-127"/>
      <p:regular r:id="rId28"/>
    </p:embeddedFont>
    <p:embeddedFont>
      <p:font typeface="Pretendard SemiBold" panose="020B0600000101010101" charset="-127"/>
      <p:bold r:id="rId29"/>
    </p:embeddedFont>
    <p:embeddedFont>
      <p:font typeface="G마켓 산스 Bold" panose="02000000000000000000" pitchFamily="50" charset="-127"/>
      <p:bold r:id="rId30"/>
    </p:embeddedFont>
    <p:embeddedFont>
      <p:font typeface="G마켓 산스 Medium" panose="02000000000000000000" pitchFamily="50" charset="-127"/>
      <p:regular r:id="rId31"/>
    </p:embeddedFont>
    <p:embeddedFont>
      <p:font typeface="Impact" panose="020B0806030902050204" pitchFamily="34" charset="0"/>
      <p:regular r:id="rId32"/>
    </p:embeddedFont>
    <p:embeddedFont>
      <p:font typeface="KoPub돋움체 Bold" panose="00000800000000000000" pitchFamily="2" charset="-127"/>
      <p:regular r:id="rId33"/>
      <p:bold r:id="rId34"/>
    </p:embeddedFont>
    <p:embeddedFont>
      <p:font typeface="Microsoft GothicNeo" panose="020B0500000101010101" pitchFamily="50" charset="-127"/>
      <p:regular r:id="rId35"/>
      <p:bold r:id="rId36"/>
    </p:embeddedFont>
    <p:embeddedFont>
      <p:font typeface="Microsoft GothicNeo Light" panose="020B0300000101010101" pitchFamily="50" charset="-127"/>
      <p:regular r:id="rId37"/>
    </p:embeddedFont>
    <p:embeddedFont>
      <p:font typeface="맑은 고딕" panose="020B0503020000020004" pitchFamily="50" charset="-127"/>
      <p:regular r:id="rId38"/>
      <p:bold r:id="rId3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8FF4"/>
    <a:srgbClr val="0000FF"/>
    <a:srgbClr val="4A8B71"/>
    <a:srgbClr val="008000"/>
    <a:srgbClr val="F2F3F9"/>
    <a:srgbClr val="569E85"/>
    <a:srgbClr val="E36D6B"/>
    <a:srgbClr val="EC9E9C"/>
    <a:srgbClr val="76B19C"/>
    <a:srgbClr val="ED9E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31" autoAdjust="0"/>
    <p:restoredTop sz="94660"/>
  </p:normalViewPr>
  <p:slideViewPr>
    <p:cSldViewPr snapToGrid="0">
      <p:cViewPr varScale="1">
        <p:scale>
          <a:sx n="79" d="100"/>
          <a:sy n="79" d="100"/>
        </p:scale>
        <p:origin x="81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font" Target="fonts/font15.fntdata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0AC0A-3F9B-A5C6-4AA7-D3EA06A3BD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01B64D7-17C7-C027-E1F0-F23878B63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A57C69-CE13-C496-042D-C09C96DD3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1ACF98-A77B-8563-BF07-1251A339B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78E394-EC20-D7DF-CB13-79AF34CF0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1910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A9D1EE-C634-334A-111B-1D4C9CF3F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B97BC2-BBAD-5A9B-23C7-284959BB7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7B95C6-D82A-0A11-8C26-16F98539F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7CF1F5-6413-8CEE-2C23-63880BD7F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E56FC5-0090-10D4-E5C1-FD002B809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8281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E669F7-FC97-09DA-BD26-F56A6EC60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090338-6B1B-12B7-B8E5-932A980B3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837905-7ACD-AA5B-2720-75CE4DE5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626939-0C9B-3141-5D82-F922E22EA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AD57EC-C4BA-405F-994E-8AC6F5B99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0432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4E2CC6-C595-EA3F-C857-4FF836742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DEF67D-D038-AF59-D347-09C7142C51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A6A7F2A-593C-F9EB-4B2B-A70C6280BA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05FA8F1-A859-83B9-5F09-030F71964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8D790D-AE25-7719-1E49-823F532DC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1EC827C-2EDF-C840-D6D0-0F7C1CFE7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244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61AC93-0AD6-F646-5426-452B96776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11A330-BB83-6BBF-84E1-A28CD01CA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2F1948B-AF0D-F591-CFF4-F73944A668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1470157-92E3-5E4C-E496-BC9E685619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C53E642-1980-19B8-695B-8D3A763753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B64E97D-2970-54CA-5944-F8B8DE5F2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70F51F9-8809-A812-45FC-84A9AB325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A860958-651A-6B5E-7445-C3E44800D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856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B5EB78-8243-32CA-7937-DE772ACE0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833BE2F-8E2A-7E2A-37D7-8B2F97D8E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CB0856A-270C-B49A-4407-A07164D9C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419DE32-988F-77A8-1D25-F6487BABC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2919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4D603F0-DDFB-05A3-8613-D69CC1B54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51F0BDD-FC90-EE66-7F47-BEF16D140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BEB414-4376-6CAF-130F-C70CD2914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7570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BCD63F-F5D7-B2BF-69D1-C43B585AB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79AE9A-67B4-95A2-16F9-180D19341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5DD0CF-4107-B3BB-779D-BE9076E3AA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B403C2A-7C8B-7AB0-5F7D-C60AA68BF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59DA15-9183-EAC1-519A-3BBFBE78D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5D02B9-EDB8-756D-96D1-60D30074D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5868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3E9ABE-00B6-5B92-3E55-BE044D4DD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3624094-FFC7-58C5-B90A-C346075D2C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1D70469-D3C9-395E-AD5A-3B9512CACB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DF11984-C859-9F50-15CF-E37B6C379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AFE6658-0967-E1C0-BD32-7833B0F4B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7378AC6-F823-9A05-979F-38B009F28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0184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B09AE6-9AAC-A775-3901-151E12C1B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69941B8-B470-6E47-A9EA-DA25090D1A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6A3A29-CE6D-EA40-5715-045071626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C58B68-F305-D40D-5FB6-8F6D37192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EB9324-A76A-C943-1246-EB203AF90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2320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4EF01C8-D6CE-D6B7-EF6C-5598B4E149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8C20FB8-D89B-964B-E0B6-5136D1CD03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DBF778-8E02-A5F9-213D-7FFD1F021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52C205-354B-C719-44E9-BEF759FE0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58701B-3837-CC35-6783-CBF766C75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1726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2B4B94A-D523-D442-0C44-5817E3FC4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4EDCBF0-644F-A983-9149-6814CD1416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FE08A4-3F70-7E0B-56E8-7B82BB311B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EA6FA3-4F79-40B5-9796-76ED3E0BCEE0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249A7D-06CC-2087-8F59-52A6A5FEB1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1DD466-A588-B80D-D3B2-E72281A656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1377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1C1E8A24-D2BD-4F24-BA0A-E5348FFC47D3}"/>
              </a:ext>
            </a:extLst>
          </p:cNvPr>
          <p:cNvSpPr/>
          <p:nvPr/>
        </p:nvSpPr>
        <p:spPr>
          <a:xfrm>
            <a:off x="362712" y="315468"/>
            <a:ext cx="11466576" cy="62270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sx="102000" sy="102000" algn="ctr" rotWithShape="0">
              <a:srgbClr val="0C81F2">
                <a:alpha val="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FC13CBD-0234-45E7-B8BE-3097A91501E2}"/>
              </a:ext>
            </a:extLst>
          </p:cNvPr>
          <p:cNvSpPr/>
          <p:nvPr/>
        </p:nvSpPr>
        <p:spPr>
          <a:xfrm>
            <a:off x="362712" y="315468"/>
            <a:ext cx="4483608" cy="6227064"/>
          </a:xfrm>
          <a:prstGeom prst="rect">
            <a:avLst/>
          </a:prstGeom>
          <a:pattFill prst="pct5">
            <a:fgClr>
              <a:srgbClr val="228FF4"/>
            </a:fgClr>
            <a:bgClr>
              <a:srgbClr val="228FF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latinLnBrk="0">
              <a:defRPr/>
            </a:pPr>
            <a:endParaRPr lang="en-US" altLang="ko-KR" sz="2800" i="1" kern="0" dirty="0">
              <a:solidFill>
                <a:prstClr val="white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 latinLnBrk="0">
              <a:defRPr/>
            </a:pPr>
            <a:endParaRPr lang="en-US" altLang="ko-KR" sz="2800" i="1" kern="0" dirty="0">
              <a:solidFill>
                <a:prstClr val="white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 latinLnBrk="0">
              <a:defRPr/>
            </a:pPr>
            <a:endParaRPr lang="en-US" altLang="ko-KR" sz="2800" i="1" kern="0" dirty="0">
              <a:solidFill>
                <a:prstClr val="white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6" name="모서리가 둥근 직사각형 43">
            <a:extLst>
              <a:ext uri="{FF2B5EF4-FFF2-40B4-BE49-F238E27FC236}">
                <a16:creationId xmlns:a16="http://schemas.microsoft.com/office/drawing/2014/main" id="{6213B534-391D-4BCF-8E6E-8A262482373C}"/>
              </a:ext>
            </a:extLst>
          </p:cNvPr>
          <p:cNvSpPr/>
          <p:nvPr/>
        </p:nvSpPr>
        <p:spPr>
          <a:xfrm>
            <a:off x="6879118" y="4789647"/>
            <a:ext cx="2917371" cy="485873"/>
          </a:xfrm>
          <a:prstGeom prst="roundRect">
            <a:avLst>
              <a:gd name="adj" fmla="val 50000"/>
            </a:avLst>
          </a:prstGeom>
          <a:pattFill prst="pct5">
            <a:fgClr>
              <a:srgbClr val="0C81F2"/>
            </a:fgClr>
            <a:bgClr>
              <a:srgbClr val="0C81F2"/>
            </a:bgClr>
          </a:pattFill>
          <a:ln w="9525">
            <a:noFill/>
            <a:prstDash val="solid"/>
          </a:ln>
          <a:effectLst>
            <a:outerShdw blurRad="304800" dist="38100" dir="2700000" algn="tl" rotWithShape="0">
              <a:srgbClr val="0C81F2">
                <a:alpha val="17000"/>
              </a:srgbClr>
            </a:outerShdw>
          </a:effectLst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Impact" panose="020B0806030902050204" pitchFamily="34" charset="0"/>
                <a:ea typeface="G마켓 산스 Medium" panose="02000000000000000000" pitchFamily="50" charset="-127"/>
                <a:cs typeface="Microsoft GothicNeo Light" panose="020B0300000101010101" pitchFamily="50" charset="-127"/>
              </a:rPr>
              <a:t>Week 07</a:t>
            </a:r>
            <a:endParaRPr lang="ko-KR" altLang="en-US" sz="2400" dirty="0">
              <a:latin typeface="Impact" panose="020B0806030902050204" pitchFamily="34" charset="0"/>
              <a:ea typeface="G마켓 산스 Medium" panose="02000000000000000000" pitchFamily="50" charset="-127"/>
              <a:cs typeface="Microsoft GothicNeo Light" panose="020B0300000101010101" pitchFamily="50" charset="-127"/>
            </a:endParaRPr>
          </a:p>
        </p:txBody>
      </p:sp>
      <p:graphicFrame>
        <p:nvGraphicFramePr>
          <p:cNvPr id="47" name="표 47">
            <a:extLst>
              <a:ext uri="{FF2B5EF4-FFF2-40B4-BE49-F238E27FC236}">
                <a16:creationId xmlns:a16="http://schemas.microsoft.com/office/drawing/2014/main" id="{BC2E65EA-009D-40B0-BD2D-9B6AE5E031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607951"/>
              </p:ext>
            </p:extLst>
          </p:nvPr>
        </p:nvGraphicFramePr>
        <p:xfrm>
          <a:off x="362711" y="331343"/>
          <a:ext cx="4483608" cy="6195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7268">
                  <a:extLst>
                    <a:ext uri="{9D8B030D-6E8A-4147-A177-3AD203B41FA5}">
                      <a16:colId xmlns:a16="http://schemas.microsoft.com/office/drawing/2014/main" val="1043718934"/>
                    </a:ext>
                  </a:extLst>
                </a:gridCol>
                <a:gridCol w="747268">
                  <a:extLst>
                    <a:ext uri="{9D8B030D-6E8A-4147-A177-3AD203B41FA5}">
                      <a16:colId xmlns:a16="http://schemas.microsoft.com/office/drawing/2014/main" val="83197653"/>
                    </a:ext>
                  </a:extLst>
                </a:gridCol>
                <a:gridCol w="747268">
                  <a:extLst>
                    <a:ext uri="{9D8B030D-6E8A-4147-A177-3AD203B41FA5}">
                      <a16:colId xmlns:a16="http://schemas.microsoft.com/office/drawing/2014/main" val="1244441110"/>
                    </a:ext>
                  </a:extLst>
                </a:gridCol>
                <a:gridCol w="747268">
                  <a:extLst>
                    <a:ext uri="{9D8B030D-6E8A-4147-A177-3AD203B41FA5}">
                      <a16:colId xmlns:a16="http://schemas.microsoft.com/office/drawing/2014/main" val="3513725656"/>
                    </a:ext>
                  </a:extLst>
                </a:gridCol>
                <a:gridCol w="747268">
                  <a:extLst>
                    <a:ext uri="{9D8B030D-6E8A-4147-A177-3AD203B41FA5}">
                      <a16:colId xmlns:a16="http://schemas.microsoft.com/office/drawing/2014/main" val="2848185835"/>
                    </a:ext>
                  </a:extLst>
                </a:gridCol>
                <a:gridCol w="747268">
                  <a:extLst>
                    <a:ext uri="{9D8B030D-6E8A-4147-A177-3AD203B41FA5}">
                      <a16:colId xmlns:a16="http://schemas.microsoft.com/office/drawing/2014/main" val="294809846"/>
                    </a:ext>
                  </a:extLst>
                </a:gridCol>
              </a:tblGrid>
              <a:tr h="68836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111298"/>
                  </a:ext>
                </a:extLst>
              </a:tr>
              <a:tr h="68836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196473"/>
                  </a:ext>
                </a:extLst>
              </a:tr>
              <a:tr h="68836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4573720"/>
                  </a:ext>
                </a:extLst>
              </a:tr>
              <a:tr h="68836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0719676"/>
                  </a:ext>
                </a:extLst>
              </a:tr>
              <a:tr h="68836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601141"/>
                  </a:ext>
                </a:extLst>
              </a:tr>
              <a:tr h="68836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5349254"/>
                  </a:ext>
                </a:extLst>
              </a:tr>
              <a:tr h="68836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250699"/>
                  </a:ext>
                </a:extLst>
              </a:tr>
              <a:tr h="68836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4842576"/>
                  </a:ext>
                </a:extLst>
              </a:tr>
              <a:tr h="68836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709023"/>
                  </a:ext>
                </a:extLst>
              </a:tr>
            </a:tbl>
          </a:graphicData>
        </a:graphic>
      </p:graphicFrame>
      <p:grpSp>
        <p:nvGrpSpPr>
          <p:cNvPr id="61" name="그룹 60">
            <a:extLst>
              <a:ext uri="{FF2B5EF4-FFF2-40B4-BE49-F238E27FC236}">
                <a16:creationId xmlns:a16="http://schemas.microsoft.com/office/drawing/2014/main" id="{71BA663E-45B6-4C2C-B2E9-DB732813B517}"/>
              </a:ext>
            </a:extLst>
          </p:cNvPr>
          <p:cNvGrpSpPr/>
          <p:nvPr/>
        </p:nvGrpSpPr>
        <p:grpSpPr>
          <a:xfrm>
            <a:off x="3175107" y="2906014"/>
            <a:ext cx="360000" cy="1519682"/>
            <a:chOff x="3175107" y="2906014"/>
            <a:chExt cx="360000" cy="1519682"/>
          </a:xfrm>
        </p:grpSpPr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13E5BC57-257D-4034-B6AA-386AF2A3C57E}"/>
                </a:ext>
              </a:extLst>
            </p:cNvPr>
            <p:cNvSpPr/>
            <p:nvPr/>
          </p:nvSpPr>
          <p:spPr>
            <a:xfrm>
              <a:off x="3231644" y="2962551"/>
              <a:ext cx="246927" cy="246927"/>
            </a:xfrm>
            <a:prstGeom prst="ellipse">
              <a:avLst/>
            </a:prstGeom>
            <a:solidFill>
              <a:srgbClr val="66FFFF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DE27B153-D673-4A80-886F-3C031E7B2146}"/>
                </a:ext>
              </a:extLst>
            </p:cNvPr>
            <p:cNvSpPr/>
            <p:nvPr/>
          </p:nvSpPr>
          <p:spPr>
            <a:xfrm>
              <a:off x="3175107" y="2906014"/>
              <a:ext cx="360000" cy="360000"/>
            </a:xfrm>
            <a:prstGeom prst="ellipse">
              <a:avLst/>
            </a:prstGeom>
            <a:noFill/>
            <a:ln w="9525">
              <a:solidFill>
                <a:srgbClr val="66FFFF">
                  <a:alpha val="7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B8BDBD16-0C86-4297-B1BF-2A0C2974B2E1}"/>
                </a:ext>
              </a:extLst>
            </p:cNvPr>
            <p:cNvCxnSpPr>
              <a:cxnSpLocks/>
              <a:stCxn id="41" idx="4"/>
              <a:endCxn id="63" idx="3"/>
            </p:cNvCxnSpPr>
            <p:nvPr/>
          </p:nvCxnSpPr>
          <p:spPr>
            <a:xfrm>
              <a:off x="3355107" y="3266014"/>
              <a:ext cx="741" cy="1159682"/>
            </a:xfrm>
            <a:prstGeom prst="line">
              <a:avLst/>
            </a:prstGeom>
            <a:ln w="19050">
              <a:gradFill>
                <a:gsLst>
                  <a:gs pos="0">
                    <a:srgbClr val="66FFFF"/>
                  </a:gs>
                  <a:gs pos="100000">
                    <a:srgbClr val="66FFFF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3CAF1CA6-CF89-4471-B143-123BEDD7AF54}"/>
                </a:ext>
              </a:extLst>
            </p:cNvPr>
            <p:cNvSpPr/>
            <p:nvPr/>
          </p:nvSpPr>
          <p:spPr>
            <a:xfrm>
              <a:off x="3307843" y="3038750"/>
              <a:ext cx="94527" cy="94527"/>
            </a:xfrm>
            <a:prstGeom prst="ellipse">
              <a:avLst/>
            </a:prstGeom>
            <a:solidFill>
              <a:srgbClr val="66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E4A8C0CC-52B3-47F9-B161-A1F5A96F225A}"/>
              </a:ext>
            </a:extLst>
          </p:cNvPr>
          <p:cNvGrpSpPr/>
          <p:nvPr/>
        </p:nvGrpSpPr>
        <p:grpSpPr>
          <a:xfrm>
            <a:off x="357853" y="4425696"/>
            <a:ext cx="4479323" cy="2131608"/>
            <a:chOff x="357853" y="4425696"/>
            <a:chExt cx="4479323" cy="2131608"/>
          </a:xfrm>
        </p:grpSpPr>
        <p:sp>
          <p:nvSpPr>
            <p:cNvPr id="62" name="자유형: 도형 61">
              <a:extLst>
                <a:ext uri="{FF2B5EF4-FFF2-40B4-BE49-F238E27FC236}">
                  <a16:creationId xmlns:a16="http://schemas.microsoft.com/office/drawing/2014/main" id="{D8E533F7-B42D-41B8-BB34-3271918104F7}"/>
                </a:ext>
              </a:extLst>
            </p:cNvPr>
            <p:cNvSpPr/>
            <p:nvPr/>
          </p:nvSpPr>
          <p:spPr>
            <a:xfrm>
              <a:off x="357853" y="5124170"/>
              <a:ext cx="2262092" cy="1417320"/>
            </a:xfrm>
            <a:custGeom>
              <a:avLst/>
              <a:gdLst>
                <a:gd name="connsiteX0" fmla="*/ 0 w 2240280"/>
                <a:gd name="connsiteY0" fmla="*/ 1399032 h 1417320"/>
                <a:gd name="connsiteX1" fmla="*/ 9144 w 2240280"/>
                <a:gd name="connsiteY1" fmla="*/ 694944 h 1417320"/>
                <a:gd name="connsiteX2" fmla="*/ 731520 w 2240280"/>
                <a:gd name="connsiteY2" fmla="*/ 0 h 1417320"/>
                <a:gd name="connsiteX3" fmla="*/ 2240280 w 2240280"/>
                <a:gd name="connsiteY3" fmla="*/ 1417320 h 1417320"/>
                <a:gd name="connsiteX4" fmla="*/ 0 w 2240280"/>
                <a:gd name="connsiteY4" fmla="*/ 1399032 h 1417320"/>
                <a:gd name="connsiteX0" fmla="*/ 21812 w 2262092"/>
                <a:gd name="connsiteY0" fmla="*/ 1399032 h 1417320"/>
                <a:gd name="connsiteX1" fmla="*/ 0 w 2262092"/>
                <a:gd name="connsiteY1" fmla="*/ 694944 h 1417320"/>
                <a:gd name="connsiteX2" fmla="*/ 753332 w 2262092"/>
                <a:gd name="connsiteY2" fmla="*/ 0 h 1417320"/>
                <a:gd name="connsiteX3" fmla="*/ 2262092 w 2262092"/>
                <a:gd name="connsiteY3" fmla="*/ 1417320 h 1417320"/>
                <a:gd name="connsiteX4" fmla="*/ 21812 w 2262092"/>
                <a:gd name="connsiteY4" fmla="*/ 1399032 h 1417320"/>
                <a:gd name="connsiteX0" fmla="*/ 2762 w 2262092"/>
                <a:gd name="connsiteY0" fmla="*/ 1399032 h 1417320"/>
                <a:gd name="connsiteX1" fmla="*/ 0 w 2262092"/>
                <a:gd name="connsiteY1" fmla="*/ 694944 h 1417320"/>
                <a:gd name="connsiteX2" fmla="*/ 753332 w 2262092"/>
                <a:gd name="connsiteY2" fmla="*/ 0 h 1417320"/>
                <a:gd name="connsiteX3" fmla="*/ 2262092 w 2262092"/>
                <a:gd name="connsiteY3" fmla="*/ 1417320 h 1417320"/>
                <a:gd name="connsiteX4" fmla="*/ 2762 w 2262092"/>
                <a:gd name="connsiteY4" fmla="*/ 1399032 h 141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2092" h="1417320">
                  <a:moveTo>
                    <a:pt x="2762" y="1399032"/>
                  </a:moveTo>
                  <a:cubicBezTo>
                    <a:pt x="1841" y="1164336"/>
                    <a:pt x="921" y="929640"/>
                    <a:pt x="0" y="694944"/>
                  </a:cubicBezTo>
                  <a:lnTo>
                    <a:pt x="753332" y="0"/>
                  </a:lnTo>
                  <a:lnTo>
                    <a:pt x="2262092" y="1417320"/>
                  </a:lnTo>
                  <a:lnTo>
                    <a:pt x="2762" y="1399032"/>
                  </a:lnTo>
                  <a:close/>
                </a:path>
              </a:pathLst>
            </a:custGeom>
            <a:gradFill>
              <a:gsLst>
                <a:gs pos="0">
                  <a:srgbClr val="66FFFF">
                    <a:alpha val="41000"/>
                  </a:srgbClr>
                </a:gs>
                <a:gs pos="100000">
                  <a:srgbClr val="66FFFF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63" name="자유형: 도형 62">
              <a:extLst>
                <a:ext uri="{FF2B5EF4-FFF2-40B4-BE49-F238E27FC236}">
                  <a16:creationId xmlns:a16="http://schemas.microsoft.com/office/drawing/2014/main" id="{042BF142-3614-427C-8A69-D2ECC855FB30}"/>
                </a:ext>
              </a:extLst>
            </p:cNvPr>
            <p:cNvSpPr/>
            <p:nvPr/>
          </p:nvSpPr>
          <p:spPr>
            <a:xfrm>
              <a:off x="1097280" y="4425696"/>
              <a:ext cx="3739896" cy="2112264"/>
            </a:xfrm>
            <a:custGeom>
              <a:avLst/>
              <a:gdLst>
                <a:gd name="connsiteX0" fmla="*/ 0 w 3739896"/>
                <a:gd name="connsiteY0" fmla="*/ 2112264 h 2112264"/>
                <a:gd name="connsiteX1" fmla="*/ 749808 w 3739896"/>
                <a:gd name="connsiteY1" fmla="*/ 1417320 h 2112264"/>
                <a:gd name="connsiteX2" fmla="*/ 1508760 w 3739896"/>
                <a:gd name="connsiteY2" fmla="*/ 722376 h 2112264"/>
                <a:gd name="connsiteX3" fmla="*/ 2258568 w 3739896"/>
                <a:gd name="connsiteY3" fmla="*/ 0 h 2112264"/>
                <a:gd name="connsiteX4" fmla="*/ 3017520 w 3739896"/>
                <a:gd name="connsiteY4" fmla="*/ 722376 h 2112264"/>
                <a:gd name="connsiteX5" fmla="*/ 3739896 w 3739896"/>
                <a:gd name="connsiteY5" fmla="*/ 1426464 h 2112264"/>
                <a:gd name="connsiteX6" fmla="*/ 3739896 w 3739896"/>
                <a:gd name="connsiteY6" fmla="*/ 2103120 h 2112264"/>
                <a:gd name="connsiteX7" fmla="*/ 0 w 3739896"/>
                <a:gd name="connsiteY7" fmla="*/ 2112264 h 2112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739896" h="2112264">
                  <a:moveTo>
                    <a:pt x="0" y="2112264"/>
                  </a:moveTo>
                  <a:lnTo>
                    <a:pt x="749808" y="1417320"/>
                  </a:lnTo>
                  <a:lnTo>
                    <a:pt x="1508760" y="722376"/>
                  </a:lnTo>
                  <a:lnTo>
                    <a:pt x="2258568" y="0"/>
                  </a:lnTo>
                  <a:lnTo>
                    <a:pt x="3017520" y="722376"/>
                  </a:lnTo>
                  <a:lnTo>
                    <a:pt x="3739896" y="1426464"/>
                  </a:lnTo>
                  <a:lnTo>
                    <a:pt x="3739896" y="2103120"/>
                  </a:lnTo>
                  <a:lnTo>
                    <a:pt x="0" y="2112264"/>
                  </a:lnTo>
                  <a:close/>
                </a:path>
              </a:pathLst>
            </a:custGeom>
            <a:gradFill>
              <a:gsLst>
                <a:gs pos="0">
                  <a:srgbClr val="66FFFF">
                    <a:alpha val="41000"/>
                  </a:srgbClr>
                </a:gs>
                <a:gs pos="100000">
                  <a:srgbClr val="66FFFF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64" name="자유형: 도형 63">
              <a:extLst>
                <a:ext uri="{FF2B5EF4-FFF2-40B4-BE49-F238E27FC236}">
                  <a16:creationId xmlns:a16="http://schemas.microsoft.com/office/drawing/2014/main" id="{0F16DAA9-0382-4FF1-BF15-8B7862189CE7}"/>
                </a:ext>
              </a:extLst>
            </p:cNvPr>
            <p:cNvSpPr/>
            <p:nvPr/>
          </p:nvSpPr>
          <p:spPr>
            <a:xfrm>
              <a:off x="363760" y="5153977"/>
              <a:ext cx="2997231" cy="1389984"/>
            </a:xfrm>
            <a:custGeom>
              <a:avLst/>
              <a:gdLst>
                <a:gd name="connsiteX0" fmla="*/ 0 w 2990088"/>
                <a:gd name="connsiteY0" fmla="*/ 1399032 h 1444752"/>
                <a:gd name="connsiteX1" fmla="*/ 1517904 w 2990088"/>
                <a:gd name="connsiteY1" fmla="*/ 0 h 1444752"/>
                <a:gd name="connsiteX2" fmla="*/ 2990088 w 2990088"/>
                <a:gd name="connsiteY2" fmla="*/ 1444752 h 1444752"/>
                <a:gd name="connsiteX3" fmla="*/ 0 w 2990088"/>
                <a:gd name="connsiteY3" fmla="*/ 1399032 h 1444752"/>
                <a:gd name="connsiteX0" fmla="*/ 0 w 2990088"/>
                <a:gd name="connsiteY0" fmla="*/ 1365695 h 1411415"/>
                <a:gd name="connsiteX1" fmla="*/ 1503617 w 2990088"/>
                <a:gd name="connsiteY1" fmla="*/ 0 h 1411415"/>
                <a:gd name="connsiteX2" fmla="*/ 2990088 w 2990088"/>
                <a:gd name="connsiteY2" fmla="*/ 1411415 h 1411415"/>
                <a:gd name="connsiteX3" fmla="*/ 0 w 2990088"/>
                <a:gd name="connsiteY3" fmla="*/ 1365695 h 1411415"/>
                <a:gd name="connsiteX0" fmla="*/ 0 w 2982944"/>
                <a:gd name="connsiteY0" fmla="*/ 1389508 h 1411415"/>
                <a:gd name="connsiteX1" fmla="*/ 1496473 w 2982944"/>
                <a:gd name="connsiteY1" fmla="*/ 0 h 1411415"/>
                <a:gd name="connsiteX2" fmla="*/ 2982944 w 2982944"/>
                <a:gd name="connsiteY2" fmla="*/ 1411415 h 1411415"/>
                <a:gd name="connsiteX3" fmla="*/ 0 w 2982944"/>
                <a:gd name="connsiteY3" fmla="*/ 1389508 h 1411415"/>
                <a:gd name="connsiteX0" fmla="*/ 0 w 2997231"/>
                <a:gd name="connsiteY0" fmla="*/ 1389508 h 1389984"/>
                <a:gd name="connsiteX1" fmla="*/ 1496473 w 2997231"/>
                <a:gd name="connsiteY1" fmla="*/ 0 h 1389984"/>
                <a:gd name="connsiteX2" fmla="*/ 2997231 w 2997231"/>
                <a:gd name="connsiteY2" fmla="*/ 1389984 h 1389984"/>
                <a:gd name="connsiteX3" fmla="*/ 0 w 2997231"/>
                <a:gd name="connsiteY3" fmla="*/ 1389508 h 1389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97231" h="1389984">
                  <a:moveTo>
                    <a:pt x="0" y="1389508"/>
                  </a:moveTo>
                  <a:lnTo>
                    <a:pt x="1496473" y="0"/>
                  </a:lnTo>
                  <a:lnTo>
                    <a:pt x="2997231" y="1389984"/>
                  </a:lnTo>
                  <a:lnTo>
                    <a:pt x="0" y="1389508"/>
                  </a:lnTo>
                  <a:close/>
                </a:path>
              </a:pathLst>
            </a:custGeom>
            <a:gradFill>
              <a:gsLst>
                <a:gs pos="0">
                  <a:srgbClr val="66FFFF">
                    <a:alpha val="41000"/>
                  </a:srgbClr>
                </a:gs>
                <a:gs pos="100000">
                  <a:srgbClr val="66FFFF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65" name="자유형: 도형 64">
              <a:extLst>
                <a:ext uri="{FF2B5EF4-FFF2-40B4-BE49-F238E27FC236}">
                  <a16:creationId xmlns:a16="http://schemas.microsoft.com/office/drawing/2014/main" id="{D323E324-A78F-46D5-918F-50D84ED6C641}"/>
                </a:ext>
              </a:extLst>
            </p:cNvPr>
            <p:cNvSpPr/>
            <p:nvPr/>
          </p:nvSpPr>
          <p:spPr>
            <a:xfrm>
              <a:off x="2595124" y="5832830"/>
              <a:ext cx="1499387" cy="724474"/>
            </a:xfrm>
            <a:custGeom>
              <a:avLst/>
              <a:gdLst>
                <a:gd name="connsiteX0" fmla="*/ 0 w 2990088"/>
                <a:gd name="connsiteY0" fmla="*/ 1399032 h 1444752"/>
                <a:gd name="connsiteX1" fmla="*/ 1517904 w 2990088"/>
                <a:gd name="connsiteY1" fmla="*/ 0 h 1444752"/>
                <a:gd name="connsiteX2" fmla="*/ 2990088 w 2990088"/>
                <a:gd name="connsiteY2" fmla="*/ 1444752 h 1444752"/>
                <a:gd name="connsiteX3" fmla="*/ 0 w 2990088"/>
                <a:gd name="connsiteY3" fmla="*/ 1399032 h 1444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90088" h="1444752">
                  <a:moveTo>
                    <a:pt x="0" y="1399032"/>
                  </a:moveTo>
                  <a:lnTo>
                    <a:pt x="1517904" y="0"/>
                  </a:lnTo>
                  <a:lnTo>
                    <a:pt x="2990088" y="1444752"/>
                  </a:lnTo>
                  <a:lnTo>
                    <a:pt x="0" y="1399032"/>
                  </a:lnTo>
                  <a:close/>
                </a:path>
              </a:pathLst>
            </a:custGeom>
            <a:gradFill>
              <a:gsLst>
                <a:gs pos="0">
                  <a:srgbClr val="66FFFF">
                    <a:alpha val="41000"/>
                  </a:srgbClr>
                </a:gs>
                <a:gs pos="100000">
                  <a:srgbClr val="66FFFF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  <p:sp>
        <p:nvSpPr>
          <p:cNvPr id="69" name="타원 68">
            <a:extLst>
              <a:ext uri="{FF2B5EF4-FFF2-40B4-BE49-F238E27FC236}">
                <a16:creationId xmlns:a16="http://schemas.microsoft.com/office/drawing/2014/main" id="{08C90F95-48B7-4B07-9B5C-47278389F460}"/>
              </a:ext>
            </a:extLst>
          </p:cNvPr>
          <p:cNvSpPr/>
          <p:nvPr/>
        </p:nvSpPr>
        <p:spPr>
          <a:xfrm>
            <a:off x="3307842" y="4408239"/>
            <a:ext cx="94527" cy="94527"/>
          </a:xfrm>
          <a:prstGeom prst="ellipse">
            <a:avLst/>
          </a:prstGeom>
          <a:solidFill>
            <a:srgbClr val="66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solidFill>
                <a:prstClr val="white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37D9E3-CFB0-B4D3-392E-EB0BB59875EF}"/>
              </a:ext>
            </a:extLst>
          </p:cNvPr>
          <p:cNvSpPr txBox="1"/>
          <p:nvPr/>
        </p:nvSpPr>
        <p:spPr>
          <a:xfrm>
            <a:off x="5286104" y="1284424"/>
            <a:ext cx="610339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5400" dirty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파이썬</a:t>
            </a:r>
            <a:endParaRPr lang="en-US" altLang="ko-KR" sz="5400" dirty="0"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ko-KR" altLang="en-US" sz="540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중급</a:t>
            </a:r>
            <a:r>
              <a:rPr lang="ko-KR" altLang="en-US"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과정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CD5073-5AFE-3DAE-DF88-DF3DFA677969}"/>
              </a:ext>
            </a:extLst>
          </p:cNvPr>
          <p:cNvSpPr txBox="1"/>
          <p:nvPr/>
        </p:nvSpPr>
        <p:spPr>
          <a:xfrm>
            <a:off x="5286104" y="3428999"/>
            <a:ext cx="610339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2026 MY PAUL SCHOOL </a:t>
            </a:r>
          </a:p>
          <a:p>
            <a:pPr algn="ctr"/>
            <a:r>
              <a:rPr lang="en-US" altLang="ko-KR" sz="18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PYTHON </a:t>
            </a:r>
            <a:r>
              <a:rPr lang="en-US" altLang="ko-KR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INTERMEDIATE</a:t>
            </a:r>
            <a:r>
              <a:rPr lang="en-US" altLang="ko-KR" sz="18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C</a:t>
            </a:r>
            <a:r>
              <a:rPr lang="en-US" altLang="ko-KR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LASS</a:t>
            </a:r>
            <a:endParaRPr lang="en-US" altLang="ko-KR" sz="18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pPr algn="ctr"/>
            <a:r>
              <a:rPr lang="en-US" altLang="ko-KR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CHOI JAE SEONG</a:t>
            </a:r>
            <a:endParaRPr lang="en-US" altLang="ko-KR" sz="18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40526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FF0B1E86-8EED-4ABD-BE12-DB3F55496EB0}"/>
              </a:ext>
            </a:extLst>
          </p:cNvPr>
          <p:cNvSpPr/>
          <p:nvPr/>
        </p:nvSpPr>
        <p:spPr>
          <a:xfrm rot="5400000" flipV="1">
            <a:off x="7038635" y="1705319"/>
            <a:ext cx="6858686" cy="3448048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14"/>
              <a:gd name="connsiteY0" fmla="*/ 27000 h 35000"/>
              <a:gd name="connsiteX1" fmla="*/ 10014 w 10014"/>
              <a:gd name="connsiteY1" fmla="*/ 0 h 35000"/>
              <a:gd name="connsiteX2" fmla="*/ 10000 w 10014"/>
              <a:gd name="connsiteY2" fmla="*/ 35000 h 35000"/>
              <a:gd name="connsiteX3" fmla="*/ 0 w 10014"/>
              <a:gd name="connsiteY3" fmla="*/ 35000 h 35000"/>
              <a:gd name="connsiteX4" fmla="*/ 0 w 10014"/>
              <a:gd name="connsiteY4" fmla="*/ 27000 h 35000"/>
              <a:gd name="connsiteX0" fmla="*/ 0 w 10001"/>
              <a:gd name="connsiteY0" fmla="*/ 27395 h 35395"/>
              <a:gd name="connsiteX1" fmla="*/ 10000 w 10001"/>
              <a:gd name="connsiteY1" fmla="*/ 0 h 35395"/>
              <a:gd name="connsiteX2" fmla="*/ 10000 w 10001"/>
              <a:gd name="connsiteY2" fmla="*/ 35395 h 35395"/>
              <a:gd name="connsiteX3" fmla="*/ 0 w 10001"/>
              <a:gd name="connsiteY3" fmla="*/ 35395 h 35395"/>
              <a:gd name="connsiteX4" fmla="*/ 0 w 10001"/>
              <a:gd name="connsiteY4" fmla="*/ 27395 h 35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1" h="35395">
                <a:moveTo>
                  <a:pt x="0" y="27395"/>
                </a:moveTo>
                <a:lnTo>
                  <a:pt x="10000" y="0"/>
                </a:lnTo>
                <a:cubicBezTo>
                  <a:pt x="9995" y="11667"/>
                  <a:pt x="10005" y="23728"/>
                  <a:pt x="10000" y="35395"/>
                </a:cubicBezTo>
                <a:lnTo>
                  <a:pt x="0" y="35395"/>
                </a:lnTo>
                <a:lnTo>
                  <a:pt x="0" y="27395"/>
                </a:lnTo>
                <a:close/>
              </a:path>
            </a:pathLst>
          </a:cu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E6CF24D-314C-4E08-AC41-BE6EADD5B415}"/>
              </a:ext>
            </a:extLst>
          </p:cNvPr>
          <p:cNvSpPr/>
          <p:nvPr/>
        </p:nvSpPr>
        <p:spPr>
          <a:xfrm>
            <a:off x="1219200" y="442912"/>
            <a:ext cx="9753600" cy="5972175"/>
          </a:xfrm>
          <a:prstGeom prst="roundRect">
            <a:avLst>
              <a:gd name="adj" fmla="val 4705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82000">
                <a:schemeClr val="bg1"/>
              </a:gs>
              <a:gs pos="84000">
                <a:srgbClr val="9DD1FB"/>
              </a:gs>
            </a:gsLst>
            <a:lin ang="126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defRPr/>
            </a:pPr>
            <a:endParaRPr lang="en-US" altLang="ko-KR" sz="4400" b="1" i="1" kern="0" dirty="0">
              <a:solidFill>
                <a:srgbClr val="44546A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A79AF3E-8830-AE22-A9F8-F1675930F293}"/>
              </a:ext>
            </a:extLst>
          </p:cNvPr>
          <p:cNvSpPr txBox="1"/>
          <p:nvPr/>
        </p:nvSpPr>
        <p:spPr>
          <a:xfrm>
            <a:off x="1519469" y="1820131"/>
            <a:ext cx="86720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altLang="ko-KR" sz="4800" b="1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Array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FB557DE-FD49-3860-3838-69387BA332BA}"/>
              </a:ext>
            </a:extLst>
          </p:cNvPr>
          <p:cNvSpPr txBox="1"/>
          <p:nvPr/>
        </p:nvSpPr>
        <p:spPr>
          <a:xfrm>
            <a:off x="1519470" y="1112245"/>
            <a:ext cx="61033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000" b="1" dirty="0">
                <a:solidFill>
                  <a:srgbClr val="73BEF6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Chapter 09</a:t>
            </a:r>
            <a:endParaRPr lang="ko-KR" altLang="en-US" sz="4000" dirty="0">
              <a:solidFill>
                <a:srgbClr val="2CA0F6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9ED954E-9B8B-BFDA-FAB2-B3FAE5DFD440}"/>
              </a:ext>
            </a:extLst>
          </p:cNvPr>
          <p:cNvSpPr txBox="1"/>
          <p:nvPr/>
        </p:nvSpPr>
        <p:spPr>
          <a:xfrm>
            <a:off x="1519471" y="5437978"/>
            <a:ext cx="74661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본 </a:t>
            </a:r>
            <a:r>
              <a:rPr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강의교안에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사용된 일부 그림의 저작권은 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김종훈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, 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김동건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과 </a:t>
            </a:r>
            <a:r>
              <a:rPr lang="ko-KR" altLang="en-US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한빛아카데미㈜</a:t>
            </a:r>
            <a:r>
              <a:rPr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에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있습니다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.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38DA91F-DDCB-AD08-3526-2F1A064B66B8}"/>
              </a:ext>
            </a:extLst>
          </p:cNvPr>
          <p:cNvSpPr txBox="1"/>
          <p:nvPr/>
        </p:nvSpPr>
        <p:spPr>
          <a:xfrm>
            <a:off x="1519470" y="5770121"/>
            <a:ext cx="79923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본 자료에는 인터넷에서 다운받아 사용한 그림이나 수식들이 일부 있으니 학습 외 다른 용도로 사용하거나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외부로 유출을 금해주시기 바랍니다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. 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BD08FD-B56C-7EF2-C92A-85CB6F9491CE}"/>
              </a:ext>
            </a:extLst>
          </p:cNvPr>
          <p:cNvSpPr txBox="1"/>
          <p:nvPr/>
        </p:nvSpPr>
        <p:spPr>
          <a:xfrm>
            <a:off x="1519468" y="2651128"/>
            <a:ext cx="31753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p.406 -</a:t>
            </a:r>
          </a:p>
        </p:txBody>
      </p:sp>
    </p:spTree>
    <p:extLst>
      <p:ext uri="{BB962C8B-B14F-4D97-AF65-F5344CB8AC3E}">
        <p14:creationId xmlns:p14="http://schemas.microsoft.com/office/powerpoint/2010/main" val="1318767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FF0B1E86-8EED-4ABD-BE12-DB3F55496EB0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E6CF24D-314C-4E08-AC41-BE6EADD5B415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4BAE31-2D86-E093-DB02-6DDA040B8148}"/>
              </a:ext>
            </a:extLst>
          </p:cNvPr>
          <p:cNvSpPr txBox="1"/>
          <p:nvPr/>
        </p:nvSpPr>
        <p:spPr>
          <a:xfrm>
            <a:off x="782624" y="1289798"/>
            <a:ext cx="61033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000" b="1" dirty="0">
                <a:solidFill>
                  <a:srgbClr val="73BEF6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CONTENTS</a:t>
            </a:r>
            <a:endParaRPr lang="ko-KR" altLang="en-US" sz="4000" dirty="0">
              <a:solidFill>
                <a:srgbClr val="2CA0F6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9428A6-7E52-039D-B855-D2F802FCD221}"/>
              </a:ext>
            </a:extLst>
          </p:cNvPr>
          <p:cNvSpPr txBox="1"/>
          <p:nvPr/>
        </p:nvSpPr>
        <p:spPr>
          <a:xfrm>
            <a:off x="1759952" y="2104726"/>
            <a:ext cx="86720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b="1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Numpy</a:t>
            </a:r>
            <a:r>
              <a:rPr lang="ko-KR" altLang="en-US" sz="2800" b="1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배열</a:t>
            </a:r>
            <a:endParaRPr lang="en-US" altLang="ko-KR" sz="28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AEB637-AE02-0604-3333-825B85A047F4}"/>
              </a:ext>
            </a:extLst>
          </p:cNvPr>
          <p:cNvSpPr txBox="1"/>
          <p:nvPr/>
        </p:nvSpPr>
        <p:spPr>
          <a:xfrm>
            <a:off x="873574" y="2104726"/>
            <a:ext cx="8863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b="1" dirty="0">
                <a:solidFill>
                  <a:srgbClr val="63D1CD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9.1</a:t>
            </a:r>
            <a:endParaRPr lang="ko-KR" altLang="en-US" sz="2800" dirty="0">
              <a:solidFill>
                <a:srgbClr val="63D1CD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9BD61D-5685-D1D2-08CE-FD1B45FE6BB2}"/>
              </a:ext>
            </a:extLst>
          </p:cNvPr>
          <p:cNvSpPr txBox="1"/>
          <p:nvPr/>
        </p:nvSpPr>
        <p:spPr>
          <a:xfrm>
            <a:off x="1759952" y="2919576"/>
            <a:ext cx="86720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배열 활용</a:t>
            </a:r>
            <a:endParaRPr lang="en-US" altLang="ko-KR" sz="28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FBAEC9-7590-023E-98F0-EC6F6A803E37}"/>
              </a:ext>
            </a:extLst>
          </p:cNvPr>
          <p:cNvSpPr txBox="1"/>
          <p:nvPr/>
        </p:nvSpPr>
        <p:spPr>
          <a:xfrm>
            <a:off x="873574" y="2919576"/>
            <a:ext cx="8863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b="1" dirty="0">
                <a:solidFill>
                  <a:srgbClr val="63D1CD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9.2</a:t>
            </a:r>
            <a:endParaRPr lang="ko-KR" altLang="en-US" sz="2800" dirty="0">
              <a:solidFill>
                <a:srgbClr val="63D1CD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FA8ACC2-C2A2-1F10-B166-A1E51BC1E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3775" y="4480610"/>
            <a:ext cx="2069867" cy="1789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44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D8967-33E3-2CFC-52E3-C8A02F1AB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각 삼각형 24">
            <a:extLst>
              <a:ext uri="{FF2B5EF4-FFF2-40B4-BE49-F238E27FC236}">
                <a16:creationId xmlns:a16="http://schemas.microsoft.com/office/drawing/2014/main" id="{AECDD8F4-2DFE-B3CE-58FD-E5061DD8DFA2}"/>
              </a:ext>
            </a:extLst>
          </p:cNvPr>
          <p:cNvSpPr/>
          <p:nvPr/>
        </p:nvSpPr>
        <p:spPr>
          <a:xfrm>
            <a:off x="-1" y="6077527"/>
            <a:ext cx="760522" cy="780473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4045462-7318-E981-7AE1-9CEF54262349}"/>
              </a:ext>
            </a:extLst>
          </p:cNvPr>
          <p:cNvSpPr/>
          <p:nvPr/>
        </p:nvSpPr>
        <p:spPr>
          <a:xfrm>
            <a:off x="391357" y="210845"/>
            <a:ext cx="11409286" cy="6436310"/>
          </a:xfrm>
          <a:prstGeom prst="roundRect">
            <a:avLst>
              <a:gd name="adj" fmla="val 10046"/>
            </a:avLst>
          </a:prstGeom>
          <a:solidFill>
            <a:srgbClr val="9DD1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2917A2C-1CCA-091D-443A-C45921ADD6D1}"/>
              </a:ext>
            </a:extLst>
          </p:cNvPr>
          <p:cNvSpPr/>
          <p:nvPr/>
        </p:nvSpPr>
        <p:spPr>
          <a:xfrm>
            <a:off x="537839" y="326254"/>
            <a:ext cx="11116322" cy="6205491"/>
          </a:xfrm>
          <a:prstGeom prst="roundRect">
            <a:avLst>
              <a:gd name="adj" fmla="val 91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8E4818-5B25-1145-7DDA-9C3BBC9A327F}"/>
              </a:ext>
            </a:extLst>
          </p:cNvPr>
          <p:cNvSpPr txBox="1"/>
          <p:nvPr/>
        </p:nvSpPr>
        <p:spPr>
          <a:xfrm>
            <a:off x="4001565" y="2305614"/>
            <a:ext cx="41888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solidFill>
                  <a:schemeClr val="accent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01</a:t>
            </a:r>
            <a:endParaRPr lang="ko-KR" altLang="en-US" sz="4000" dirty="0">
              <a:solidFill>
                <a:schemeClr val="accent2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87006D-8390-3593-1A71-13EAFF530AC6}"/>
              </a:ext>
            </a:extLst>
          </p:cNvPr>
          <p:cNvSpPr txBox="1"/>
          <p:nvPr/>
        </p:nvSpPr>
        <p:spPr>
          <a:xfrm>
            <a:off x="2607771" y="3013500"/>
            <a:ext cx="69764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ko-KR" sz="48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Numpy </a:t>
            </a:r>
            <a:r>
              <a:rPr lang="ko-KR" altLang="en-US" sz="48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배열</a:t>
            </a:r>
            <a:endParaRPr lang="it-IT" altLang="ko-KR" sz="48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9937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32056-B611-F7E9-ECCC-F0D996EAB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6B2276D6-1FBB-D342-8124-8E8A38DB4969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042323D-74A9-8350-81ED-0BAAEBB3F3E5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A6A3C7-6AF8-DD53-47B4-41A2ECADBC9E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01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9EE2EF-3BD4-0DD6-B843-CAE247989950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 err="1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Numpy</a:t>
            </a:r>
            <a:endParaRPr lang="ko-KR" altLang="en-US" sz="28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2E925C-7EE4-272C-7A89-75FEE892DFE9}"/>
              </a:ext>
            </a:extLst>
          </p:cNvPr>
          <p:cNvSpPr txBox="1"/>
          <p:nvPr/>
        </p:nvSpPr>
        <p:spPr>
          <a:xfrm>
            <a:off x="943358" y="1170429"/>
            <a:ext cx="3016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Numpy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8FC2A4B8-08C5-426D-0A77-90EC599078BE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0B1BF65F-2AC7-35B7-0066-BC268300F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4" name="모서리가 둥근 직사각형 10">
            <a:extLst>
              <a:ext uri="{FF2B5EF4-FFF2-40B4-BE49-F238E27FC236}">
                <a16:creationId xmlns:a16="http://schemas.microsoft.com/office/drawing/2014/main" id="{A90DA3B9-7CB8-9B08-6C8F-826E54A17AA7}"/>
              </a:ext>
            </a:extLst>
          </p:cNvPr>
          <p:cNvSpPr/>
          <p:nvPr/>
        </p:nvSpPr>
        <p:spPr>
          <a:xfrm>
            <a:off x="1017127" y="2805480"/>
            <a:ext cx="10244830" cy="833318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rgbClr val="7030A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import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numpy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</a:t>
            </a:r>
            <a:r>
              <a:rPr lang="en-US" altLang="ko-KR" sz="2400" dirty="0">
                <a:solidFill>
                  <a:srgbClr val="7030A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as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np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81E83B-9735-3782-91BD-BFB14FB378A2}"/>
              </a:ext>
            </a:extLst>
          </p:cNvPr>
          <p:cNvSpPr txBox="1"/>
          <p:nvPr/>
        </p:nvSpPr>
        <p:spPr>
          <a:xfrm>
            <a:off x="838500" y="1633928"/>
            <a:ext cx="9717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en-US" altLang="ko-KR" sz="200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Num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erical </a:t>
            </a:r>
            <a:r>
              <a:rPr lang="en-US" altLang="ko-KR" sz="200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Py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thon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으로 </a:t>
            </a:r>
            <a:r>
              <a:rPr lang="ko-KR" altLang="en-US" sz="2000" dirty="0">
                <a:highlight>
                  <a:srgbClr val="FFFF00"/>
                </a:highlight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수치 계산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을 위해 만들어진 파이썬 라이브러리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C144BE-D36F-D67C-CB0B-D9C260635885}"/>
              </a:ext>
            </a:extLst>
          </p:cNvPr>
          <p:cNvSpPr txBox="1"/>
          <p:nvPr/>
        </p:nvSpPr>
        <p:spPr>
          <a:xfrm>
            <a:off x="831438" y="2114842"/>
            <a:ext cx="9717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'</a:t>
            </a:r>
            <a:r>
              <a:rPr lang="ko-KR" altLang="en-US" sz="20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넘파이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배열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</a:t>
            </a:r>
            <a:r>
              <a:rPr lang="en-US" altLang="ko-KR" sz="20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ndarray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)'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이라는 자료구조를 사용</a:t>
            </a:r>
          </a:p>
        </p:txBody>
      </p:sp>
    </p:spTree>
    <p:extLst>
      <p:ext uri="{BB962C8B-B14F-4D97-AF65-F5344CB8AC3E}">
        <p14:creationId xmlns:p14="http://schemas.microsoft.com/office/powerpoint/2010/main" val="4081440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18B52-D2FD-C7FD-EDAE-3B5C648BE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1E4D6FCD-885D-1410-9221-C8872F12BD1C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D2BDF0E-3F72-C05A-653D-D2F1AFC8D61A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DD4D7D-FFE8-A60A-91E1-9337E882AA16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01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DBC672-DF69-4C20-F0AB-A995AFCF6E9B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 err="1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Numpy</a:t>
            </a:r>
            <a:endParaRPr lang="ko-KR" altLang="en-US" sz="28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1D024B-DE10-4CB2-A515-FD635B4A41DA}"/>
              </a:ext>
            </a:extLst>
          </p:cNvPr>
          <p:cNvSpPr txBox="1"/>
          <p:nvPr/>
        </p:nvSpPr>
        <p:spPr>
          <a:xfrm>
            <a:off x="943358" y="1170429"/>
            <a:ext cx="3016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Numpy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7CFF35F2-CEE1-90E2-6C03-F349B9453A2A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8FDAB358-199D-7732-EE0F-86778DCA0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1A6B36F-D726-C167-023C-CD4FBA441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5" y="1759044"/>
            <a:ext cx="6191250" cy="444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609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F26C1-9F5D-6FCB-A5A9-E3C884A8A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A84E09E7-588A-79A7-838C-DE2FE15DFF7A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25B6427-A988-9B21-1E59-BE56C2CA0879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958239-229D-9EE9-1347-097851C39940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02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DAA57A-966F-7B1A-55BE-41EBD48C1F38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배열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F4D39F-1653-E563-3EBE-A2B277F12034}"/>
              </a:ext>
            </a:extLst>
          </p:cNvPr>
          <p:cNvSpPr txBox="1"/>
          <p:nvPr/>
        </p:nvSpPr>
        <p:spPr>
          <a:xfrm>
            <a:off x="943358" y="1170429"/>
            <a:ext cx="3016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차원 배열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256427FD-8EAF-B2D9-F3B1-C1528202217F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21DD8B4B-257D-D556-4003-0F8E0892A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10" name="모서리가 둥근 직사각형 10">
            <a:extLst>
              <a:ext uri="{FF2B5EF4-FFF2-40B4-BE49-F238E27FC236}">
                <a16:creationId xmlns:a16="http://schemas.microsoft.com/office/drawing/2014/main" id="{4C32178E-26A4-3106-9009-7A4245FBB935}"/>
              </a:ext>
            </a:extLst>
          </p:cNvPr>
          <p:cNvSpPr/>
          <p:nvPr/>
        </p:nvSpPr>
        <p:spPr>
          <a:xfrm>
            <a:off x="973585" y="1904807"/>
            <a:ext cx="10244830" cy="2038839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rgbClr val="7030A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import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numpy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</a:t>
            </a:r>
            <a:r>
              <a:rPr lang="en-US" altLang="ko-KR" sz="2400" dirty="0">
                <a:solidFill>
                  <a:srgbClr val="7030A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as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np</a:t>
            </a:r>
          </a:p>
          <a:p>
            <a:endParaRPr lang="en-US" altLang="ko-KR" sz="24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arr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= </a:t>
            </a:r>
            <a:r>
              <a:rPr lang="en-US" altLang="ko-KR" sz="2400" dirty="0" err="1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np.array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([1, 2, 3, 4, 5])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print(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arr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) </a:t>
            </a:r>
          </a:p>
        </p:txBody>
      </p:sp>
      <p:sp>
        <p:nvSpPr>
          <p:cNvPr id="12" name="모서리가 둥근 직사각형 10">
            <a:extLst>
              <a:ext uri="{FF2B5EF4-FFF2-40B4-BE49-F238E27FC236}">
                <a16:creationId xmlns:a16="http://schemas.microsoft.com/office/drawing/2014/main" id="{25BA094F-DB2E-894B-40B7-2F9A391654C9}"/>
              </a:ext>
            </a:extLst>
          </p:cNvPr>
          <p:cNvSpPr/>
          <p:nvPr/>
        </p:nvSpPr>
        <p:spPr>
          <a:xfrm>
            <a:off x="973585" y="4177822"/>
            <a:ext cx="10244830" cy="2038839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print(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arr</a:t>
            </a:r>
            <a:r>
              <a:rPr lang="en-US" altLang="ko-KR" sz="2400" dirty="0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[1]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)   # </a:t>
            </a:r>
            <a:r>
              <a:rPr lang="ko-KR" altLang="en-US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인덱싱</a:t>
            </a:r>
            <a:endParaRPr lang="en-US" altLang="ko-KR" sz="24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print(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arr</a:t>
            </a:r>
            <a:r>
              <a:rPr lang="en-US" altLang="ko-KR" sz="2400" dirty="0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[1:4]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) # </a:t>
            </a:r>
            <a:r>
              <a:rPr lang="ko-KR" altLang="en-US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슬라이싱</a:t>
            </a:r>
            <a:endParaRPr lang="en-US" altLang="ko-KR" sz="24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endParaRPr lang="en-US" altLang="ko-KR" sz="24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400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2</a:t>
            </a:r>
          </a:p>
          <a:p>
            <a:r>
              <a:rPr lang="en-US" altLang="ko-KR" sz="2400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[2 3 4]</a:t>
            </a:r>
          </a:p>
        </p:txBody>
      </p:sp>
    </p:spTree>
    <p:extLst>
      <p:ext uri="{BB962C8B-B14F-4D97-AF65-F5344CB8AC3E}">
        <p14:creationId xmlns:p14="http://schemas.microsoft.com/office/powerpoint/2010/main" val="2316429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87F39-5D81-6C92-B039-3E22133CC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9616372E-0C2A-4B04-B2FF-BE34FA00ECCC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C27A8B6-F868-359A-BC67-CAEC98EA2DDC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ABF587-C96B-3CA8-8DD5-EE2684E8223C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※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681A5C-F0D2-263C-4A14-173C4E227268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Index</a:t>
            </a:r>
            <a:endParaRPr lang="ko-KR" altLang="en-US" sz="28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23C1B6-D430-4A26-9BAF-08BF17FA4C44}"/>
              </a:ext>
            </a:extLst>
          </p:cNvPr>
          <p:cNvSpPr txBox="1"/>
          <p:nvPr/>
        </p:nvSpPr>
        <p:spPr>
          <a:xfrm>
            <a:off x="943358" y="1170429"/>
            <a:ext cx="3016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인덱스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C67BE742-15FB-A5BB-9807-1497705D60FA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988AD6F4-F9D7-2F88-97A8-730ABAF93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FB03EA7-0C83-7A5E-42F5-F3240640AAC9}"/>
              </a:ext>
            </a:extLst>
          </p:cNvPr>
          <p:cNvSpPr txBox="1"/>
          <p:nvPr/>
        </p:nvSpPr>
        <p:spPr>
          <a:xfrm>
            <a:off x="838499" y="1633928"/>
            <a:ext cx="106492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인덱스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는 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‘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원소 자체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’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를 가리키는 것이 아니라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2000" dirty="0">
                <a:solidFill>
                  <a:srgbClr val="00B050"/>
                </a:solidFill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원소</a:t>
            </a:r>
            <a:r>
              <a:rPr lang="ko-KR" altLang="en-US" sz="2000" dirty="0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와 </a:t>
            </a:r>
            <a:r>
              <a:rPr lang="ko-KR" altLang="en-US" sz="2000" dirty="0">
                <a:solidFill>
                  <a:srgbClr val="00B050"/>
                </a:solidFill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원소 사이</a:t>
            </a:r>
            <a:r>
              <a:rPr lang="ko-KR" altLang="en-US" sz="2000" dirty="0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의 </a:t>
            </a:r>
            <a:r>
              <a:rPr lang="ko-KR" altLang="en-US" sz="2000" dirty="0">
                <a:solidFill>
                  <a:srgbClr val="FF0000"/>
                </a:solidFill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경계선</a:t>
            </a:r>
            <a:r>
              <a:rPr lang="en-US" altLang="ko-KR" sz="2000" dirty="0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</a:t>
            </a:r>
            <a:r>
              <a:rPr lang="ko-KR" altLang="en-US" sz="2000" dirty="0">
                <a:solidFill>
                  <a:srgbClr val="FF0000"/>
                </a:solidFill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갈림길</a:t>
            </a:r>
            <a:r>
              <a:rPr lang="en-US" altLang="ko-KR" sz="2000" dirty="0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)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이라고 생각하면 편함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152659C-8CC8-FCC5-F2DC-8B93F7F2B12C}"/>
              </a:ext>
            </a:extLst>
          </p:cNvPr>
          <p:cNvSpPr/>
          <p:nvPr/>
        </p:nvSpPr>
        <p:spPr>
          <a:xfrm>
            <a:off x="3241786" y="2531526"/>
            <a:ext cx="710213" cy="72796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tx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A</a:t>
            </a:r>
            <a:endParaRPr lang="ko-KR" altLang="en-US" sz="3200" dirty="0">
              <a:solidFill>
                <a:schemeClr val="tx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11D74DC-0E46-54FF-1FA3-412429D17806}"/>
              </a:ext>
            </a:extLst>
          </p:cNvPr>
          <p:cNvSpPr/>
          <p:nvPr/>
        </p:nvSpPr>
        <p:spPr>
          <a:xfrm>
            <a:off x="4393008" y="2531526"/>
            <a:ext cx="710213" cy="72796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tx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B</a:t>
            </a:r>
            <a:endParaRPr lang="ko-KR" altLang="en-US" sz="3200" dirty="0">
              <a:solidFill>
                <a:schemeClr val="tx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44218589-ECDE-B0AE-FA43-3BB52D45767E}"/>
              </a:ext>
            </a:extLst>
          </p:cNvPr>
          <p:cNvCxnSpPr>
            <a:cxnSpLocks/>
          </p:cNvCxnSpPr>
          <p:nvPr/>
        </p:nvCxnSpPr>
        <p:spPr>
          <a:xfrm>
            <a:off x="4172503" y="2398157"/>
            <a:ext cx="0" cy="994706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A8F3FAA9-7982-9633-A90F-F50A001C5A86}"/>
              </a:ext>
            </a:extLst>
          </p:cNvPr>
          <p:cNvCxnSpPr>
            <a:cxnSpLocks/>
          </p:cNvCxnSpPr>
          <p:nvPr/>
        </p:nvCxnSpPr>
        <p:spPr>
          <a:xfrm>
            <a:off x="3019886" y="2398157"/>
            <a:ext cx="0" cy="994706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CB7FA72-4ACB-633E-FA15-3FE9528E639B}"/>
              </a:ext>
            </a:extLst>
          </p:cNvPr>
          <p:cNvSpPr/>
          <p:nvPr/>
        </p:nvSpPr>
        <p:spPr>
          <a:xfrm>
            <a:off x="5551532" y="2521498"/>
            <a:ext cx="710213" cy="72796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tx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</a:t>
            </a:r>
            <a:endParaRPr lang="ko-KR" altLang="en-US" sz="3200" dirty="0">
              <a:solidFill>
                <a:schemeClr val="tx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7C9C4C8-5CB4-510D-4DB4-4948FA648FB5}"/>
              </a:ext>
            </a:extLst>
          </p:cNvPr>
          <p:cNvSpPr/>
          <p:nvPr/>
        </p:nvSpPr>
        <p:spPr>
          <a:xfrm>
            <a:off x="6702754" y="2521498"/>
            <a:ext cx="710213" cy="72796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tx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</a:t>
            </a:r>
            <a:endParaRPr lang="ko-KR" altLang="en-US" sz="3200" dirty="0">
              <a:solidFill>
                <a:schemeClr val="tx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4A0069B3-75F9-7204-C4BE-E41F13300D2C}"/>
              </a:ext>
            </a:extLst>
          </p:cNvPr>
          <p:cNvCxnSpPr>
            <a:cxnSpLocks/>
          </p:cNvCxnSpPr>
          <p:nvPr/>
        </p:nvCxnSpPr>
        <p:spPr>
          <a:xfrm>
            <a:off x="6482249" y="2388129"/>
            <a:ext cx="0" cy="994706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3B6846D2-E9B4-CE2C-5A72-2D220A364C8C}"/>
              </a:ext>
            </a:extLst>
          </p:cNvPr>
          <p:cNvCxnSpPr>
            <a:cxnSpLocks/>
          </p:cNvCxnSpPr>
          <p:nvPr/>
        </p:nvCxnSpPr>
        <p:spPr>
          <a:xfrm>
            <a:off x="5329632" y="2388129"/>
            <a:ext cx="0" cy="994706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C814385-8F40-FF9E-96CE-86D250A37D8F}"/>
              </a:ext>
            </a:extLst>
          </p:cNvPr>
          <p:cNvSpPr/>
          <p:nvPr/>
        </p:nvSpPr>
        <p:spPr>
          <a:xfrm>
            <a:off x="7889669" y="2521498"/>
            <a:ext cx="710213" cy="72796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tx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E</a:t>
            </a:r>
            <a:endParaRPr lang="ko-KR" altLang="en-US" sz="3200" dirty="0">
              <a:solidFill>
                <a:schemeClr val="tx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88F4D1B3-082B-8AF2-1B2D-3DF86D177272}"/>
              </a:ext>
            </a:extLst>
          </p:cNvPr>
          <p:cNvCxnSpPr>
            <a:cxnSpLocks/>
          </p:cNvCxnSpPr>
          <p:nvPr/>
        </p:nvCxnSpPr>
        <p:spPr>
          <a:xfrm>
            <a:off x="8820386" y="2388129"/>
            <a:ext cx="0" cy="994706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5FE9070E-0E9F-07E8-371C-A2F3E90B40A5}"/>
              </a:ext>
            </a:extLst>
          </p:cNvPr>
          <p:cNvCxnSpPr>
            <a:cxnSpLocks/>
          </p:cNvCxnSpPr>
          <p:nvPr/>
        </p:nvCxnSpPr>
        <p:spPr>
          <a:xfrm>
            <a:off x="7667769" y="2388129"/>
            <a:ext cx="0" cy="994706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3F9BF9BA-AB64-A7D2-686D-D2AB17B17909}"/>
              </a:ext>
            </a:extLst>
          </p:cNvPr>
          <p:cNvSpPr txBox="1"/>
          <p:nvPr/>
        </p:nvSpPr>
        <p:spPr>
          <a:xfrm>
            <a:off x="2832395" y="3434963"/>
            <a:ext cx="649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FF0000"/>
                </a:solidFill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0</a:t>
            </a:r>
            <a:endParaRPr lang="ko-KR" altLang="en-US" sz="2400" dirty="0">
              <a:solidFill>
                <a:srgbClr val="FF0000"/>
              </a:solidFill>
              <a:highlight>
                <a:srgbClr val="FFFF00"/>
              </a:highligh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3AD0A92-9CA4-5F53-0D08-5A9FC27FB3E8}"/>
              </a:ext>
            </a:extLst>
          </p:cNvPr>
          <p:cNvSpPr txBox="1"/>
          <p:nvPr/>
        </p:nvSpPr>
        <p:spPr>
          <a:xfrm>
            <a:off x="4007815" y="3419740"/>
            <a:ext cx="649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FF0000"/>
                </a:solidFill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</a:t>
            </a:r>
            <a:endParaRPr lang="ko-KR" altLang="en-US" sz="2400" dirty="0">
              <a:solidFill>
                <a:srgbClr val="FF0000"/>
              </a:solidFill>
              <a:highlight>
                <a:srgbClr val="FFFF00"/>
              </a:highligh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5D5798E-1981-BC5E-560B-184754F59994}"/>
              </a:ext>
            </a:extLst>
          </p:cNvPr>
          <p:cNvSpPr txBox="1"/>
          <p:nvPr/>
        </p:nvSpPr>
        <p:spPr>
          <a:xfrm>
            <a:off x="5125768" y="3430607"/>
            <a:ext cx="649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FF0000"/>
                </a:solidFill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2</a:t>
            </a:r>
            <a:endParaRPr lang="ko-KR" altLang="en-US" sz="2400" dirty="0">
              <a:solidFill>
                <a:srgbClr val="FF0000"/>
              </a:solidFill>
              <a:highlight>
                <a:srgbClr val="FFFF00"/>
              </a:highligh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0892017-03C0-EC77-9172-1641DCBB0855}"/>
              </a:ext>
            </a:extLst>
          </p:cNvPr>
          <p:cNvSpPr txBox="1"/>
          <p:nvPr/>
        </p:nvSpPr>
        <p:spPr>
          <a:xfrm>
            <a:off x="6279408" y="3430607"/>
            <a:ext cx="649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FF0000"/>
                </a:solidFill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3</a:t>
            </a:r>
            <a:endParaRPr lang="ko-KR" altLang="en-US" sz="2400" dirty="0">
              <a:solidFill>
                <a:srgbClr val="FF0000"/>
              </a:solidFill>
              <a:highlight>
                <a:srgbClr val="FFFF00"/>
              </a:highligh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CB3202C-B8BC-7137-3B5A-5F4BD2386153}"/>
              </a:ext>
            </a:extLst>
          </p:cNvPr>
          <p:cNvSpPr txBox="1"/>
          <p:nvPr/>
        </p:nvSpPr>
        <p:spPr>
          <a:xfrm>
            <a:off x="7472891" y="3430607"/>
            <a:ext cx="649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FF0000"/>
                </a:solidFill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4</a:t>
            </a:r>
            <a:endParaRPr lang="ko-KR" altLang="en-US" sz="2400" dirty="0">
              <a:solidFill>
                <a:srgbClr val="FF0000"/>
              </a:solidFill>
              <a:highlight>
                <a:srgbClr val="FFFF00"/>
              </a:highligh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5875415-AEEB-CDC8-01C6-5E9B5DF9463B}"/>
              </a:ext>
            </a:extLst>
          </p:cNvPr>
          <p:cNvSpPr txBox="1"/>
          <p:nvPr/>
        </p:nvSpPr>
        <p:spPr>
          <a:xfrm>
            <a:off x="8630194" y="3430607"/>
            <a:ext cx="649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FF0000"/>
                </a:solidFill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5</a:t>
            </a:r>
            <a:endParaRPr lang="ko-KR" altLang="en-US" sz="2400" dirty="0">
              <a:solidFill>
                <a:srgbClr val="FF0000"/>
              </a:solidFill>
              <a:highlight>
                <a:srgbClr val="FFFF00"/>
              </a:highligh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278FFCD-478E-74AD-3EE1-CAB8F6D2589B}"/>
              </a:ext>
            </a:extLst>
          </p:cNvPr>
          <p:cNvSpPr txBox="1"/>
          <p:nvPr/>
        </p:nvSpPr>
        <p:spPr>
          <a:xfrm>
            <a:off x="838499" y="4249752"/>
            <a:ext cx="106492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슬라이싱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결과로 나오는 원소의 개수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끝 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- 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시작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16F8E2D-081D-B114-3604-9F35A556DACB}"/>
              </a:ext>
            </a:extLst>
          </p:cNvPr>
          <p:cNvSpPr txBox="1"/>
          <p:nvPr/>
        </p:nvSpPr>
        <p:spPr>
          <a:xfrm>
            <a:off x="1058061" y="4692502"/>
            <a:ext cx="106492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a[1:4]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라면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4 – 1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즉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원소의 개수는 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3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개가 됨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07DF522-2BCD-4741-93B8-A8CE2E8E9A73}"/>
              </a:ext>
            </a:extLst>
          </p:cNvPr>
          <p:cNvSpPr txBox="1"/>
          <p:nvPr/>
        </p:nvSpPr>
        <p:spPr>
          <a:xfrm>
            <a:off x="831438" y="5297553"/>
            <a:ext cx="106492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데이터를 쪼갤 때 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경계선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 딱 맞물림</a:t>
            </a:r>
            <a:endParaRPr lang="ko-KR" altLang="en-US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D733F65-C12D-7286-8D65-CF9EB314FC78}"/>
              </a:ext>
            </a:extLst>
          </p:cNvPr>
          <p:cNvSpPr txBox="1"/>
          <p:nvPr/>
        </p:nvSpPr>
        <p:spPr>
          <a:xfrm>
            <a:off x="1058061" y="5672877"/>
            <a:ext cx="106492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a[0:3], a[3:6], a[6:9] (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앞 구간의 끝 번호가 다음 구간의 시작 번호가 됨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18577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5C3B9-58F7-4094-1FD8-B30D107C3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629F8DE4-0D4D-E51A-E03F-C1543DD5F22A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D07D9E3-1E90-7980-46C2-F1FA7794D3CF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DC6B30-D9E5-62DA-BC24-DBC6114ED771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02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D26682-9504-FF17-A3E2-262034B6C585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배열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0DBAC7-1B1D-4E43-3406-00022D526989}"/>
              </a:ext>
            </a:extLst>
          </p:cNvPr>
          <p:cNvSpPr txBox="1"/>
          <p:nvPr/>
        </p:nvSpPr>
        <p:spPr>
          <a:xfrm>
            <a:off x="943358" y="1170429"/>
            <a:ext cx="3016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차원 배열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642DD4B4-793D-5B17-132C-BA596EA1A5FB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8595BD8C-3A30-2484-A6AF-7077B955C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10" name="모서리가 둥근 직사각형 10">
            <a:extLst>
              <a:ext uri="{FF2B5EF4-FFF2-40B4-BE49-F238E27FC236}">
                <a16:creationId xmlns:a16="http://schemas.microsoft.com/office/drawing/2014/main" id="{377C41BA-CDD4-EED5-4AF8-FF30C59A2CE6}"/>
              </a:ext>
            </a:extLst>
          </p:cNvPr>
          <p:cNvSpPr/>
          <p:nvPr/>
        </p:nvSpPr>
        <p:spPr>
          <a:xfrm>
            <a:off x="973585" y="1904807"/>
            <a:ext cx="10244830" cy="2038839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rgbClr val="7030A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import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numpy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</a:t>
            </a:r>
            <a:r>
              <a:rPr lang="en-US" altLang="ko-KR" sz="2400" dirty="0">
                <a:solidFill>
                  <a:srgbClr val="7030A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as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np</a:t>
            </a:r>
          </a:p>
          <a:p>
            <a:endParaRPr lang="en-US" altLang="ko-KR" sz="24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arr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=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np.array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</a:t>
            </a:r>
            <a:r>
              <a:rPr lang="en-US" altLang="ko-KR" sz="2400" dirty="0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[[1, 2, 3], [4, 5, 6]]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)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print(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arr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) 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53D17CC-7441-5097-E14E-E45D6C2FE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589" y="4067345"/>
            <a:ext cx="3829050" cy="214312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36B2E68-4737-AC78-1C9E-1496A62829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1904" y="4302257"/>
            <a:ext cx="3164098" cy="1908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124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5A468-899C-073F-FABC-8B0ADB62A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19D31461-4E91-FF62-9D40-01830AEDB9C3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5C6B2DC-03BF-DE07-E421-45506110879C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4B40BB-38C4-048E-D569-9DC22F24AA9A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02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C5CBD6-A412-A53A-076D-6ABEC9A9C5D4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배열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F4EDD0-8682-4CFC-547F-08984194F87F}"/>
              </a:ext>
            </a:extLst>
          </p:cNvPr>
          <p:cNvSpPr txBox="1"/>
          <p:nvPr/>
        </p:nvSpPr>
        <p:spPr>
          <a:xfrm>
            <a:off x="943358" y="1170429"/>
            <a:ext cx="3016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차원 배열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0F25E511-426B-9ACF-615D-DA4F5759365D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D459E02E-9F30-D58F-5878-BF1D2A513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10" name="모서리가 둥근 직사각형 10">
            <a:extLst>
              <a:ext uri="{FF2B5EF4-FFF2-40B4-BE49-F238E27FC236}">
                <a16:creationId xmlns:a16="http://schemas.microsoft.com/office/drawing/2014/main" id="{8F507262-91A6-61AE-9C43-4592232B0F2D}"/>
              </a:ext>
            </a:extLst>
          </p:cNvPr>
          <p:cNvSpPr/>
          <p:nvPr/>
        </p:nvSpPr>
        <p:spPr>
          <a:xfrm>
            <a:off x="973585" y="1904807"/>
            <a:ext cx="10244830" cy="2038839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rgbClr val="7030A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import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numpy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</a:t>
            </a:r>
            <a:r>
              <a:rPr lang="en-US" altLang="ko-KR" sz="2400" dirty="0">
                <a:solidFill>
                  <a:srgbClr val="7030A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as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np</a:t>
            </a:r>
          </a:p>
          <a:p>
            <a:endParaRPr lang="en-US" altLang="ko-KR" sz="24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arr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=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np.array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([[1, 2, 3], [4, 5, 6]])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print(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arr</a:t>
            </a:r>
            <a:r>
              <a:rPr lang="en-US" altLang="ko-KR" sz="2400" dirty="0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[0, 1]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,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arr</a:t>
            </a:r>
            <a:r>
              <a:rPr lang="en-US" altLang="ko-KR" sz="2400" dirty="0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[1, 2]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) </a:t>
            </a:r>
          </a:p>
        </p:txBody>
      </p:sp>
      <p:sp>
        <p:nvSpPr>
          <p:cNvPr id="8" name="모서리가 둥근 직사각형 10">
            <a:extLst>
              <a:ext uri="{FF2B5EF4-FFF2-40B4-BE49-F238E27FC236}">
                <a16:creationId xmlns:a16="http://schemas.microsoft.com/office/drawing/2014/main" id="{15EC7D36-EC78-E434-8BBC-41CC753C3271}"/>
              </a:ext>
            </a:extLst>
          </p:cNvPr>
          <p:cNvSpPr/>
          <p:nvPr/>
        </p:nvSpPr>
        <p:spPr>
          <a:xfrm>
            <a:off x="973585" y="4177822"/>
            <a:ext cx="5595891" cy="1015615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2 6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539E923-0F90-8840-1034-71369A5700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842" y="4121874"/>
            <a:ext cx="3829050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985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C75F2-3BF7-6F07-4387-784608376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0D735A16-5E59-2F32-2FFD-5DC19FEEC5E4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E9F3DF3-90E4-895E-F303-BDD9D192A867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1E02CA-B137-FC8E-9A19-F9EADBEAD888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02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B99AF8-B139-198F-A4C3-4FFC51C1BA79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배열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64580A-B614-3EB7-E3C7-1F3567C728BC}"/>
              </a:ext>
            </a:extLst>
          </p:cNvPr>
          <p:cNvSpPr txBox="1"/>
          <p:nvPr/>
        </p:nvSpPr>
        <p:spPr>
          <a:xfrm>
            <a:off x="943358" y="1170429"/>
            <a:ext cx="3016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shape</a:t>
            </a: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39273F23-02B9-5C18-4BB9-AF88A6DB21A2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FA1290FA-640C-014F-982C-7AEA57A71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10" name="모서리가 둥근 직사각형 10">
            <a:extLst>
              <a:ext uri="{FF2B5EF4-FFF2-40B4-BE49-F238E27FC236}">
                <a16:creationId xmlns:a16="http://schemas.microsoft.com/office/drawing/2014/main" id="{3253322D-032D-8E3F-7B55-C2810F2272C8}"/>
              </a:ext>
            </a:extLst>
          </p:cNvPr>
          <p:cNvSpPr/>
          <p:nvPr/>
        </p:nvSpPr>
        <p:spPr>
          <a:xfrm>
            <a:off x="973585" y="2930500"/>
            <a:ext cx="10244830" cy="1623746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import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numpy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as np</a:t>
            </a:r>
          </a:p>
          <a:p>
            <a:endParaRPr lang="en-US" altLang="ko-KR" sz="24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arr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=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np.array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([[1,2,3], [4,5,6]])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print(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arr</a:t>
            </a:r>
            <a:r>
              <a:rPr lang="en-US" altLang="ko-KR" sz="2400" dirty="0" err="1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.shape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A8982F5-6A56-5ED4-A57F-F6D84D44B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2089" y="4662018"/>
            <a:ext cx="7596326" cy="168493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C9590EF-9FD7-BF07-D7E4-D60FF41311B6}"/>
              </a:ext>
            </a:extLst>
          </p:cNvPr>
          <p:cNvSpPr txBox="1"/>
          <p:nvPr/>
        </p:nvSpPr>
        <p:spPr>
          <a:xfrm>
            <a:off x="838500" y="1633928"/>
            <a:ext cx="9876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NumPy 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배열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이나 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Pandas </a:t>
            </a:r>
            <a:r>
              <a:rPr lang="en-US" altLang="ko-KR" sz="20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DataFrame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과 같은 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다차원 데이터 구조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에서 행과 열의 개수를 </a:t>
            </a:r>
            <a:r>
              <a:rPr lang="ko-KR" altLang="en-US" sz="2000" dirty="0" err="1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튜플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형태로 반환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BBAE61-E76E-8854-4622-7B79CADF9573}"/>
              </a:ext>
            </a:extLst>
          </p:cNvPr>
          <p:cNvSpPr txBox="1"/>
          <p:nvPr/>
        </p:nvSpPr>
        <p:spPr>
          <a:xfrm>
            <a:off x="838500" y="2422618"/>
            <a:ext cx="102448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데이터의 </a:t>
            </a:r>
            <a:r>
              <a:rPr lang="ko-KR" altLang="en-US" sz="200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차원 구조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를 파악할 때 사용된다</a:t>
            </a:r>
          </a:p>
        </p:txBody>
      </p:sp>
      <p:sp>
        <p:nvSpPr>
          <p:cNvPr id="13" name="모서리가 둥근 직사각형 10">
            <a:extLst>
              <a:ext uri="{FF2B5EF4-FFF2-40B4-BE49-F238E27FC236}">
                <a16:creationId xmlns:a16="http://schemas.microsoft.com/office/drawing/2014/main" id="{FADB0AD1-B96A-3BBA-A4C1-1589DD0058F9}"/>
              </a:ext>
            </a:extLst>
          </p:cNvPr>
          <p:cNvSpPr/>
          <p:nvPr/>
        </p:nvSpPr>
        <p:spPr>
          <a:xfrm>
            <a:off x="973584" y="4671956"/>
            <a:ext cx="2558155" cy="1015615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(2, 3) #2</a:t>
            </a:r>
            <a:r>
              <a:rPr lang="ko-KR" altLang="en-US" sz="2400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행 </a:t>
            </a:r>
            <a:r>
              <a:rPr lang="en-US" altLang="ko-KR" sz="2400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3</a:t>
            </a:r>
            <a:r>
              <a:rPr lang="ko-KR" altLang="en-US" sz="2400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열</a:t>
            </a:r>
            <a:endParaRPr lang="en-US" altLang="ko-KR" sz="2400" dirty="0">
              <a:solidFill>
                <a:schemeClr val="accent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360470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4C0AE-40B5-F54B-CF13-76E3F6329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E5C83C95-A6C3-2AAC-80C4-4DF59EDE113B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4B2DB67-6745-4C60-6AD1-72146320CC6C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3D4383-F771-4C74-DF06-34C5285C137F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02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FEBA4C-55E3-06A0-DB72-5CC8F40AB289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배열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C79EC7-580C-F0F8-8F6E-D97E04C03DC2}"/>
              </a:ext>
            </a:extLst>
          </p:cNvPr>
          <p:cNvSpPr txBox="1"/>
          <p:nvPr/>
        </p:nvSpPr>
        <p:spPr>
          <a:xfrm>
            <a:off x="943358" y="1170429"/>
            <a:ext cx="3016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reshape</a:t>
            </a: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4546BFC1-115C-73BD-656F-04F61681AF98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F06C274-B76C-E730-8BD6-2E5984B2D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10" name="모서리가 둥근 직사각형 10">
            <a:extLst>
              <a:ext uri="{FF2B5EF4-FFF2-40B4-BE49-F238E27FC236}">
                <a16:creationId xmlns:a16="http://schemas.microsoft.com/office/drawing/2014/main" id="{C65DDE3C-7B5B-7A69-086A-9E85311A285E}"/>
              </a:ext>
            </a:extLst>
          </p:cNvPr>
          <p:cNvSpPr/>
          <p:nvPr/>
        </p:nvSpPr>
        <p:spPr>
          <a:xfrm>
            <a:off x="973585" y="2114842"/>
            <a:ext cx="10244830" cy="2439404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import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numpy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as np</a:t>
            </a:r>
          </a:p>
          <a:p>
            <a:endParaRPr lang="en-US" altLang="ko-KR" sz="24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arr1 =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np.array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([1, 2, 3, 4, 5, 6])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arr2 = </a:t>
            </a:r>
            <a:r>
              <a:rPr lang="en-US" altLang="ko-KR" sz="2400" dirty="0">
                <a:solidFill>
                  <a:srgbClr val="FF000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arr1</a:t>
            </a:r>
            <a:r>
              <a:rPr lang="en-US" altLang="ko-KR" sz="2400" dirty="0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.reshape</a:t>
            </a:r>
            <a:r>
              <a:rPr lang="en-US" altLang="ko-KR" sz="2400" dirty="0">
                <a:solidFill>
                  <a:srgbClr val="00B05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(3,2)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print(arr2)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0A3D7A-DF90-7176-6A13-75BA69B7FBC1}"/>
              </a:ext>
            </a:extLst>
          </p:cNvPr>
          <p:cNvSpPr txBox="1"/>
          <p:nvPr/>
        </p:nvSpPr>
        <p:spPr>
          <a:xfrm>
            <a:off x="838500" y="1633928"/>
            <a:ext cx="9876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데이터의 </a:t>
            </a:r>
            <a:r>
              <a:rPr lang="ko-KR" altLang="en-US" sz="200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차원 구조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를 </a:t>
            </a:r>
            <a:r>
              <a:rPr lang="ko-KR" altLang="en-US" sz="200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변경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3" name="모서리가 둥근 직사각형 10">
            <a:extLst>
              <a:ext uri="{FF2B5EF4-FFF2-40B4-BE49-F238E27FC236}">
                <a16:creationId xmlns:a16="http://schemas.microsoft.com/office/drawing/2014/main" id="{3194203B-24D1-E8D8-2AB0-302427B1F35B}"/>
              </a:ext>
            </a:extLst>
          </p:cNvPr>
          <p:cNvSpPr/>
          <p:nvPr/>
        </p:nvSpPr>
        <p:spPr>
          <a:xfrm>
            <a:off x="973584" y="4671956"/>
            <a:ext cx="10244830" cy="1544705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[[1 2] </a:t>
            </a:r>
          </a:p>
          <a:p>
            <a:r>
              <a:rPr lang="en-US" altLang="ko-KR" sz="2400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[3 4] </a:t>
            </a:r>
          </a:p>
          <a:p>
            <a:r>
              <a:rPr lang="en-US" altLang="ko-KR" sz="2400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[5 6]]</a:t>
            </a:r>
          </a:p>
        </p:txBody>
      </p:sp>
    </p:spTree>
    <p:extLst>
      <p:ext uri="{BB962C8B-B14F-4D97-AF65-F5344CB8AC3E}">
        <p14:creationId xmlns:p14="http://schemas.microsoft.com/office/powerpoint/2010/main" val="2491056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746AB-6D58-0D33-E8C4-11409FC26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5271B9FD-53C4-8B01-3D26-8EFF9F534683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5061E22-D165-6777-7B0E-B67C63FFBD9B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77F5F7-83B9-E888-DF01-6A2901BBE2D8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03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9922A4-0906-42B5-092A-DAB0CC534A58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배열 연산하기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F777D4-186B-9796-8005-6BA01BB6BE8D}"/>
              </a:ext>
            </a:extLst>
          </p:cNvPr>
          <p:cNvSpPr txBox="1"/>
          <p:nvPr/>
        </p:nvSpPr>
        <p:spPr>
          <a:xfrm>
            <a:off x="943358" y="1170429"/>
            <a:ext cx="7996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Problem 9.1.1: 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리스트 연산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1D9A06CF-D078-12F3-6972-458730B0BE99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BC5928D-7F87-C318-1391-A7B8BBDB1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06D701B-4838-667B-52F3-D23857C21B44}"/>
              </a:ext>
            </a:extLst>
          </p:cNvPr>
          <p:cNvSpPr txBox="1"/>
          <p:nvPr/>
        </p:nvSpPr>
        <p:spPr>
          <a:xfrm>
            <a:off x="838500" y="1633928"/>
            <a:ext cx="9876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a=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[2, 3, 4]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라는 리스트의 </a:t>
            </a:r>
            <a:r>
              <a:rPr lang="ko-KR" altLang="en-US" sz="2000" dirty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각 요소에 </a:t>
            </a: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</a:t>
            </a:r>
            <a:r>
              <a:rPr lang="ko-KR" altLang="en-US" sz="2000" dirty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를 곱해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[4, 6, 8]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이라는 새로운 리스트를 만들어보자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145288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D3C2A-B414-0851-01AC-B0F332209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C732AA53-3995-C4F6-B727-BE63FEA9DFB4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19A9B98-5531-4983-830F-C979C80FB0E5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5B0544-432D-8B4F-ECBC-C9D4BD619958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03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AF8A40-23F2-DE6E-4E56-73A03887CE08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배열 연산하기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4DF95F-FECF-C77C-99D2-22CC8B2DB5E0}"/>
              </a:ext>
            </a:extLst>
          </p:cNvPr>
          <p:cNvSpPr txBox="1"/>
          <p:nvPr/>
        </p:nvSpPr>
        <p:spPr>
          <a:xfrm>
            <a:off x="943358" y="1170429"/>
            <a:ext cx="7996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숫자와 배열의 연산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DC128C92-9B23-D224-FFD3-0828E1F48539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356AB90-FE3B-4B40-A98B-7F917A190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4" name="모서리가 둥근 직사각형 10">
            <a:extLst>
              <a:ext uri="{FF2B5EF4-FFF2-40B4-BE49-F238E27FC236}">
                <a16:creationId xmlns:a16="http://schemas.microsoft.com/office/drawing/2014/main" id="{9269E6B9-AD8D-84E0-173D-A0FF0A70F267}"/>
              </a:ext>
            </a:extLst>
          </p:cNvPr>
          <p:cNvSpPr/>
          <p:nvPr/>
        </p:nvSpPr>
        <p:spPr>
          <a:xfrm>
            <a:off x="973585" y="2114842"/>
            <a:ext cx="10244830" cy="2439404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import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numpy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as np</a:t>
            </a:r>
          </a:p>
          <a:p>
            <a:endParaRPr lang="en-US" altLang="ko-KR" sz="24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arr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=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np.array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([2, 3, 4])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result =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arr</a:t>
            </a:r>
            <a:r>
              <a:rPr lang="en-US" altLang="ko-KR" sz="2400" dirty="0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*2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print(result)</a:t>
            </a:r>
          </a:p>
        </p:txBody>
      </p:sp>
      <p:sp>
        <p:nvSpPr>
          <p:cNvPr id="5" name="모서리가 둥근 직사각형 10">
            <a:extLst>
              <a:ext uri="{FF2B5EF4-FFF2-40B4-BE49-F238E27FC236}">
                <a16:creationId xmlns:a16="http://schemas.microsoft.com/office/drawing/2014/main" id="{5C975464-88DC-7281-B4CC-CC9799D73AEB}"/>
              </a:ext>
            </a:extLst>
          </p:cNvPr>
          <p:cNvSpPr/>
          <p:nvPr/>
        </p:nvSpPr>
        <p:spPr>
          <a:xfrm>
            <a:off x="973584" y="4671956"/>
            <a:ext cx="10244830" cy="1544705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[4 6 8]</a:t>
            </a:r>
          </a:p>
        </p:txBody>
      </p:sp>
    </p:spTree>
    <p:extLst>
      <p:ext uri="{BB962C8B-B14F-4D97-AF65-F5344CB8AC3E}">
        <p14:creationId xmlns:p14="http://schemas.microsoft.com/office/powerpoint/2010/main" val="2093392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D4001-AB4F-3BD9-4BD2-AC7E0F7E1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AEB9613A-B344-4EC1-6B4C-45C85A134547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9CA90E6-17D2-3B38-10DB-F606663218A1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B28549-1F8C-F827-E3CD-5720394F76D3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03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214F50-91D6-6C00-14D2-84BAA3427D79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배열 연산하기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57B47B-B04A-165C-9424-A846BF21AF2C}"/>
              </a:ext>
            </a:extLst>
          </p:cNvPr>
          <p:cNvSpPr txBox="1"/>
          <p:nvPr/>
        </p:nvSpPr>
        <p:spPr>
          <a:xfrm>
            <a:off x="943358" y="1170429"/>
            <a:ext cx="7996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배열과 배열의 연산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0F079540-DD4F-D190-A8BE-DAE810AFF42C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ADC74A71-0DE3-EE10-F5E3-DD7103693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4" name="모서리가 둥근 직사각형 10">
            <a:extLst>
              <a:ext uri="{FF2B5EF4-FFF2-40B4-BE49-F238E27FC236}">
                <a16:creationId xmlns:a16="http://schemas.microsoft.com/office/drawing/2014/main" id="{07F269FC-C207-19DA-7102-4B94225DE8D2}"/>
              </a:ext>
            </a:extLst>
          </p:cNvPr>
          <p:cNvSpPr/>
          <p:nvPr/>
        </p:nvSpPr>
        <p:spPr>
          <a:xfrm>
            <a:off x="973585" y="2114842"/>
            <a:ext cx="10244830" cy="2439404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import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numpy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as np</a:t>
            </a:r>
          </a:p>
          <a:p>
            <a:endParaRPr lang="en-US" altLang="ko-KR" sz="24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arr1 =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np.array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([2, 3, 4])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arr2 =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np.array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([5, 6, 7])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result = </a:t>
            </a:r>
            <a:r>
              <a:rPr lang="en-US" altLang="ko-KR" sz="2400" dirty="0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arr1+arr2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print(result)</a:t>
            </a:r>
          </a:p>
        </p:txBody>
      </p:sp>
      <p:sp>
        <p:nvSpPr>
          <p:cNvPr id="5" name="모서리가 둥근 직사각형 10">
            <a:extLst>
              <a:ext uri="{FF2B5EF4-FFF2-40B4-BE49-F238E27FC236}">
                <a16:creationId xmlns:a16="http://schemas.microsoft.com/office/drawing/2014/main" id="{303535DF-BCEB-3E61-189C-A8CFADE7D3D5}"/>
              </a:ext>
            </a:extLst>
          </p:cNvPr>
          <p:cNvSpPr/>
          <p:nvPr/>
        </p:nvSpPr>
        <p:spPr>
          <a:xfrm>
            <a:off x="973584" y="4671956"/>
            <a:ext cx="10244830" cy="1544705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[7 9 11]</a:t>
            </a:r>
          </a:p>
        </p:txBody>
      </p:sp>
    </p:spTree>
    <p:extLst>
      <p:ext uri="{BB962C8B-B14F-4D97-AF65-F5344CB8AC3E}">
        <p14:creationId xmlns:p14="http://schemas.microsoft.com/office/powerpoint/2010/main" val="37973693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8A56C-EAFA-C05F-3989-E9365B987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각 삼각형 24">
            <a:extLst>
              <a:ext uri="{FF2B5EF4-FFF2-40B4-BE49-F238E27FC236}">
                <a16:creationId xmlns:a16="http://schemas.microsoft.com/office/drawing/2014/main" id="{78EAE992-AE50-9806-F47A-38B24A1D833B}"/>
              </a:ext>
            </a:extLst>
          </p:cNvPr>
          <p:cNvSpPr/>
          <p:nvPr/>
        </p:nvSpPr>
        <p:spPr>
          <a:xfrm>
            <a:off x="-1" y="6077527"/>
            <a:ext cx="760522" cy="780473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3ECEDF74-08AF-2251-5D9E-7BBE5BE53F8E}"/>
              </a:ext>
            </a:extLst>
          </p:cNvPr>
          <p:cNvSpPr/>
          <p:nvPr/>
        </p:nvSpPr>
        <p:spPr>
          <a:xfrm>
            <a:off x="391357" y="210845"/>
            <a:ext cx="11409286" cy="6436310"/>
          </a:xfrm>
          <a:prstGeom prst="roundRect">
            <a:avLst>
              <a:gd name="adj" fmla="val 10046"/>
            </a:avLst>
          </a:prstGeom>
          <a:solidFill>
            <a:srgbClr val="9DD1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65A8E55-CDA0-9674-074B-95FBD178A12F}"/>
              </a:ext>
            </a:extLst>
          </p:cNvPr>
          <p:cNvSpPr/>
          <p:nvPr/>
        </p:nvSpPr>
        <p:spPr>
          <a:xfrm>
            <a:off x="537839" y="326254"/>
            <a:ext cx="11116322" cy="6205491"/>
          </a:xfrm>
          <a:prstGeom prst="roundRect">
            <a:avLst>
              <a:gd name="adj" fmla="val 91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184A41-2648-6653-4FBC-FF7DF684AEF7}"/>
              </a:ext>
            </a:extLst>
          </p:cNvPr>
          <p:cNvSpPr txBox="1"/>
          <p:nvPr/>
        </p:nvSpPr>
        <p:spPr>
          <a:xfrm>
            <a:off x="4001565" y="2305614"/>
            <a:ext cx="41888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solidFill>
                  <a:schemeClr val="accent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02</a:t>
            </a:r>
            <a:endParaRPr lang="ko-KR" altLang="en-US" sz="4000" dirty="0">
              <a:solidFill>
                <a:schemeClr val="accent2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0B2F7D-1689-9C36-891F-A1E13F8E4DC6}"/>
              </a:ext>
            </a:extLst>
          </p:cNvPr>
          <p:cNvSpPr txBox="1"/>
          <p:nvPr/>
        </p:nvSpPr>
        <p:spPr>
          <a:xfrm>
            <a:off x="2607771" y="3013500"/>
            <a:ext cx="69764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8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배열 활용</a:t>
            </a:r>
          </a:p>
        </p:txBody>
      </p:sp>
    </p:spTree>
    <p:extLst>
      <p:ext uri="{BB962C8B-B14F-4D97-AF65-F5344CB8AC3E}">
        <p14:creationId xmlns:p14="http://schemas.microsoft.com/office/powerpoint/2010/main" val="24071608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4C310-2A09-8D2C-2E3A-2AF93C65B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F98964FB-5804-3658-0B64-0DF5FB77134E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97BFEEF-68F7-6ED7-830A-D98B228E4701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BE4BF6-286E-2F0C-C7A6-25C7221A259B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01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A7C827-701E-7445-E76B-76247631DC83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활용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69C9B1-89D4-D728-CFF0-53D8C4ADADDC}"/>
              </a:ext>
            </a:extLst>
          </p:cNvPr>
          <p:cNvSpPr txBox="1"/>
          <p:nvPr/>
        </p:nvSpPr>
        <p:spPr>
          <a:xfrm>
            <a:off x="943358" y="1170429"/>
            <a:ext cx="7996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자료구조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CE3E1BE1-32C9-92CD-7EDE-1EB63F32E46C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81E4C59A-58EB-2A1A-2445-2366E0639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pic>
        <p:nvPicPr>
          <p:cNvPr id="9" name="그림 8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6C488C8-B002-F8DE-8A9F-D684083BFC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950" y="1714727"/>
            <a:ext cx="8420100" cy="414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6038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C22FD-5543-D437-AD00-C078E2714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91A96EE5-E3D5-7A03-36EA-28EC63C4290F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B2680BC-23B0-AE56-1E2E-6464400F8284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EA282F-9245-7E48-F5F8-15EE862803AC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01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182318-F5C0-70C6-AE44-052E01FCEA23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활용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8F9A7E-DBDA-AAE5-A5F8-E4ECD87BC29F}"/>
              </a:ext>
            </a:extLst>
          </p:cNvPr>
          <p:cNvSpPr txBox="1"/>
          <p:nvPr/>
        </p:nvSpPr>
        <p:spPr>
          <a:xfrm>
            <a:off x="943358" y="1170429"/>
            <a:ext cx="7996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자료구조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DE7EA6C0-CC43-B730-52A8-8597C380F039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6427DC3E-AA15-4773-C242-5DEA7053A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pic>
        <p:nvPicPr>
          <p:cNvPr id="5" name="그림 4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D0A68C-1D7C-7070-2B09-B12411A5C9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550" y="2462212"/>
            <a:ext cx="7962900" cy="193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7145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71674-F53B-5666-5110-58B36A611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22B6003E-807D-217F-DFA6-102107BC9869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F3EDE26-C4CD-5BA0-BE57-107677F4E106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D65D6F-FFE2-731E-D443-8C6966174717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활용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518F5B-10E4-0E0A-2F5E-AA02CAD42FD2}"/>
              </a:ext>
            </a:extLst>
          </p:cNvPr>
          <p:cNvSpPr txBox="1"/>
          <p:nvPr/>
        </p:nvSpPr>
        <p:spPr>
          <a:xfrm>
            <a:off x="943358" y="1170429"/>
            <a:ext cx="6380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Problem 9.2.1: 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할인된 가격 구하기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EC9204A4-198D-69A3-23DF-11AF594B46FD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A8943214-E758-E727-28A2-B3CEFE9E0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41CB021-0359-6E4A-BB27-BA45BBF1B195}"/>
              </a:ext>
            </a:extLst>
          </p:cNvPr>
          <p:cNvSpPr txBox="1"/>
          <p:nvPr/>
        </p:nvSpPr>
        <p:spPr>
          <a:xfrm>
            <a:off x="838500" y="1633928"/>
            <a:ext cx="89535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물건의 가격 리스트는 다음과 같다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590406-4267-A686-458C-E264CFEEC3B9}"/>
              </a:ext>
            </a:extLst>
          </p:cNvPr>
          <p:cNvSpPr txBox="1"/>
          <p:nvPr/>
        </p:nvSpPr>
        <p:spPr>
          <a:xfrm>
            <a:off x="838500" y="2095593"/>
            <a:ext cx="89535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en-US" altLang="ko-KR" sz="2400" dirty="0"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prices = [1000, 2000, 3000]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7D7B36-44AC-7D81-787B-82B347D5A960}"/>
              </a:ext>
            </a:extLst>
          </p:cNvPr>
          <p:cNvSpPr txBox="1"/>
          <p:nvPr/>
        </p:nvSpPr>
        <p:spPr>
          <a:xfrm>
            <a:off x="838499" y="2569774"/>
            <a:ext cx="10786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400" dirty="0">
                <a:highlight>
                  <a:srgbClr val="FFFF00"/>
                </a:highlight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모든 물건의 가격을 </a:t>
            </a:r>
            <a:r>
              <a:rPr lang="en-US" altLang="ko-KR" sz="2400" dirty="0">
                <a:solidFill>
                  <a:srgbClr val="FF0000"/>
                </a:solidFill>
                <a:highlight>
                  <a:srgbClr val="FFFF00"/>
                </a:highlight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10%</a:t>
            </a:r>
            <a:r>
              <a:rPr lang="ko-KR" altLang="en-US" sz="2400" dirty="0">
                <a:highlight>
                  <a:srgbClr val="FFFF00"/>
                </a:highlight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씩 </a:t>
            </a:r>
            <a:r>
              <a:rPr lang="ko-KR" altLang="en-US" sz="2400" dirty="0">
                <a:solidFill>
                  <a:srgbClr val="FF0000"/>
                </a:solidFill>
                <a:highlight>
                  <a:srgbClr val="FFFF00"/>
                </a:highlight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할인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한다고 할 때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최종 가격을 리스트로 저장해 </a:t>
            </a:r>
            <a:r>
              <a:rPr lang="ko-KR" altLang="en-US" sz="24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출력하시오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164978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A4337-2C9C-6F30-E9BB-0E7EBF936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AC762DA7-B21A-A627-B253-070C42C82F82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8D7F166-D586-8297-586D-1A34E552758F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0D2550-B4FA-FCF4-71E3-7996C529202D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활용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9A56EB-18ED-E69A-B4FC-65E705D4CF1F}"/>
              </a:ext>
            </a:extLst>
          </p:cNvPr>
          <p:cNvSpPr txBox="1"/>
          <p:nvPr/>
        </p:nvSpPr>
        <p:spPr>
          <a:xfrm>
            <a:off x="943358" y="1170429"/>
            <a:ext cx="6380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Problem 9.2.1: 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할인된 가격 구하기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3D185904-2246-6067-362A-6D5BCE84B591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DB37AFF3-CB3B-0721-7AA3-4ABF9167B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4" name="모서리가 둥근 직사각형 10">
            <a:extLst>
              <a:ext uri="{FF2B5EF4-FFF2-40B4-BE49-F238E27FC236}">
                <a16:creationId xmlns:a16="http://schemas.microsoft.com/office/drawing/2014/main" id="{0075449C-0364-CD13-1299-9D31AEA56F8A}"/>
              </a:ext>
            </a:extLst>
          </p:cNvPr>
          <p:cNvSpPr/>
          <p:nvPr/>
        </p:nvSpPr>
        <p:spPr>
          <a:xfrm>
            <a:off x="973585" y="2114842"/>
            <a:ext cx="10244830" cy="3264554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prices = [1000, 2000, 3000] </a:t>
            </a:r>
          </a:p>
          <a:p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newPrices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= []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for p in prices: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newPrices.append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(int(p * 1.1))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print(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newPrices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22839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88E77-2930-7D5D-E70A-5402E2949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20ED4032-8491-9B1C-C852-5A87D407F4A0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20DBFA7-D4EC-7C91-07FE-212BEABF09BD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133D4B-99BA-22AB-F07C-E2B114C263C8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활용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8D2462-C9A0-F77F-6FAD-FD7BB60EA87B}"/>
              </a:ext>
            </a:extLst>
          </p:cNvPr>
          <p:cNvSpPr txBox="1"/>
          <p:nvPr/>
        </p:nvSpPr>
        <p:spPr>
          <a:xfrm>
            <a:off x="943358" y="1170429"/>
            <a:ext cx="6380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Problem 9.2.1: 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할인된 가격 구하기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761B4219-C59B-BE80-A05B-A8C79B37C976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16AE0E3-2CD0-2128-D7B5-2FD8DBB50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4" name="모서리가 둥근 직사각형 10">
            <a:extLst>
              <a:ext uri="{FF2B5EF4-FFF2-40B4-BE49-F238E27FC236}">
                <a16:creationId xmlns:a16="http://schemas.microsoft.com/office/drawing/2014/main" id="{1B55D0CE-737F-BF79-C127-A0E5B0971885}"/>
              </a:ext>
            </a:extLst>
          </p:cNvPr>
          <p:cNvSpPr/>
          <p:nvPr/>
        </p:nvSpPr>
        <p:spPr>
          <a:xfrm>
            <a:off x="973585" y="2114842"/>
            <a:ext cx="10244830" cy="3264554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import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numpy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as np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prices = [1000, 2000, 3000]</a:t>
            </a:r>
          </a:p>
          <a:p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pArray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=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np.array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(prices)</a:t>
            </a:r>
          </a:p>
          <a:p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newpArray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= (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pArray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* 1.1).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astype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(int)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print(list(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newpArray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14472330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5DDFE-FD53-7EC2-7A38-F0A2E6DF3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15F435A7-83A6-F7E8-2130-0BA82003FC71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D538E46-3008-094F-0685-F3E6388D3E42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4D4CCB-E268-9853-824E-569F1EE6CEB5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활용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53A216-53B1-D602-DF18-5C1E7E4A4196}"/>
              </a:ext>
            </a:extLst>
          </p:cNvPr>
          <p:cNvSpPr txBox="1"/>
          <p:nvPr/>
        </p:nvSpPr>
        <p:spPr>
          <a:xfrm>
            <a:off x="943358" y="1170429"/>
            <a:ext cx="6380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Problem 9.2.2: 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성적 합산하기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E1EE8A9F-5E91-AF0E-3BCA-5D4002D6B2DB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D544E231-4B94-7D0B-8190-C236FD977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61E1324-A8AB-EC06-67E5-EC6EA0F367DC}"/>
              </a:ext>
            </a:extLst>
          </p:cNvPr>
          <p:cNvSpPr txBox="1"/>
          <p:nvPr/>
        </p:nvSpPr>
        <p:spPr>
          <a:xfrm>
            <a:off x="838499" y="1633928"/>
            <a:ext cx="104455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- 1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반 학생 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3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명과 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반 학생 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3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명의 중간고사 점수를 더해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학생별 총점을 구해보자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4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367D98-40F9-523F-55AC-CB4C661E142E}"/>
              </a:ext>
            </a:extLst>
          </p:cNvPr>
          <p:cNvSpPr txBox="1"/>
          <p:nvPr/>
        </p:nvSpPr>
        <p:spPr>
          <a:xfrm>
            <a:off x="838500" y="2095593"/>
            <a:ext cx="89535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en-US" altLang="ko-KR" sz="2400" dirty="0"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c_1 = [70, 90, 90]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CDD221-5E67-A532-151F-51BF32BE38B3}"/>
              </a:ext>
            </a:extLst>
          </p:cNvPr>
          <p:cNvSpPr txBox="1"/>
          <p:nvPr/>
        </p:nvSpPr>
        <p:spPr>
          <a:xfrm>
            <a:off x="838500" y="2552838"/>
            <a:ext cx="89535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en-US" altLang="ko-KR" sz="2400" dirty="0"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c_2 = [40, 80, 90]</a:t>
            </a:r>
          </a:p>
        </p:txBody>
      </p:sp>
    </p:spTree>
    <p:extLst>
      <p:ext uri="{BB962C8B-B14F-4D97-AF65-F5344CB8AC3E}">
        <p14:creationId xmlns:p14="http://schemas.microsoft.com/office/powerpoint/2010/main" val="28815240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4E94F-FFE1-23E1-DD40-CC6C0DC84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6F6E9D23-B12E-D3ED-5765-25754E5D3F00}"/>
              </a:ext>
            </a:extLst>
          </p:cNvPr>
          <p:cNvSpPr/>
          <p:nvPr/>
        </p:nvSpPr>
        <p:spPr>
          <a:xfrm>
            <a:off x="-2380" y="0"/>
            <a:ext cx="12194380" cy="997223"/>
          </a:xfrm>
          <a:prstGeom prst="rect">
            <a:avLst/>
          </a:prstGeom>
          <a:pattFill prst="pct5">
            <a:fgClr>
              <a:srgbClr val="228FF4"/>
            </a:fgClr>
            <a:bgClr>
              <a:srgbClr val="228FF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4" latinLnBrk="0">
              <a:defRPr/>
            </a:pPr>
            <a:endParaRPr lang="en-US" altLang="ko-KR" sz="800" kern="0" dirty="0">
              <a:solidFill>
                <a:prstClr val="white"/>
              </a:solidFill>
            </a:endParaRPr>
          </a:p>
        </p:txBody>
      </p:sp>
      <p:graphicFrame>
        <p:nvGraphicFramePr>
          <p:cNvPr id="47" name="표 47">
            <a:extLst>
              <a:ext uri="{FF2B5EF4-FFF2-40B4-BE49-F238E27FC236}">
                <a16:creationId xmlns:a16="http://schemas.microsoft.com/office/drawing/2014/main" id="{AAD6097F-65D0-7E57-DC65-9535DA0F777C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993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">
                  <a:extLst>
                    <a:ext uri="{9D8B030D-6E8A-4147-A177-3AD203B41FA5}">
                      <a16:colId xmlns:a16="http://schemas.microsoft.com/office/drawing/2014/main" val="1043718934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83197653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244441110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513725656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848185835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94809846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867253447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91020565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617496892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251252461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9116582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907307849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789104831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358958742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57412808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752215195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13471179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330373115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66939689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832094442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707207925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42597949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758788447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734651099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79552183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7101855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469961966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251056073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69417732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362315501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263506421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842351367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720909174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911726095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039674806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537157650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690484121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78330677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70759531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323908076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232332704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003086160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296894056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204140746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847523506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953224009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4144219025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418867771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00181153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48053045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707259570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831730970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88504932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850779005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390437833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379350419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674165185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054348924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742965769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417673289"/>
                    </a:ext>
                  </a:extLst>
                </a:gridCol>
              </a:tblGrid>
              <a:tr h="198746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111298"/>
                  </a:ext>
                </a:extLst>
              </a:tr>
              <a:tr h="198746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196473"/>
                  </a:ext>
                </a:extLst>
              </a:tr>
              <a:tr h="198746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4573720"/>
                  </a:ext>
                </a:extLst>
              </a:tr>
              <a:tr h="198746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0719676"/>
                  </a:ext>
                </a:extLst>
              </a:tr>
              <a:tr h="198746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601141"/>
                  </a:ext>
                </a:extLst>
              </a:tr>
            </a:tbl>
          </a:graphicData>
        </a:graphic>
      </p:graphicFrame>
      <p:grpSp>
        <p:nvGrpSpPr>
          <p:cNvPr id="66" name="그룹 65">
            <a:extLst>
              <a:ext uri="{FF2B5EF4-FFF2-40B4-BE49-F238E27FC236}">
                <a16:creationId xmlns:a16="http://schemas.microsoft.com/office/drawing/2014/main" id="{DF480675-6526-BC42-187F-13F73AE890C0}"/>
              </a:ext>
            </a:extLst>
          </p:cNvPr>
          <p:cNvGrpSpPr/>
          <p:nvPr/>
        </p:nvGrpSpPr>
        <p:grpSpPr>
          <a:xfrm>
            <a:off x="-2381" y="226018"/>
            <a:ext cx="1875632" cy="773586"/>
            <a:chOff x="357853" y="4425696"/>
            <a:chExt cx="5168283" cy="2131608"/>
          </a:xfrm>
        </p:grpSpPr>
        <p:sp>
          <p:nvSpPr>
            <p:cNvPr id="62" name="자유형: 도형 61">
              <a:extLst>
                <a:ext uri="{FF2B5EF4-FFF2-40B4-BE49-F238E27FC236}">
                  <a16:creationId xmlns:a16="http://schemas.microsoft.com/office/drawing/2014/main" id="{49D5A5E7-BEAF-E022-2119-36779715657B}"/>
                </a:ext>
              </a:extLst>
            </p:cNvPr>
            <p:cNvSpPr/>
            <p:nvPr/>
          </p:nvSpPr>
          <p:spPr>
            <a:xfrm>
              <a:off x="357853" y="5124170"/>
              <a:ext cx="2262092" cy="1417320"/>
            </a:xfrm>
            <a:custGeom>
              <a:avLst/>
              <a:gdLst>
                <a:gd name="connsiteX0" fmla="*/ 0 w 2240280"/>
                <a:gd name="connsiteY0" fmla="*/ 1399032 h 1417320"/>
                <a:gd name="connsiteX1" fmla="*/ 9144 w 2240280"/>
                <a:gd name="connsiteY1" fmla="*/ 694944 h 1417320"/>
                <a:gd name="connsiteX2" fmla="*/ 731520 w 2240280"/>
                <a:gd name="connsiteY2" fmla="*/ 0 h 1417320"/>
                <a:gd name="connsiteX3" fmla="*/ 2240280 w 2240280"/>
                <a:gd name="connsiteY3" fmla="*/ 1417320 h 1417320"/>
                <a:gd name="connsiteX4" fmla="*/ 0 w 2240280"/>
                <a:gd name="connsiteY4" fmla="*/ 1399032 h 1417320"/>
                <a:gd name="connsiteX0" fmla="*/ 21812 w 2262092"/>
                <a:gd name="connsiteY0" fmla="*/ 1399032 h 1417320"/>
                <a:gd name="connsiteX1" fmla="*/ 0 w 2262092"/>
                <a:gd name="connsiteY1" fmla="*/ 694944 h 1417320"/>
                <a:gd name="connsiteX2" fmla="*/ 753332 w 2262092"/>
                <a:gd name="connsiteY2" fmla="*/ 0 h 1417320"/>
                <a:gd name="connsiteX3" fmla="*/ 2262092 w 2262092"/>
                <a:gd name="connsiteY3" fmla="*/ 1417320 h 1417320"/>
                <a:gd name="connsiteX4" fmla="*/ 21812 w 2262092"/>
                <a:gd name="connsiteY4" fmla="*/ 1399032 h 1417320"/>
                <a:gd name="connsiteX0" fmla="*/ 2762 w 2262092"/>
                <a:gd name="connsiteY0" fmla="*/ 1399032 h 1417320"/>
                <a:gd name="connsiteX1" fmla="*/ 0 w 2262092"/>
                <a:gd name="connsiteY1" fmla="*/ 694944 h 1417320"/>
                <a:gd name="connsiteX2" fmla="*/ 753332 w 2262092"/>
                <a:gd name="connsiteY2" fmla="*/ 0 h 1417320"/>
                <a:gd name="connsiteX3" fmla="*/ 2262092 w 2262092"/>
                <a:gd name="connsiteY3" fmla="*/ 1417320 h 1417320"/>
                <a:gd name="connsiteX4" fmla="*/ 2762 w 2262092"/>
                <a:gd name="connsiteY4" fmla="*/ 1399032 h 141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2092" h="1417320">
                  <a:moveTo>
                    <a:pt x="2762" y="1399032"/>
                  </a:moveTo>
                  <a:cubicBezTo>
                    <a:pt x="1841" y="1164336"/>
                    <a:pt x="921" y="929640"/>
                    <a:pt x="0" y="694944"/>
                  </a:cubicBezTo>
                  <a:lnTo>
                    <a:pt x="753332" y="0"/>
                  </a:lnTo>
                  <a:lnTo>
                    <a:pt x="2262092" y="1417320"/>
                  </a:lnTo>
                  <a:lnTo>
                    <a:pt x="2762" y="1399032"/>
                  </a:lnTo>
                  <a:close/>
                </a:path>
              </a:pathLst>
            </a:custGeom>
            <a:gradFill>
              <a:gsLst>
                <a:gs pos="0">
                  <a:srgbClr val="66FFFF">
                    <a:alpha val="41000"/>
                  </a:srgbClr>
                </a:gs>
                <a:gs pos="100000">
                  <a:srgbClr val="66FFFF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63" name="자유형: 도형 62">
              <a:extLst>
                <a:ext uri="{FF2B5EF4-FFF2-40B4-BE49-F238E27FC236}">
                  <a16:creationId xmlns:a16="http://schemas.microsoft.com/office/drawing/2014/main" id="{E0381F82-8813-4511-6E08-577AA9ADBC50}"/>
                </a:ext>
              </a:extLst>
            </p:cNvPr>
            <p:cNvSpPr/>
            <p:nvPr/>
          </p:nvSpPr>
          <p:spPr>
            <a:xfrm>
              <a:off x="1097283" y="4425696"/>
              <a:ext cx="4428853" cy="2115425"/>
            </a:xfrm>
            <a:custGeom>
              <a:avLst/>
              <a:gdLst>
                <a:gd name="connsiteX0" fmla="*/ 0 w 3739896"/>
                <a:gd name="connsiteY0" fmla="*/ 2112264 h 2112264"/>
                <a:gd name="connsiteX1" fmla="*/ 749808 w 3739896"/>
                <a:gd name="connsiteY1" fmla="*/ 1417320 h 2112264"/>
                <a:gd name="connsiteX2" fmla="*/ 1508760 w 3739896"/>
                <a:gd name="connsiteY2" fmla="*/ 722376 h 2112264"/>
                <a:gd name="connsiteX3" fmla="*/ 2258568 w 3739896"/>
                <a:gd name="connsiteY3" fmla="*/ 0 h 2112264"/>
                <a:gd name="connsiteX4" fmla="*/ 3017520 w 3739896"/>
                <a:gd name="connsiteY4" fmla="*/ 722376 h 2112264"/>
                <a:gd name="connsiteX5" fmla="*/ 3739896 w 3739896"/>
                <a:gd name="connsiteY5" fmla="*/ 1426464 h 2112264"/>
                <a:gd name="connsiteX6" fmla="*/ 3739896 w 3739896"/>
                <a:gd name="connsiteY6" fmla="*/ 2103120 h 2112264"/>
                <a:gd name="connsiteX7" fmla="*/ 0 w 3739896"/>
                <a:gd name="connsiteY7" fmla="*/ 2112264 h 2112264"/>
                <a:gd name="connsiteX0" fmla="*/ 0 w 4428854"/>
                <a:gd name="connsiteY0" fmla="*/ 2112264 h 2115425"/>
                <a:gd name="connsiteX1" fmla="*/ 749808 w 4428854"/>
                <a:gd name="connsiteY1" fmla="*/ 1417320 h 2115425"/>
                <a:gd name="connsiteX2" fmla="*/ 1508760 w 4428854"/>
                <a:gd name="connsiteY2" fmla="*/ 722376 h 2115425"/>
                <a:gd name="connsiteX3" fmla="*/ 2258568 w 4428854"/>
                <a:gd name="connsiteY3" fmla="*/ 0 h 2115425"/>
                <a:gd name="connsiteX4" fmla="*/ 3017520 w 4428854"/>
                <a:gd name="connsiteY4" fmla="*/ 722376 h 2115425"/>
                <a:gd name="connsiteX5" fmla="*/ 4428854 w 4428854"/>
                <a:gd name="connsiteY5" fmla="*/ 2115425 h 2115425"/>
                <a:gd name="connsiteX6" fmla="*/ 3739896 w 4428854"/>
                <a:gd name="connsiteY6" fmla="*/ 2103120 h 2115425"/>
                <a:gd name="connsiteX7" fmla="*/ 0 w 4428854"/>
                <a:gd name="connsiteY7" fmla="*/ 2112264 h 211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28854" h="2115425">
                  <a:moveTo>
                    <a:pt x="0" y="2112264"/>
                  </a:moveTo>
                  <a:lnTo>
                    <a:pt x="749808" y="1417320"/>
                  </a:lnTo>
                  <a:lnTo>
                    <a:pt x="1508760" y="722376"/>
                  </a:lnTo>
                  <a:lnTo>
                    <a:pt x="2258568" y="0"/>
                  </a:lnTo>
                  <a:lnTo>
                    <a:pt x="3017520" y="722376"/>
                  </a:lnTo>
                  <a:lnTo>
                    <a:pt x="4428854" y="2115425"/>
                  </a:lnTo>
                  <a:lnTo>
                    <a:pt x="3739896" y="2103120"/>
                  </a:lnTo>
                  <a:lnTo>
                    <a:pt x="0" y="2112264"/>
                  </a:lnTo>
                  <a:close/>
                </a:path>
              </a:pathLst>
            </a:custGeom>
            <a:gradFill>
              <a:gsLst>
                <a:gs pos="0">
                  <a:srgbClr val="66FFFF">
                    <a:alpha val="41000"/>
                  </a:srgbClr>
                </a:gs>
                <a:gs pos="100000">
                  <a:srgbClr val="66FFFF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64" name="자유형: 도형 63">
              <a:extLst>
                <a:ext uri="{FF2B5EF4-FFF2-40B4-BE49-F238E27FC236}">
                  <a16:creationId xmlns:a16="http://schemas.microsoft.com/office/drawing/2014/main" id="{3565EA2D-5E0B-7346-33C1-01EBAB5DA8CC}"/>
                </a:ext>
              </a:extLst>
            </p:cNvPr>
            <p:cNvSpPr/>
            <p:nvPr/>
          </p:nvSpPr>
          <p:spPr>
            <a:xfrm>
              <a:off x="363760" y="5153977"/>
              <a:ext cx="2997231" cy="1389984"/>
            </a:xfrm>
            <a:custGeom>
              <a:avLst/>
              <a:gdLst>
                <a:gd name="connsiteX0" fmla="*/ 0 w 2990088"/>
                <a:gd name="connsiteY0" fmla="*/ 1399032 h 1444752"/>
                <a:gd name="connsiteX1" fmla="*/ 1517904 w 2990088"/>
                <a:gd name="connsiteY1" fmla="*/ 0 h 1444752"/>
                <a:gd name="connsiteX2" fmla="*/ 2990088 w 2990088"/>
                <a:gd name="connsiteY2" fmla="*/ 1444752 h 1444752"/>
                <a:gd name="connsiteX3" fmla="*/ 0 w 2990088"/>
                <a:gd name="connsiteY3" fmla="*/ 1399032 h 1444752"/>
                <a:gd name="connsiteX0" fmla="*/ 0 w 2990088"/>
                <a:gd name="connsiteY0" fmla="*/ 1365695 h 1411415"/>
                <a:gd name="connsiteX1" fmla="*/ 1503617 w 2990088"/>
                <a:gd name="connsiteY1" fmla="*/ 0 h 1411415"/>
                <a:gd name="connsiteX2" fmla="*/ 2990088 w 2990088"/>
                <a:gd name="connsiteY2" fmla="*/ 1411415 h 1411415"/>
                <a:gd name="connsiteX3" fmla="*/ 0 w 2990088"/>
                <a:gd name="connsiteY3" fmla="*/ 1365695 h 1411415"/>
                <a:gd name="connsiteX0" fmla="*/ 0 w 2982944"/>
                <a:gd name="connsiteY0" fmla="*/ 1389508 h 1411415"/>
                <a:gd name="connsiteX1" fmla="*/ 1496473 w 2982944"/>
                <a:gd name="connsiteY1" fmla="*/ 0 h 1411415"/>
                <a:gd name="connsiteX2" fmla="*/ 2982944 w 2982944"/>
                <a:gd name="connsiteY2" fmla="*/ 1411415 h 1411415"/>
                <a:gd name="connsiteX3" fmla="*/ 0 w 2982944"/>
                <a:gd name="connsiteY3" fmla="*/ 1389508 h 1411415"/>
                <a:gd name="connsiteX0" fmla="*/ 0 w 2997231"/>
                <a:gd name="connsiteY0" fmla="*/ 1389508 h 1389984"/>
                <a:gd name="connsiteX1" fmla="*/ 1496473 w 2997231"/>
                <a:gd name="connsiteY1" fmla="*/ 0 h 1389984"/>
                <a:gd name="connsiteX2" fmla="*/ 2997231 w 2997231"/>
                <a:gd name="connsiteY2" fmla="*/ 1389984 h 1389984"/>
                <a:gd name="connsiteX3" fmla="*/ 0 w 2997231"/>
                <a:gd name="connsiteY3" fmla="*/ 1389508 h 1389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97231" h="1389984">
                  <a:moveTo>
                    <a:pt x="0" y="1389508"/>
                  </a:moveTo>
                  <a:lnTo>
                    <a:pt x="1496473" y="0"/>
                  </a:lnTo>
                  <a:lnTo>
                    <a:pt x="2997231" y="1389984"/>
                  </a:lnTo>
                  <a:lnTo>
                    <a:pt x="0" y="1389508"/>
                  </a:lnTo>
                  <a:close/>
                </a:path>
              </a:pathLst>
            </a:custGeom>
            <a:gradFill>
              <a:gsLst>
                <a:gs pos="0">
                  <a:srgbClr val="66FFFF">
                    <a:alpha val="41000"/>
                  </a:srgbClr>
                </a:gs>
                <a:gs pos="100000">
                  <a:srgbClr val="66FFFF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65" name="자유형: 도형 64">
              <a:extLst>
                <a:ext uri="{FF2B5EF4-FFF2-40B4-BE49-F238E27FC236}">
                  <a16:creationId xmlns:a16="http://schemas.microsoft.com/office/drawing/2014/main" id="{7DC83789-3698-C129-0FD6-55E6AEB08F33}"/>
                </a:ext>
              </a:extLst>
            </p:cNvPr>
            <p:cNvSpPr/>
            <p:nvPr/>
          </p:nvSpPr>
          <p:spPr>
            <a:xfrm>
              <a:off x="2595124" y="5832830"/>
              <a:ext cx="1499387" cy="724474"/>
            </a:xfrm>
            <a:custGeom>
              <a:avLst/>
              <a:gdLst>
                <a:gd name="connsiteX0" fmla="*/ 0 w 2990088"/>
                <a:gd name="connsiteY0" fmla="*/ 1399032 h 1444752"/>
                <a:gd name="connsiteX1" fmla="*/ 1517904 w 2990088"/>
                <a:gd name="connsiteY1" fmla="*/ 0 h 1444752"/>
                <a:gd name="connsiteX2" fmla="*/ 2990088 w 2990088"/>
                <a:gd name="connsiteY2" fmla="*/ 1444752 h 1444752"/>
                <a:gd name="connsiteX3" fmla="*/ 0 w 2990088"/>
                <a:gd name="connsiteY3" fmla="*/ 1399032 h 1444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90088" h="1444752">
                  <a:moveTo>
                    <a:pt x="0" y="1399032"/>
                  </a:moveTo>
                  <a:lnTo>
                    <a:pt x="1517904" y="0"/>
                  </a:lnTo>
                  <a:lnTo>
                    <a:pt x="2990088" y="1444752"/>
                  </a:lnTo>
                  <a:lnTo>
                    <a:pt x="0" y="1399032"/>
                  </a:lnTo>
                  <a:close/>
                </a:path>
              </a:pathLst>
            </a:custGeom>
            <a:gradFill>
              <a:gsLst>
                <a:gs pos="0">
                  <a:srgbClr val="66FFFF">
                    <a:alpha val="41000"/>
                  </a:srgbClr>
                </a:gs>
                <a:gs pos="100000">
                  <a:srgbClr val="66FFFF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F8BE0F45-8736-44CE-506E-0B6A541163FB}"/>
              </a:ext>
            </a:extLst>
          </p:cNvPr>
          <p:cNvGrpSpPr/>
          <p:nvPr/>
        </p:nvGrpSpPr>
        <p:grpSpPr>
          <a:xfrm>
            <a:off x="11453886" y="48068"/>
            <a:ext cx="261865" cy="837864"/>
            <a:chOff x="3175107" y="2906014"/>
            <a:chExt cx="360000" cy="1151858"/>
          </a:xfrm>
        </p:grpSpPr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BED63D5E-A2CD-4365-FD9D-A6CF40769D87}"/>
                </a:ext>
              </a:extLst>
            </p:cNvPr>
            <p:cNvSpPr/>
            <p:nvPr/>
          </p:nvSpPr>
          <p:spPr>
            <a:xfrm>
              <a:off x="3231644" y="2962551"/>
              <a:ext cx="246927" cy="246927"/>
            </a:xfrm>
            <a:prstGeom prst="ellipse">
              <a:avLst/>
            </a:prstGeom>
            <a:solidFill>
              <a:srgbClr val="66FFFF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6E08C0B3-AEBF-1E20-22DB-FF630B9F4FD4}"/>
                </a:ext>
              </a:extLst>
            </p:cNvPr>
            <p:cNvSpPr/>
            <p:nvPr/>
          </p:nvSpPr>
          <p:spPr>
            <a:xfrm>
              <a:off x="3175107" y="2906014"/>
              <a:ext cx="360000" cy="360000"/>
            </a:xfrm>
            <a:prstGeom prst="ellipse">
              <a:avLst/>
            </a:prstGeom>
            <a:noFill/>
            <a:ln w="9525">
              <a:solidFill>
                <a:srgbClr val="66FFFF">
                  <a:alpha val="7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8DC54E68-ED40-6E89-2D64-A8992C992422}"/>
                </a:ext>
              </a:extLst>
            </p:cNvPr>
            <p:cNvCxnSpPr>
              <a:cxnSpLocks/>
              <a:stCxn id="23" idx="4"/>
            </p:cNvCxnSpPr>
            <p:nvPr/>
          </p:nvCxnSpPr>
          <p:spPr>
            <a:xfrm>
              <a:off x="3355108" y="3266013"/>
              <a:ext cx="741" cy="791859"/>
            </a:xfrm>
            <a:prstGeom prst="line">
              <a:avLst/>
            </a:prstGeom>
            <a:ln w="19050">
              <a:gradFill>
                <a:gsLst>
                  <a:gs pos="0">
                    <a:srgbClr val="66FFFF"/>
                  </a:gs>
                  <a:gs pos="100000">
                    <a:srgbClr val="66FFFF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1A33BE3B-FDA1-43D6-7A55-63DA7E0A2BBE}"/>
                </a:ext>
              </a:extLst>
            </p:cNvPr>
            <p:cNvSpPr/>
            <p:nvPr/>
          </p:nvSpPr>
          <p:spPr>
            <a:xfrm>
              <a:off x="3307843" y="3038750"/>
              <a:ext cx="94527" cy="94527"/>
            </a:xfrm>
            <a:prstGeom prst="ellipse">
              <a:avLst/>
            </a:prstGeom>
            <a:solidFill>
              <a:srgbClr val="66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3A4BB84-1DF3-289D-C464-6711E8C892E3}"/>
              </a:ext>
            </a:extLst>
          </p:cNvPr>
          <p:cNvSpPr txBox="1"/>
          <p:nvPr/>
        </p:nvSpPr>
        <p:spPr>
          <a:xfrm>
            <a:off x="2325949" y="2828835"/>
            <a:ext cx="7315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200" dirty="0">
                <a:solidFill>
                  <a:srgbClr val="2CA0F6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Question?</a:t>
            </a:r>
            <a:endParaRPr lang="ko-KR" altLang="en-US" sz="7200" dirty="0">
              <a:solidFill>
                <a:srgbClr val="2CA0F6"/>
              </a:solidFill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1178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4439</TotalTime>
  <Words>730</Words>
  <Application>Microsoft Office PowerPoint</Application>
  <PresentationFormat>와이드스크린</PresentationFormat>
  <Paragraphs>153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6" baseType="lpstr">
      <vt:lpstr>Pretendard Light</vt:lpstr>
      <vt:lpstr>Microsoft GothicNeo Light</vt:lpstr>
      <vt:lpstr>G마켓 산스 Medium</vt:lpstr>
      <vt:lpstr>Impact</vt:lpstr>
      <vt:lpstr>KoPub돋움체 Bold</vt:lpstr>
      <vt:lpstr>Microsoft GothicNeo</vt:lpstr>
      <vt:lpstr>D2Coding ligature</vt:lpstr>
      <vt:lpstr>Pretendard Medium</vt:lpstr>
      <vt:lpstr>Arial</vt:lpstr>
      <vt:lpstr>맑은 고딕</vt:lpstr>
      <vt:lpstr>G마켓 산스 Bold</vt:lpstr>
      <vt:lpstr>Pretendard SemiBold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 재</dc:creator>
  <cp:lastModifiedBy>성 재</cp:lastModifiedBy>
  <cp:revision>373</cp:revision>
  <dcterms:created xsi:type="dcterms:W3CDTF">2025-09-13T18:52:17Z</dcterms:created>
  <dcterms:modified xsi:type="dcterms:W3CDTF">2026-05-22T06:05:15Z</dcterms:modified>
  <cp:contentStatus/>
</cp:coreProperties>
</file>